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6BFFF"/>
                </a:solidFill>
                <a:latin typeface="Aptos"/>
              </a:rPr>
              <a:t>UTM ADOPTION FOLLOW-UP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4F5F7"/>
                </a:solidFill>
                <a:latin typeface="Aptos"/>
              </a:rPr>
              <a:t>Current market status,
response patterns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A5ABB4"/>
                </a:solidFill>
                <a:latin typeface="Aptos"/>
              </a:rPr>
              <a:t>Built from the latest global follow-up tracker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423160"/>
            <a:ext cx="11155680" cy="15240"/>
          </a:xfrm>
          <a:prstGeom prst="rect">
            <a:avLst/>
          </a:prstGeom>
          <a:solidFill>
            <a:srgbClr val="484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60920" y="685800"/>
            <a:ext cx="3931920" cy="4389120"/>
          </a:xfrm>
          <a:prstGeom prst="roundRect">
            <a:avLst/>
          </a:prstGeom>
          <a:solidFill>
            <a:srgbClr val="1C1F24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9601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5ABB4"/>
                </a:solidFill>
                <a:latin typeface="Aptos"/>
              </a:rPr>
              <a:t>IN THIS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371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4F5F7"/>
                </a:solidFill>
                <a:latin typeface="Aptos"/>
              </a:rPr>
              <a:t>Where follow-up stands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9019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4F5F7"/>
                </a:solidFill>
                <a:latin typeface="Aptos"/>
              </a:rPr>
              <a:t>How markets responded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43230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4F5F7"/>
                </a:solidFill>
                <a:latin typeface="Aptos"/>
              </a:rPr>
              <a:t>What is blocking closure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96265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4F5F7"/>
                </a:solidFill>
                <a:latin typeface="Aptos"/>
              </a:rPr>
              <a:t>What happens next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715000"/>
            <a:ext cx="2240280" cy="256032"/>
          </a:xfrm>
          <a:prstGeom prst="roundRect">
            <a:avLst/>
          </a:prstGeom>
          <a:solidFill>
            <a:srgbClr val="56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747004"/>
            <a:ext cx="20939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21418"/>
                </a:solidFill>
                <a:latin typeface="Aptos"/>
              </a:rPr>
              <a:t>BLUE = INTERNAL COORDINATION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6400800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ABB4"/>
                </a:solidFill>
                <a:latin typeface="Aptos"/>
              </a:rPr>
              <a:t>Confidential - client update on UTM adoption follow-up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4F5F7"/>
                </a:solidFill>
                <a:latin typeface="Aptos"/>
              </a:rPr>
              <a:t>WHERE WE STAND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14400"/>
            <a:ext cx="2423160" cy="1097280"/>
          </a:xfrm>
          <a:prstGeom prst="roundRect">
            <a:avLst/>
          </a:prstGeom>
          <a:solidFill>
            <a:srgbClr val="1C1F24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4F5F7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5ABB4"/>
                </a:solidFill>
                <a:latin typeface="Aptos"/>
              </a:rPr>
              <a:t>Markets tracked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914400"/>
            <a:ext cx="2423160" cy="1097280"/>
          </a:xfrm>
          <a:prstGeom prst="roundRect">
            <a:avLst/>
          </a:prstGeom>
          <a:solidFill>
            <a:srgbClr val="1C1F24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07899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4F5F7"/>
                </a:solidFill>
                <a:latin typeface="Apto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53619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5ABB4"/>
                </a:solidFill>
                <a:latin typeface="Aptos"/>
              </a:rPr>
              <a:t>Engaged and fixing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914400"/>
            <a:ext cx="2423160" cy="1097280"/>
          </a:xfrm>
          <a:prstGeom prst="roundRect">
            <a:avLst/>
          </a:prstGeom>
          <a:solidFill>
            <a:srgbClr val="1C1F24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07899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4F5F7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53619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5ABB4"/>
                </a:solidFill>
                <a:latin typeface="Aptos"/>
              </a:rPr>
              <a:t>Awaiting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914400"/>
            <a:ext cx="2423160" cy="1097280"/>
          </a:xfrm>
          <a:prstGeom prst="roundRect">
            <a:avLst/>
          </a:prstGeom>
          <a:solidFill>
            <a:srgbClr val="1C1F24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107899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4F5F7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53619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5ABB4"/>
                </a:solidFill>
                <a:latin typeface="Aptos"/>
              </a:rPr>
              <a:t>No active 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331720"/>
            <a:ext cx="10972800" cy="3474720"/>
          </a:xfrm>
          <a:prstGeom prst="roundRect">
            <a:avLst/>
          </a:prstGeom>
          <a:solidFill>
            <a:srgbClr val="1C1F24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6517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1C999"/>
                </a:solidFill>
                <a:latin typeface="Aptos"/>
              </a:rPr>
              <a:t>ENGAGED / FIXING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971800"/>
            <a:ext cx="1874519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02666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4F5F7"/>
                </a:solidFill>
                <a:latin typeface="Aptos"/>
              </a:rPr>
              <a:t>Australia (PCA)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319272"/>
            <a:ext cx="1874519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3741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4F5F7"/>
                </a:solidFill>
                <a:latin typeface="Aptos"/>
              </a:rPr>
              <a:t>UK (PCGB)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666744"/>
            <a:ext cx="1874519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72160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4F5F7"/>
                </a:solidFill>
                <a:latin typeface="Aptos"/>
              </a:rPr>
              <a:t>Switzerland (PCH)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014216"/>
            <a:ext cx="1874519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06908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4F5F7"/>
                </a:solidFill>
                <a:latin typeface="Aptos"/>
              </a:rPr>
              <a:t>Poland (PPL)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361688"/>
            <a:ext cx="1874519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41655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4F5F7"/>
                </a:solidFill>
                <a:latin typeface="Aptos"/>
              </a:rPr>
              <a:t>Norway (PNO)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709160"/>
            <a:ext cx="1874519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76402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4F5F7"/>
                </a:solidFill>
                <a:latin typeface="Aptos"/>
              </a:rPr>
              <a:t>PCEE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056632"/>
            <a:ext cx="1874519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1149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4F5F7"/>
                </a:solidFill>
                <a:latin typeface="Aptos"/>
              </a:rPr>
              <a:t>LATAM (CL)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26517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AF4F"/>
                </a:solidFill>
                <a:latin typeface="Aptos"/>
              </a:rPr>
              <a:t>NEEDS EVIDENCE / ALIGNMENT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86200" y="2971800"/>
            <a:ext cx="1874519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302666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4F5F7"/>
                </a:solidFill>
                <a:latin typeface="Aptos"/>
              </a:rPr>
              <a:t>France (POF)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26517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36565"/>
                </a:solidFill>
                <a:latin typeface="Aptos"/>
              </a:rPr>
              <a:t>AWAITING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2971800"/>
            <a:ext cx="1874519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302666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4F5F7"/>
                </a:solidFill>
                <a:latin typeface="Aptos"/>
              </a:rPr>
              <a:t>Portugal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89320" y="3319272"/>
            <a:ext cx="1874519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33741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4F5F7"/>
                </a:solidFill>
                <a:latin typeface="Aptos"/>
              </a:rPr>
              <a:t>South Korea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26517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5ABB4"/>
                </a:solidFill>
                <a:latin typeface="Aptos"/>
              </a:rPr>
              <a:t>NO ACTIVE SCOPE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49640" y="2971800"/>
            <a:ext cx="1874519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302666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4F5F7"/>
                </a:solidFill>
                <a:latin typeface="Aptos"/>
              </a:rPr>
              <a:t>MENA (PME)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78240" y="5074920"/>
            <a:ext cx="1920240" cy="256032"/>
          </a:xfrm>
          <a:prstGeom prst="roundRect">
            <a:avLst/>
          </a:prstGeom>
          <a:solidFill>
            <a:srgbClr val="56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51392" y="5106924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21418"/>
                </a:solidFill>
                <a:latin typeface="Aptos"/>
              </a:rPr>
              <a:t>PCGB - builder support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0" y="5394960"/>
            <a:ext cx="1783080" cy="256032"/>
          </a:xfrm>
          <a:prstGeom prst="roundRect">
            <a:avLst/>
          </a:prstGeom>
          <a:solidFill>
            <a:srgbClr val="56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51392" y="5426964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21418"/>
                </a:solidFill>
                <a:latin typeface="Aptos"/>
              </a:rPr>
              <a:t>PNO - Planit onboarding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78240" y="5715000"/>
            <a:ext cx="1691640" cy="256032"/>
          </a:xfrm>
          <a:prstGeom prst="roundRect">
            <a:avLst/>
          </a:prstGeom>
          <a:solidFill>
            <a:srgbClr val="56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51392" y="5747004"/>
            <a:ext cx="15453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21418"/>
                </a:solidFill>
                <a:latin typeface="Aptos"/>
              </a:rPr>
              <a:t>PCEE - Artbot remap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6400800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ABB4"/>
                </a:solidFill>
                <a:latin typeface="Aptos"/>
              </a:rPr>
              <a:t>Confidential - client update on UTM adoption follow-up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4F5F7"/>
                </a:solidFill>
                <a:latin typeface="Aptos"/>
              </a:rPr>
              <a:t>HOW MARKETS RESPONDED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2834640" cy="4297680"/>
          </a:xfrm>
          <a:prstGeom prst="roundRect">
            <a:avLst/>
          </a:prstGeom>
          <a:solidFill>
            <a:srgbClr val="1C1F24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71C999"/>
                </a:solidFill>
                <a:latin typeface="Aptos"/>
              </a:rPr>
              <a:t>ACKNOWLEDGED AND ENGAGED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4F5F7"/>
                </a:solidFill>
                <a:latin typeface="Aptos"/>
              </a:rPr>
              <a:t>Markets accepted the issue and are now working through fixes or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880360"/>
            <a:ext cx="1554480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12364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5F7"/>
                </a:solidFill>
                <a:latin typeface="Aptos"/>
              </a:rPr>
              <a:t>Australia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264408"/>
            <a:ext cx="1554480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96412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5F7"/>
                </a:solidFill>
                <a:latin typeface="Aptos"/>
              </a:rPr>
              <a:t>UK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648456"/>
            <a:ext cx="1554480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80460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5F7"/>
                </a:solidFill>
                <a:latin typeface="Aptos"/>
              </a:rPr>
              <a:t>Switzerland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032504"/>
            <a:ext cx="1554480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4508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5F7"/>
                </a:solidFill>
                <a:latin typeface="Aptos"/>
              </a:rPr>
              <a:t>Poland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416552"/>
            <a:ext cx="1554480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48556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5F7"/>
                </a:solidFill>
                <a:latin typeface="Aptos"/>
              </a:rPr>
              <a:t>LATAM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097280"/>
            <a:ext cx="2834640" cy="4297680"/>
          </a:xfrm>
          <a:prstGeom prst="roundRect">
            <a:avLst/>
          </a:prstGeom>
          <a:solidFill>
            <a:srgbClr val="1C1F24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35331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AF4F"/>
                </a:solidFill>
                <a:latin typeface="Aptos"/>
              </a:rPr>
              <a:t>ASKING FOR PROOF OR CLARITY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17830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4F5F7"/>
                </a:solidFill>
                <a:latin typeface="Aptos"/>
              </a:rPr>
              <a:t>Some markets challenged the diagnosis and now need evidence-based closure.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0248" y="2880360"/>
            <a:ext cx="1554480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912364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5F7"/>
                </a:solidFill>
                <a:latin typeface="Aptos"/>
              </a:rPr>
              <a:t>France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0248" y="3264408"/>
            <a:ext cx="1554480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296412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5F7"/>
                </a:solidFill>
                <a:latin typeface="Aptos"/>
              </a:rPr>
              <a:t>Australia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0248" y="3648456"/>
            <a:ext cx="1554480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680460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5F7"/>
                </a:solidFill>
                <a:latin typeface="Aptos"/>
              </a:rPr>
              <a:t>Switzerland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1097280"/>
            <a:ext cx="2834640" cy="4297680"/>
          </a:xfrm>
          <a:prstGeom prst="roundRect">
            <a:avLst/>
          </a:prstGeom>
          <a:solidFill>
            <a:srgbClr val="1C1F24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9247" y="135331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6BFFF"/>
                </a:solidFill>
                <a:latin typeface="Aptos"/>
              </a:rPr>
              <a:t>NEEDS STRUCTURE OR ONBOARDING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7" y="17830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4F5F7"/>
                </a:solidFill>
                <a:latin typeface="Aptos"/>
              </a:rPr>
              <a:t>In some cases the blocker is setup maturity, not willingness to adopt.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99247" y="2880360"/>
            <a:ext cx="1554480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399" y="2912364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5F7"/>
                </a:solidFill>
                <a:latin typeface="Aptos"/>
              </a:rPr>
              <a:t>Norway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99247" y="3264408"/>
            <a:ext cx="1554480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399" y="3296412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5F7"/>
                </a:solidFill>
                <a:latin typeface="Aptos"/>
              </a:rPr>
              <a:t>PCEE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99247" y="3648456"/>
            <a:ext cx="1554480" cy="256032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399" y="3680460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5F7"/>
                </a:solidFill>
                <a:latin typeface="Aptos"/>
              </a:rPr>
              <a:t>MENA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669280"/>
            <a:ext cx="10972800" cy="640080"/>
          </a:xfrm>
          <a:prstGeom prst="roundRect">
            <a:avLst/>
          </a:prstGeom>
          <a:solidFill>
            <a:srgbClr val="56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87044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21418"/>
                </a:solidFill>
                <a:latin typeface="Aptos"/>
              </a:rPr>
              <a:t>Several open items now depend on internal coordination across Planit, builder usage, trafficking logic or placement-ID structure.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6400800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ABB4"/>
                </a:solidFill>
                <a:latin typeface="Aptos"/>
              </a:rPr>
              <a:t>Confidential - client update on UTM adoption follow-up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4F5F7"/>
                </a:solidFill>
                <a:latin typeface="Aptos"/>
              </a:rPr>
              <a:t>WHAT IS BLOCKING CLOSURE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4937760" cy="2011680"/>
          </a:xfrm>
          <a:prstGeom prst="roundRect">
            <a:avLst/>
          </a:prstGeom>
          <a:solidFill>
            <a:srgbClr val="1C1F24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31673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6BFFF"/>
                </a:solidFill>
                <a:latin typeface="Aptos"/>
              </a:rPr>
              <a:t>TAGGING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1051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5F7"/>
                </a:solidFill>
                <a:latin typeface="Aptos"/>
              </a:rPr>
              <a:t>Live campaigns or placements are still not consistently visible in GA4.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097280"/>
            <a:ext cx="4937760" cy="2011680"/>
          </a:xfrm>
          <a:prstGeom prst="roundRect">
            <a:avLst/>
          </a:prstGeom>
          <a:solidFill>
            <a:srgbClr val="1C1F24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3056" y="131673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6BFFF"/>
                </a:solidFill>
                <a:latin typeface="Aptos"/>
              </a:rPr>
              <a:t>PLANIT / EXECUTION MISALIGNMENT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3056" y="181051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5F7"/>
                </a:solidFill>
                <a:latin typeface="Aptos"/>
              </a:rPr>
              <a:t>Planned activity and live activity do not fully reconcile.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4937760" cy="2011680"/>
          </a:xfrm>
          <a:prstGeom prst="roundRect">
            <a:avLst/>
          </a:prstGeom>
          <a:solidFill>
            <a:srgbClr val="1C1F24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69417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6BFFF"/>
                </a:solidFill>
                <a:latin typeface="Aptos"/>
              </a:rPr>
              <a:t>STRUCTURE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18795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5F7"/>
                </a:solidFill>
                <a:latin typeface="Aptos"/>
              </a:rPr>
              <a:t>Placement IDs, package-level tagging or repeated IDs break clean visibility.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474720"/>
            <a:ext cx="4937760" cy="2011680"/>
          </a:xfrm>
          <a:prstGeom prst="roundRect">
            <a:avLst/>
          </a:prstGeom>
          <a:solidFill>
            <a:srgbClr val="1C1F24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369417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6BFFF"/>
                </a:solidFill>
                <a:latin typeface="Aptos"/>
              </a:rPr>
              <a:t>TRACKING-LOGIC MISUNDERSTANDING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418795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4F5F7"/>
                </a:solidFill>
                <a:latin typeface="Aptos"/>
              </a:rPr>
              <a:t>Some markets need alignment on expected source logic across GA4, 1R and CM360.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A5ABB4"/>
                </a:solidFill>
                <a:latin typeface="Aptos"/>
              </a:rPr>
              <a:t>The pattern is repeatable: this is now less about awareness and more about implementation discipline.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6400800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ABB4"/>
                </a:solidFill>
                <a:latin typeface="Aptos"/>
              </a:rPr>
              <a:t>Confidential - client update on UTM adoption follow-up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4F5F7"/>
                </a:solidFill>
                <a:latin typeface="Aptos"/>
              </a:rPr>
              <a:t>NEXT STEPS TO CLOSE THE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5212080" cy="4480560"/>
          </a:xfrm>
          <a:prstGeom prst="roundRect">
            <a:avLst/>
          </a:prstGeom>
          <a:solidFill>
            <a:srgbClr val="1C1F24"/>
          </a:solidFill>
          <a:ln w="12700">
            <a:solidFill>
              <a:srgbClr val="56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35040" y="1097280"/>
            <a:ext cx="5212080" cy="4480560"/>
          </a:xfrm>
          <a:prstGeom prst="roundRect">
            <a:avLst/>
          </a:prstGeom>
          <a:solidFill>
            <a:srgbClr val="1C1F24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6BFFF"/>
                </a:solidFill>
                <a:latin typeface="Aptos"/>
              </a:rPr>
              <a:t>GLOBAL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297680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4F5F7"/>
                </a:solidFill>
                <a:latin typeface="Aptos"/>
              </a:defRPr>
            </a:pPr>
            <a:r>
              <a:t>Provide market-specific evidence where diagnosis is disputed</a:t>
            </a:r>
          </a:p>
          <a:p>
            <a:pPr>
              <a:spcAft>
                <a:spcPts val="500"/>
              </a:spcAft>
              <a:defRPr sz="1500">
                <a:solidFill>
                  <a:srgbClr val="F4F5F7"/>
                </a:solidFill>
                <a:latin typeface="Aptos"/>
              </a:defRPr>
            </a:pPr>
            <a:r>
              <a:t>Support builder, Planit and trafficking setup where structure is missing</a:t>
            </a:r>
          </a:p>
          <a:p>
            <a:pPr>
              <a:spcAft>
                <a:spcPts val="500"/>
              </a:spcAft>
              <a:defRPr sz="1500">
                <a:solidFill>
                  <a:srgbClr val="F4F5F7"/>
                </a:solidFill>
                <a:latin typeface="Aptos"/>
              </a:defRPr>
            </a:pPr>
            <a:r>
              <a:t>Clarify expected tracking logic across GA4, 1R and CM360</a:t>
            </a:r>
          </a:p>
          <a:p>
            <a:pPr>
              <a:spcAft>
                <a:spcPts val="500"/>
              </a:spcAft>
              <a:defRPr sz="1500">
                <a:solidFill>
                  <a:srgbClr val="F4F5F7"/>
                </a:solidFill>
                <a:latin typeface="Aptos"/>
              </a:defRPr>
            </a:pPr>
            <a:r>
              <a:t>Validate fixes once markets confirm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258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4F5F7"/>
                </a:solidFill>
                <a:latin typeface="Aptos"/>
              </a:rPr>
              <a:t>LOCAL MARKETS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4297680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4F5F7"/>
                </a:solidFill>
                <a:latin typeface="Aptos"/>
              </a:defRPr>
            </a:pPr>
            <a:r>
              <a:t>Correct remaining UTM gaps</a:t>
            </a:r>
          </a:p>
          <a:p>
            <a:pPr>
              <a:spcAft>
                <a:spcPts val="500"/>
              </a:spcAft>
              <a:defRPr sz="1500">
                <a:solidFill>
                  <a:srgbClr val="F4F5F7"/>
                </a:solidFill>
                <a:latin typeface="Aptos"/>
              </a:defRPr>
            </a:pPr>
            <a:r>
              <a:t>Align Planit with live activity</a:t>
            </a:r>
          </a:p>
          <a:p>
            <a:pPr>
              <a:spcAft>
                <a:spcPts val="500"/>
              </a:spcAft>
              <a:defRPr sz="1500">
                <a:solidFill>
                  <a:srgbClr val="F4F5F7"/>
                </a:solidFill>
                <a:latin typeface="Aptos"/>
              </a:defRPr>
            </a:pPr>
            <a:r>
              <a:t>Resolve placement-ID and setup issues</a:t>
            </a:r>
          </a:p>
          <a:p>
            <a:pPr>
              <a:spcAft>
                <a:spcPts val="500"/>
              </a:spcAft>
              <a:defRPr sz="1500">
                <a:solidFill>
                  <a:srgbClr val="F4F5F7"/>
                </a:solidFill>
                <a:latin typeface="Aptos"/>
              </a:defRPr>
            </a:pPr>
            <a:r>
              <a:t>Confirm closure with evidence, not assumption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760720"/>
            <a:ext cx="10607040" cy="658368"/>
          </a:xfrm>
          <a:prstGeom prst="roundRect">
            <a:avLst/>
          </a:prstGeom>
          <a:solidFill>
            <a:srgbClr val="24282E"/>
          </a:solidFill>
          <a:ln w="12700">
            <a:solidFill>
              <a:srgbClr val="48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971032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F5F7"/>
                </a:solidFill>
                <a:latin typeface="Aptos"/>
              </a:rPr>
              <a:t>Immediate focus: convert open discussions into validated closure by market type.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6400800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ABB4"/>
                </a:solidFill>
                <a:latin typeface="Aptos"/>
              </a:rPr>
              <a:t>Confidential - client update on UTM adoption follow-up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