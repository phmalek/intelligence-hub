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E829-7836-FB95-29ED-482F57D32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E50A1-A570-49BA-5636-3AAA91306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3E67-131A-6911-30FC-8E3CBE4C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54B6E-748B-D668-9225-7B389671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BD11D-489E-228F-BDA8-660AF997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92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7655-C50F-FCD5-4908-76F85697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934C-1420-8DC0-9FC7-F80BCB0E5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256B2-1639-C314-0678-DF9B5554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D9F92-86D3-8926-15D6-95403254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EC818-541B-1F16-A65D-E9B66755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17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F311-5202-EA5B-79EC-313025F7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A485C-AB83-DDE9-C8FB-E529FE25A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6931-6E76-9FE2-75EB-239D2B0B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43B2-9A53-C904-20A2-CFE8B25C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77C-B495-941E-74D9-AD22FBF4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35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EDA5-EC5D-1FC7-4543-D97B3C7E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A21E-B2C3-C39B-DCFA-DFC9BBEC9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C0073-D30D-B045-5634-0E605E005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DDAE2-B1AF-4D00-5277-1C74BDCB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12FE6-38DC-6E13-A8F8-12BD27D8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17A83-0F69-200E-02BD-0F764759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4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805F-2CE7-5C4B-2294-8FA079D0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FEB63-4C2F-286D-46DC-298C8C17F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E30CA-1DC7-67AB-E452-D96F042D7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CA8EE-A665-FC65-BCB2-5F9CABAB1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0F10D-6E3E-CE90-96A9-AC8C341DB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3DC41-BB16-FC19-3561-5313B360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18049-5C79-CCE8-D68F-FE0948F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4805D-1E39-8B26-6773-5456A835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53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7C4D-BCB0-F4E1-21AD-96AABF46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2509E-2246-BAA4-6D81-50ADABE6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B61E0-1F60-1E25-47E5-9046EF93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8E2F5-E588-4193-BBF3-ABEECD64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86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3338B-7490-D99E-C849-ACEF9737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AF552-1D72-80EA-A722-8CDAB402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70834-7995-D564-C46C-3A375479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1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F58C-C983-7C16-79AC-0EEFEC5C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8433-ADEA-0615-CC95-3D2707FBC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0CD7F-09DC-CDD4-427D-951DBF381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1A861-4363-4F1E-A241-9A1410661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09638-88CB-A2EF-79DB-AA723488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978A0-244A-7152-9827-1E5EC7B0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33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81D3-5C08-0A53-2C69-58EAA28E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9AFD5-3521-1758-AADA-5E12F9A78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5DB66-6108-6903-9B95-68F86D0FB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01EE9-E36C-697C-4DAF-775266EA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4CE93-3765-CDCF-B699-DB7AD452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0F34A-FDD9-991D-A3E4-75A3D859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02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1A24-86B3-E928-6823-13C458F7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29D6C-A0E8-AF92-86B6-3BF2D959C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06175-D243-BC12-89B0-6071EA22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9CE7-2E4E-D4CC-FEA9-2C2110B4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48B68-A392-2BFC-7964-6109D178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353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389A6-1160-A646-248C-D6AA8B758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FBF1D-4039-5FD8-AFA9-3EB152D4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A17C-B4EE-5A8E-EB71-EADB4906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AB4EF-86DB-DAD1-FEC1-DFEAED29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C14DF-A3E4-5C6E-75BF-E33E4930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8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6E6BA1-E706-25B9-9EDE-220E36377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A0B5B-2FA2-7804-DDD9-033077E7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EB7D4-7088-617D-B042-5DDDFE04D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B26F3-CD95-4241-977B-203BD889B34C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94282-2DE7-8451-557A-012E66C02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7969C-F7A2-5F62-F76C-C8B19896A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27152-28A2-4841-807E-5954A0DFF29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26DC1-5253-BBAA-7313-37EB9FF82AB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55314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318C-BCEF-647F-2966-4B33DA3C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0E8215-FC08-737A-A66B-97072D8772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148" y="-43733"/>
            <a:ext cx="12985955" cy="97394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070A1B-77FB-9325-D8AA-38908E0BD9B7}"/>
              </a:ext>
            </a:extLst>
          </p:cNvPr>
          <p:cNvSpPr/>
          <p:nvPr/>
        </p:nvSpPr>
        <p:spPr>
          <a:xfrm>
            <a:off x="0" y="-33774"/>
            <a:ext cx="12192000" cy="6858000"/>
          </a:xfrm>
          <a:prstGeom prst="rect">
            <a:avLst/>
          </a:prstGeom>
          <a:solidFill>
            <a:srgbClr val="101010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19BEF-68C1-3A4D-3B33-EA1D671FC348}"/>
              </a:ext>
            </a:extLst>
          </p:cNvPr>
          <p:cNvSpPr txBox="1"/>
          <p:nvPr/>
        </p:nvSpPr>
        <p:spPr>
          <a:xfrm>
            <a:off x="558800" y="3556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 dirty="0">
                <a:solidFill>
                  <a:srgbClr val="FFD767"/>
                </a:solidFill>
                <a:latin typeface="Aptos" panose="020B0004020202020204" pitchFamily="34" charset="0"/>
              </a:rPr>
              <a:t>REVERSE FUNNEL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7D65A-1354-0C7F-EE57-9042BA37C369}"/>
              </a:ext>
            </a:extLst>
          </p:cNvPr>
          <p:cNvSpPr txBox="1"/>
          <p:nvPr/>
        </p:nvSpPr>
        <p:spPr>
          <a:xfrm>
            <a:off x="558800" y="660400"/>
            <a:ext cx="533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F3F3F3"/>
                </a:solidFill>
                <a:latin typeface="Aptos" panose="020B0004020202020204" pitchFamily="34" charset="0"/>
              </a:rPr>
              <a:t>FROM MEDIA PLANNING
TO OUTCOME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B24C1-3B90-C418-A6F6-81D65D456EF2}"/>
              </a:ext>
            </a:extLst>
          </p:cNvPr>
          <p:cNvSpPr txBox="1"/>
          <p:nvPr/>
        </p:nvSpPr>
        <p:spPr>
          <a:xfrm>
            <a:off x="558800" y="1549400"/>
            <a:ext cx="406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>
                <a:solidFill>
                  <a:srgbClr val="A6A6A6"/>
                </a:solidFill>
                <a:latin typeface="Aptos" panose="020B0004020202020204" pitchFamily="34" charset="0"/>
              </a:rPr>
              <a:t>Reverse Funnel turns demand into a controllable system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1387CE6-522A-C6C1-F2CB-8B51248C97BA}"/>
              </a:ext>
            </a:extLst>
          </p:cNvPr>
          <p:cNvSpPr/>
          <p:nvPr/>
        </p:nvSpPr>
        <p:spPr>
          <a:xfrm>
            <a:off x="947993" y="2220099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4D7194-9B98-BBA8-58B8-84C3C114EC0D}"/>
              </a:ext>
            </a:extLst>
          </p:cNvPr>
          <p:cNvSpPr txBox="1"/>
          <p:nvPr/>
        </p:nvSpPr>
        <p:spPr>
          <a:xfrm>
            <a:off x="1092201" y="2412741"/>
            <a:ext cx="3835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 dirty="0">
                <a:solidFill>
                  <a:srgbClr val="F3F3F3"/>
                </a:solidFill>
                <a:latin typeface="Aptos" panose="020B0004020202020204" pitchFamily="34" charset="0"/>
              </a:rPr>
              <a:t>SALES TARGET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BD9E81-B877-22B0-7C4F-BBDFE87C2DD0}"/>
              </a:ext>
            </a:extLst>
          </p:cNvPr>
          <p:cNvSpPr txBox="1"/>
          <p:nvPr/>
        </p:nvSpPr>
        <p:spPr>
          <a:xfrm>
            <a:off x="2608327" y="2383934"/>
            <a:ext cx="2632678" cy="1877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1200" dirty="0">
                <a:solidFill>
                  <a:srgbClr val="A6A6A6"/>
                </a:solidFill>
                <a:latin typeface="Aptos" panose="020B0004020202020204" pitchFamily="34" charset="0"/>
              </a:rPr>
              <a:t>Start from decision outcome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07421E-E292-4AE9-C5DD-14B0C1601EAA}"/>
              </a:ext>
            </a:extLst>
          </p:cNvPr>
          <p:cNvSpPr/>
          <p:nvPr/>
        </p:nvSpPr>
        <p:spPr>
          <a:xfrm>
            <a:off x="947993" y="3243675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FA78F6-FF71-A612-122F-1137099238BB}"/>
              </a:ext>
            </a:extLst>
          </p:cNvPr>
          <p:cNvSpPr txBox="1"/>
          <p:nvPr/>
        </p:nvSpPr>
        <p:spPr>
          <a:xfrm>
            <a:off x="1092201" y="3436317"/>
            <a:ext cx="3835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 dirty="0">
                <a:solidFill>
                  <a:srgbClr val="F3F3F3"/>
                </a:solidFill>
                <a:latin typeface="Aptos" panose="020B0004020202020204" pitchFamily="34" charset="0"/>
              </a:rPr>
              <a:t>REQUIRED LEADS (DCFS)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DFA05-1357-4FC1-E3AD-0EC32BF6D2C4}"/>
              </a:ext>
            </a:extLst>
          </p:cNvPr>
          <p:cNvSpPr txBox="1"/>
          <p:nvPr/>
        </p:nvSpPr>
        <p:spPr>
          <a:xfrm>
            <a:off x="2270506" y="3422511"/>
            <a:ext cx="2970499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1200" dirty="0" err="1">
                <a:solidFill>
                  <a:srgbClr val="A6A6A6"/>
                </a:solidFill>
                <a:latin typeface="Aptos" panose="020B0004020202020204" pitchFamily="34" charset="0"/>
              </a:rPr>
              <a:t>Backsolve</a:t>
            </a:r>
            <a:r>
              <a:rPr lang="en-GB" sz="1200" dirty="0">
                <a:solidFill>
                  <a:srgbClr val="A6A6A6"/>
                </a:solidFill>
                <a:latin typeface="Aptos" panose="020B0004020202020204" pitchFamily="34" charset="0"/>
              </a:rPr>
              <a:t> the demand requirement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E55D26-9C33-EC7C-EFF5-1A82271D9F9E}"/>
              </a:ext>
            </a:extLst>
          </p:cNvPr>
          <p:cNvSpPr/>
          <p:nvPr/>
        </p:nvSpPr>
        <p:spPr>
          <a:xfrm>
            <a:off x="939800" y="4292600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01A536-BAE8-9414-FF73-9382884D20F0}"/>
              </a:ext>
            </a:extLst>
          </p:cNvPr>
          <p:cNvSpPr txBox="1"/>
          <p:nvPr/>
        </p:nvSpPr>
        <p:spPr>
          <a:xfrm>
            <a:off x="1084008" y="4485242"/>
            <a:ext cx="3835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F3F3F3"/>
                </a:solidFill>
                <a:latin typeface="Aptos" panose="020B0004020202020204" pitchFamily="34" charset="0"/>
              </a:rPr>
              <a:t>SESSIONS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DA80C-E0E5-4115-6740-65B7D297D370}"/>
              </a:ext>
            </a:extLst>
          </p:cNvPr>
          <p:cNvSpPr txBox="1"/>
          <p:nvPr/>
        </p:nvSpPr>
        <p:spPr>
          <a:xfrm>
            <a:off x="2424113" y="4454267"/>
            <a:ext cx="281689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1200" dirty="0">
                <a:solidFill>
                  <a:srgbClr val="A6A6A6"/>
                </a:solidFill>
                <a:latin typeface="Aptos" panose="020B0004020202020204" pitchFamily="34" charset="0"/>
              </a:rPr>
              <a:t>Translate leads into traffic volume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DA3749-776B-9AE2-9213-0FCD2329564E}"/>
              </a:ext>
            </a:extLst>
          </p:cNvPr>
          <p:cNvSpPr/>
          <p:nvPr/>
        </p:nvSpPr>
        <p:spPr>
          <a:xfrm>
            <a:off x="947993" y="5260239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E089EC-12D0-6552-56BE-3FF78863F802}"/>
              </a:ext>
            </a:extLst>
          </p:cNvPr>
          <p:cNvSpPr txBox="1"/>
          <p:nvPr/>
        </p:nvSpPr>
        <p:spPr>
          <a:xfrm>
            <a:off x="1092201" y="5452881"/>
            <a:ext cx="3835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 dirty="0">
                <a:solidFill>
                  <a:srgbClr val="F3F3F3"/>
                </a:solidFill>
                <a:latin typeface="Aptos" panose="020B0004020202020204" pitchFamily="34" charset="0"/>
              </a:rPr>
              <a:t>MEDIA SPEND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10B218-AF8E-BDEB-5AC8-0E63D16048AD}"/>
              </a:ext>
            </a:extLst>
          </p:cNvPr>
          <p:cNvSpPr txBox="1"/>
          <p:nvPr/>
        </p:nvSpPr>
        <p:spPr>
          <a:xfrm>
            <a:off x="2050765" y="5425754"/>
            <a:ext cx="3190239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1200" dirty="0">
                <a:solidFill>
                  <a:srgbClr val="A6A6A6"/>
                </a:solidFill>
                <a:latin typeface="Aptos" panose="020B0004020202020204" pitchFamily="34" charset="0"/>
              </a:rPr>
              <a:t>Price the traffic requirement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A1EF54-39E2-B1FC-ACE9-BF946DDE8AF5}"/>
              </a:ext>
            </a:extLst>
          </p:cNvPr>
          <p:cNvSpPr txBox="1"/>
          <p:nvPr/>
        </p:nvSpPr>
        <p:spPr>
          <a:xfrm>
            <a:off x="6403258" y="455828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 dirty="0">
                <a:solidFill>
                  <a:srgbClr val="A6A6A6"/>
                </a:solidFill>
                <a:latin typeface="Aptos" panose="020B0004020202020204" pitchFamily="34" charset="0"/>
              </a:rPr>
              <a:t>WHY THIS IS DIFFERENT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87976E9-90F6-9F03-D87C-5144244F3C4E}"/>
              </a:ext>
            </a:extLst>
          </p:cNvPr>
          <p:cNvSpPr/>
          <p:nvPr/>
        </p:nvSpPr>
        <p:spPr>
          <a:xfrm>
            <a:off x="6346825" y="778897"/>
            <a:ext cx="4019550" cy="5452605"/>
          </a:xfrm>
          <a:prstGeom prst="roundRect">
            <a:avLst>
              <a:gd name="adj" fmla="val 5187"/>
            </a:avLst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A37B95-9C34-F947-711A-9A6AAFCADF6B}"/>
              </a:ext>
            </a:extLst>
          </p:cNvPr>
          <p:cNvSpPr txBox="1"/>
          <p:nvPr/>
        </p:nvSpPr>
        <p:spPr>
          <a:xfrm>
            <a:off x="6689213" y="1020803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 dirty="0">
                <a:solidFill>
                  <a:srgbClr val="F3F3F3"/>
                </a:solidFill>
                <a:latin typeface="Aptos" panose="020B0004020202020204" pitchFamily="34" charset="0"/>
              </a:rPr>
              <a:t>Closed-loop optimisation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3FBB6B-74EB-A887-9EA5-B61486B53947}"/>
              </a:ext>
            </a:extLst>
          </p:cNvPr>
          <p:cNvSpPr txBox="1"/>
          <p:nvPr/>
        </p:nvSpPr>
        <p:spPr>
          <a:xfrm>
            <a:off x="6705600" y="1955800"/>
            <a:ext cx="2311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Observed performance continuously updates lead needs, session volume and spend.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50832E8-3A22-ADE2-DD31-C17C94F3FC84}"/>
              </a:ext>
            </a:extLst>
          </p:cNvPr>
          <p:cNvCxnSpPr/>
          <p:nvPr/>
        </p:nvCxnSpPr>
        <p:spPr>
          <a:xfrm>
            <a:off x="6705600" y="4394200"/>
            <a:ext cx="26162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B53829-91C2-024C-13CA-485B71E9E1CF}"/>
              </a:ext>
            </a:extLst>
          </p:cNvPr>
          <p:cNvCxnSpPr/>
          <p:nvPr/>
        </p:nvCxnSpPr>
        <p:spPr>
          <a:xfrm flipV="1">
            <a:off x="6705600" y="2819400"/>
            <a:ext cx="0" cy="157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1967632-9D71-00B5-9802-B4AF31B42181}"/>
              </a:ext>
            </a:extLst>
          </p:cNvPr>
          <p:cNvSpPr txBox="1"/>
          <p:nvPr/>
        </p:nvSpPr>
        <p:spPr>
          <a:xfrm>
            <a:off x="6680200" y="25908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dirty="0">
                <a:solidFill>
                  <a:srgbClr val="A6A6A6"/>
                </a:solidFill>
                <a:latin typeface="Aptos" panose="020B0004020202020204" pitchFamily="34" charset="0"/>
              </a:rPr>
              <a:t>Marginal return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B4FDE1-F282-5247-2CF5-7BFC79685B58}"/>
              </a:ext>
            </a:extLst>
          </p:cNvPr>
          <p:cNvSpPr txBox="1"/>
          <p:nvPr/>
        </p:nvSpPr>
        <p:spPr>
          <a:xfrm>
            <a:off x="9169400" y="4470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Spend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8607626-20DA-13B0-8F7E-1FDB2AB40E4A}"/>
              </a:ext>
            </a:extLst>
          </p:cNvPr>
          <p:cNvCxnSpPr/>
          <p:nvPr/>
        </p:nvCxnSpPr>
        <p:spPr>
          <a:xfrm>
            <a:off x="6858000" y="3048000"/>
            <a:ext cx="533400" cy="2032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D92423B-6B20-0E8C-CC4E-0A26469CE028}"/>
              </a:ext>
            </a:extLst>
          </p:cNvPr>
          <p:cNvCxnSpPr/>
          <p:nvPr/>
        </p:nvCxnSpPr>
        <p:spPr>
          <a:xfrm>
            <a:off x="7391400" y="3251200"/>
            <a:ext cx="533400" cy="2540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680D76-3D56-017A-8171-E227105854D4}"/>
              </a:ext>
            </a:extLst>
          </p:cNvPr>
          <p:cNvCxnSpPr/>
          <p:nvPr/>
        </p:nvCxnSpPr>
        <p:spPr>
          <a:xfrm>
            <a:off x="7924800" y="3505200"/>
            <a:ext cx="558800" cy="2794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B1CBAC-F10E-36B5-D191-635B40622277}"/>
              </a:ext>
            </a:extLst>
          </p:cNvPr>
          <p:cNvCxnSpPr/>
          <p:nvPr/>
        </p:nvCxnSpPr>
        <p:spPr>
          <a:xfrm>
            <a:off x="8483600" y="3784600"/>
            <a:ext cx="609600" cy="2540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062102-06F7-8462-34F4-E1729D6B846F}"/>
              </a:ext>
            </a:extLst>
          </p:cNvPr>
          <p:cNvCxnSpPr/>
          <p:nvPr/>
        </p:nvCxnSpPr>
        <p:spPr>
          <a:xfrm>
            <a:off x="8661400" y="3048000"/>
            <a:ext cx="0" cy="1168400"/>
          </a:xfrm>
          <a:prstGeom prst="line">
            <a:avLst/>
          </a:prstGeom>
          <a:ln w="1905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8BEAA67-70EE-80D1-E8A7-42F21625485A}"/>
              </a:ext>
            </a:extLst>
          </p:cNvPr>
          <p:cNvSpPr txBox="1"/>
          <p:nvPr/>
        </p:nvSpPr>
        <p:spPr>
          <a:xfrm>
            <a:off x="8763000" y="33782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dirty="0">
                <a:solidFill>
                  <a:srgbClr val="A6A6A6"/>
                </a:solidFill>
                <a:latin typeface="Aptos" panose="020B0004020202020204" pitchFamily="34" charset="0"/>
              </a:rPr>
              <a:t>Headroom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E9396A-C149-B5CB-C2A1-5A13C6B82297}"/>
              </a:ext>
            </a:extLst>
          </p:cNvPr>
          <p:cNvSpPr txBox="1"/>
          <p:nvPr/>
        </p:nvSpPr>
        <p:spPr>
          <a:xfrm>
            <a:off x="6705600" y="45466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Dynamic reallocation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526BF8-CB7A-2F9B-1FA0-6F6CF1B4FE5B}"/>
              </a:ext>
            </a:extLst>
          </p:cNvPr>
          <p:cNvSpPr txBox="1"/>
          <p:nvPr/>
        </p:nvSpPr>
        <p:spPr>
          <a:xfrm>
            <a:off x="6705600" y="5155455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9DCF072-D744-D815-7DC3-8DE45354D283}"/>
              </a:ext>
            </a:extLst>
          </p:cNvPr>
          <p:cNvSpPr/>
          <p:nvPr/>
        </p:nvSpPr>
        <p:spPr>
          <a:xfrm>
            <a:off x="7772400" y="5168155"/>
            <a:ext cx="1371600" cy="1270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A9D59E-6E56-5A33-095B-C5F8ABB84B2B}"/>
              </a:ext>
            </a:extLst>
          </p:cNvPr>
          <p:cNvSpPr txBox="1"/>
          <p:nvPr/>
        </p:nvSpPr>
        <p:spPr>
          <a:xfrm>
            <a:off x="6705600" y="55753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SOCIAL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560DC7-07AA-1A9F-E7AC-1BB2822BC2E0}"/>
              </a:ext>
            </a:extLst>
          </p:cNvPr>
          <p:cNvSpPr/>
          <p:nvPr/>
        </p:nvSpPr>
        <p:spPr>
          <a:xfrm>
            <a:off x="7772399" y="5588000"/>
            <a:ext cx="1371599" cy="126871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569596D-14A2-462F-2F8F-1D9322E4AE86}"/>
              </a:ext>
            </a:extLst>
          </p:cNvPr>
          <p:cNvSpPr/>
          <p:nvPr/>
        </p:nvSpPr>
        <p:spPr>
          <a:xfrm>
            <a:off x="7772400" y="5588000"/>
            <a:ext cx="711200" cy="1270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CB572A-8622-9859-AB81-2A5851717891}"/>
              </a:ext>
            </a:extLst>
          </p:cNvPr>
          <p:cNvSpPr txBox="1"/>
          <p:nvPr/>
        </p:nvSpPr>
        <p:spPr>
          <a:xfrm>
            <a:off x="393701" y="6490492"/>
            <a:ext cx="457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33CCFF"/>
                </a:solidFill>
                <a:latin typeface="Aptos" panose="020B0004020202020204" pitchFamily="34" charset="0"/>
              </a:rPr>
              <a:t>Every EUR is traceable to sales impact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5C56BD-BCBB-61AE-5E13-E74FDAACD985}"/>
              </a:ext>
            </a:extLst>
          </p:cNvPr>
          <p:cNvSpPr txBox="1"/>
          <p:nvPr/>
        </p:nvSpPr>
        <p:spPr>
          <a:xfrm>
            <a:off x="4572000" y="65532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800">
                <a:solidFill>
                  <a:srgbClr val="4E4E4E"/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C9AAE8A-D0AD-C6DE-68C5-7B26BA0B14F1}"/>
              </a:ext>
            </a:extLst>
          </p:cNvPr>
          <p:cNvSpPr/>
          <p:nvPr/>
        </p:nvSpPr>
        <p:spPr>
          <a:xfrm>
            <a:off x="2959501" y="2828605"/>
            <a:ext cx="532597" cy="339964"/>
          </a:xfrm>
          <a:prstGeom prst="downArrow">
            <a:avLst/>
          </a:prstGeom>
          <a:solidFill>
            <a:srgbClr val="FFD7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03D0DC25-86D6-BE35-A1BC-8C9824EDDB1E}"/>
              </a:ext>
            </a:extLst>
          </p:cNvPr>
          <p:cNvSpPr/>
          <p:nvPr/>
        </p:nvSpPr>
        <p:spPr>
          <a:xfrm>
            <a:off x="2971800" y="3878975"/>
            <a:ext cx="532597" cy="339964"/>
          </a:xfrm>
          <a:prstGeom prst="downArrow">
            <a:avLst/>
          </a:prstGeom>
          <a:solidFill>
            <a:srgbClr val="FFD7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9FDAA39F-9B97-D482-2FA6-C536E34A21BC}"/>
              </a:ext>
            </a:extLst>
          </p:cNvPr>
          <p:cNvSpPr/>
          <p:nvPr/>
        </p:nvSpPr>
        <p:spPr>
          <a:xfrm>
            <a:off x="2971799" y="4895830"/>
            <a:ext cx="532597" cy="339964"/>
          </a:xfrm>
          <a:prstGeom prst="downArrow">
            <a:avLst/>
          </a:prstGeom>
          <a:solidFill>
            <a:srgbClr val="FFD7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57DE1A-83C7-74BA-683E-69A4251E7347}"/>
              </a:ext>
            </a:extLst>
          </p:cNvPr>
          <p:cNvSpPr txBox="1"/>
          <p:nvPr/>
        </p:nvSpPr>
        <p:spPr>
          <a:xfrm>
            <a:off x="6705600" y="5934289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dirty="0">
                <a:solidFill>
                  <a:srgbClr val="A6A6A6"/>
                </a:solidFill>
                <a:latin typeface="Aptos" panose="020B0004020202020204" pitchFamily="34" charset="0"/>
              </a:rPr>
              <a:t>Budget shifts to the strongest marginal return</a:t>
            </a:r>
          </a:p>
        </p:txBody>
      </p:sp>
    </p:spTree>
    <p:extLst>
      <p:ext uri="{BB962C8B-B14F-4D97-AF65-F5344CB8AC3E}">
        <p14:creationId xmlns:p14="http://schemas.microsoft.com/office/powerpoint/2010/main" val="260681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4ECDB-D0E3-6541-B873-1ACC642B6B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8761" y="-250723"/>
            <a:ext cx="14104374" cy="105782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AC4027-6728-E6FF-41C9-5D52D49AF1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>
              <a:alpha val="76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3B919-E0C0-DB18-4CF9-7150CA2DEE94}"/>
              </a:ext>
            </a:extLst>
          </p:cNvPr>
          <p:cNvSpPr/>
          <p:nvPr/>
        </p:nvSpPr>
        <p:spPr>
          <a:xfrm>
            <a:off x="7721600" y="0"/>
            <a:ext cx="4470400" cy="6858000"/>
          </a:xfrm>
          <a:prstGeom prst="rect">
            <a:avLst/>
          </a:prstGeom>
          <a:solidFill>
            <a:srgbClr val="0C0C0C">
              <a:alpha val="5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9F25B-990D-DEEB-856D-C67348D30E33}"/>
              </a:ext>
            </a:extLst>
          </p:cNvPr>
          <p:cNvSpPr txBox="1"/>
          <p:nvPr/>
        </p:nvSpPr>
        <p:spPr>
          <a:xfrm>
            <a:off x="558800" y="406400"/>
            <a:ext cx="660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500" b="1">
                <a:solidFill>
                  <a:srgbClr val="F3F3F3"/>
                </a:solidFill>
                <a:latin typeface="Aptos" panose="020B0004020202020204" pitchFamily="34" charset="0"/>
              </a:rPr>
              <a:t>REVERSE FUNNEL OPERATING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A7528-5249-0C6B-C9ED-850C8820072B}"/>
              </a:ext>
            </a:extLst>
          </p:cNvPr>
          <p:cNvSpPr txBox="1"/>
          <p:nvPr/>
        </p:nvSpPr>
        <p:spPr>
          <a:xfrm>
            <a:off x="558800" y="8128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>
                <a:solidFill>
                  <a:srgbClr val="A6A6A6"/>
                </a:solidFill>
                <a:latin typeface="Aptos" panose="020B0004020202020204" pitchFamily="34" charset="0"/>
              </a:rPr>
              <a:t>Decision engine, not media plan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0CFEE3-144D-DE75-0C8A-F8C1F4BE410C}"/>
              </a:ext>
            </a:extLst>
          </p:cNvPr>
          <p:cNvSpPr/>
          <p:nvPr/>
        </p:nvSpPr>
        <p:spPr>
          <a:xfrm>
            <a:off x="558800" y="13716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AAE6AB-0812-2CD6-B4D3-A16A56D52C1A}"/>
              </a:ext>
            </a:extLst>
          </p:cNvPr>
          <p:cNvSpPr txBox="1"/>
          <p:nvPr/>
        </p:nvSpPr>
        <p:spPr>
          <a:xfrm>
            <a:off x="787400" y="1549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86FCD-C744-315D-48BD-4CEC54CE537B}"/>
              </a:ext>
            </a:extLst>
          </p:cNvPr>
          <p:cNvSpPr txBox="1"/>
          <p:nvPr/>
        </p:nvSpPr>
        <p:spPr>
          <a:xfrm>
            <a:off x="1244600" y="15494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START FROM SALES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D7CD6-3A25-86E5-7224-16F677A531A5}"/>
              </a:ext>
            </a:extLst>
          </p:cNvPr>
          <p:cNvSpPr txBox="1"/>
          <p:nvPr/>
        </p:nvSpPr>
        <p:spPr>
          <a:xfrm>
            <a:off x="787400" y="19050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Budget derived from targets, not guesses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916A1F-79DB-F696-618B-428831A08FAE}"/>
              </a:ext>
            </a:extLst>
          </p:cNvPr>
          <p:cNvSpPr/>
          <p:nvPr/>
        </p:nvSpPr>
        <p:spPr>
          <a:xfrm>
            <a:off x="4241800" y="13716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A03FF-0C37-F7A7-1704-D581C05972C3}"/>
              </a:ext>
            </a:extLst>
          </p:cNvPr>
          <p:cNvSpPr txBox="1"/>
          <p:nvPr/>
        </p:nvSpPr>
        <p:spPr>
          <a:xfrm>
            <a:off x="4470400" y="1549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866A4-3DA0-8AAA-1E6D-C39C0437134E}"/>
              </a:ext>
            </a:extLst>
          </p:cNvPr>
          <p:cNvSpPr txBox="1"/>
          <p:nvPr/>
        </p:nvSpPr>
        <p:spPr>
          <a:xfrm>
            <a:off x="4927600" y="15494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FIND THE GAP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220348-4C9B-7F7E-7DEF-FB4B947E6917}"/>
              </a:ext>
            </a:extLst>
          </p:cNvPr>
          <p:cNvSpPr txBox="1"/>
          <p:nvPr/>
        </p:nvSpPr>
        <p:spPr>
          <a:xfrm>
            <a:off x="4470400" y="19050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Quantify inefficiencies across the funnel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2DBCE8-220F-F7B3-DF5D-D74DBC6F3152}"/>
              </a:ext>
            </a:extLst>
          </p:cNvPr>
          <p:cNvSpPr/>
          <p:nvPr/>
        </p:nvSpPr>
        <p:spPr>
          <a:xfrm>
            <a:off x="558800" y="26670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A13601-ED08-EFA7-D787-BB01B85C1975}"/>
              </a:ext>
            </a:extLst>
          </p:cNvPr>
          <p:cNvSpPr txBox="1"/>
          <p:nvPr/>
        </p:nvSpPr>
        <p:spPr>
          <a:xfrm>
            <a:off x="787400" y="28448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FEE19C-7D4D-4FFB-7310-3911BA872517}"/>
              </a:ext>
            </a:extLst>
          </p:cNvPr>
          <p:cNvSpPr txBox="1"/>
          <p:nvPr/>
        </p:nvSpPr>
        <p:spPr>
          <a:xfrm>
            <a:off x="1244600" y="28448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REALLOCATE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997F7C-F069-1530-999F-F3127C5EC09E}"/>
              </a:ext>
            </a:extLst>
          </p:cNvPr>
          <p:cNvSpPr txBox="1"/>
          <p:nvPr/>
        </p:nvSpPr>
        <p:spPr>
          <a:xfrm>
            <a:off x="787400" y="32004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Shift spend to highest marginal return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018887-801F-ADFC-A822-5CCDABB5CC37}"/>
              </a:ext>
            </a:extLst>
          </p:cNvPr>
          <p:cNvSpPr/>
          <p:nvPr/>
        </p:nvSpPr>
        <p:spPr>
          <a:xfrm>
            <a:off x="4241800" y="26670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E60CB-9418-5E4E-AE4F-3EAFAB1187D0}"/>
              </a:ext>
            </a:extLst>
          </p:cNvPr>
          <p:cNvSpPr txBox="1"/>
          <p:nvPr/>
        </p:nvSpPr>
        <p:spPr>
          <a:xfrm>
            <a:off x="4470400" y="28448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698FEE-4C7E-410B-968E-46BD16C61E12}"/>
              </a:ext>
            </a:extLst>
          </p:cNvPr>
          <p:cNvSpPr txBox="1"/>
          <p:nvPr/>
        </p:nvSpPr>
        <p:spPr>
          <a:xfrm>
            <a:off x="4927600" y="28448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SCALE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14516B-32DE-DE34-CF01-AA6659579BD9}"/>
              </a:ext>
            </a:extLst>
          </p:cNvPr>
          <p:cNvSpPr txBox="1"/>
          <p:nvPr/>
        </p:nvSpPr>
        <p:spPr>
          <a:xfrm>
            <a:off x="4470400" y="32004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Codified learnings across markets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AC9D1B-1EA6-798F-A3C7-A3E72A143609}"/>
              </a:ext>
            </a:extLst>
          </p:cNvPr>
          <p:cNvSpPr/>
          <p:nvPr/>
        </p:nvSpPr>
        <p:spPr>
          <a:xfrm>
            <a:off x="558800" y="3962400"/>
            <a:ext cx="7061200" cy="1168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FFD7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A379EF-D57E-7972-B616-2B8DECFC39F7}"/>
              </a:ext>
            </a:extLst>
          </p:cNvPr>
          <p:cNvSpPr txBox="1"/>
          <p:nvPr/>
        </p:nvSpPr>
        <p:spPr>
          <a:xfrm>
            <a:off x="787400" y="4165600"/>
            <a:ext cx="60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33CC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042F3-5999-E4B2-5F9A-229E4F269192}"/>
              </a:ext>
            </a:extLst>
          </p:cNvPr>
          <p:cNvSpPr txBox="1"/>
          <p:nvPr/>
        </p:nvSpPr>
        <p:spPr>
          <a:xfrm>
            <a:off x="1244600" y="41402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F3F3F3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4A2C87-7955-9B63-8FA9-344F64A5F228}"/>
              </a:ext>
            </a:extLst>
          </p:cNvPr>
          <p:cNvSpPr txBox="1"/>
          <p:nvPr/>
        </p:nvSpPr>
        <p:spPr>
          <a:xfrm>
            <a:off x="787400" y="4521200"/>
            <a:ext cx="355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000" b="1">
                <a:solidFill>
                  <a:srgbClr val="F3F3F3"/>
                </a:solidFill>
                <a:latin typeface="Aptos" panose="020B0004020202020204" pitchFamily="34" charset="0"/>
              </a:rPr>
              <a:t>Always-on decision engine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C8807C-DDB0-6E0A-89EF-1D6A37F70773}"/>
              </a:ext>
            </a:extLst>
          </p:cNvPr>
          <p:cNvSpPr txBox="1"/>
          <p:nvPr/>
        </p:nvSpPr>
        <p:spPr>
          <a:xfrm>
            <a:off x="4572000" y="4521200"/>
            <a:ext cx="241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Target in. Allocation out.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CA2A56-64FE-7657-0B85-857C5B2BB1C5}"/>
              </a:ext>
            </a:extLst>
          </p:cNvPr>
          <p:cNvSpPr txBox="1"/>
          <p:nvPr/>
        </p:nvSpPr>
        <p:spPr>
          <a:xfrm>
            <a:off x="8382000" y="14732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A6A6A6"/>
                </a:solidFill>
                <a:latin typeface="Aptos" panose="020B0004020202020204" pitchFamily="34" charset="0"/>
              </a:rPr>
              <a:t>ALLOCATION VIEW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CC02F0B-64B5-EF62-DA3F-DE52BBB1C301}"/>
              </a:ext>
            </a:extLst>
          </p:cNvPr>
          <p:cNvCxnSpPr/>
          <p:nvPr/>
        </p:nvCxnSpPr>
        <p:spPr>
          <a:xfrm>
            <a:off x="8382000" y="3429000"/>
            <a:ext cx="27940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E5459EA-7F38-99E6-3280-8D1D833B3654}"/>
              </a:ext>
            </a:extLst>
          </p:cNvPr>
          <p:cNvCxnSpPr/>
          <p:nvPr/>
        </p:nvCxnSpPr>
        <p:spPr>
          <a:xfrm flipV="1">
            <a:off x="8382000" y="1828800"/>
            <a:ext cx="0" cy="16002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F2C20B-5E96-58FB-BB82-4DDD218388D9}"/>
              </a:ext>
            </a:extLst>
          </p:cNvPr>
          <p:cNvSpPr txBox="1"/>
          <p:nvPr/>
        </p:nvSpPr>
        <p:spPr>
          <a:xfrm>
            <a:off x="8356600" y="1600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Marginal return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756DAA-A15F-0B38-D7A1-7D35E58DBC54}"/>
              </a:ext>
            </a:extLst>
          </p:cNvPr>
          <p:cNvSpPr txBox="1"/>
          <p:nvPr/>
        </p:nvSpPr>
        <p:spPr>
          <a:xfrm>
            <a:off x="11023600" y="3505200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Spend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CDB56D-97DF-37E0-6724-B0430286BC71}"/>
              </a:ext>
            </a:extLst>
          </p:cNvPr>
          <p:cNvCxnSpPr/>
          <p:nvPr/>
        </p:nvCxnSpPr>
        <p:spPr>
          <a:xfrm>
            <a:off x="8559800" y="2108200"/>
            <a:ext cx="584200" cy="2286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5F553EC-4D8B-A7BF-71CC-10110DEDC739}"/>
              </a:ext>
            </a:extLst>
          </p:cNvPr>
          <p:cNvCxnSpPr/>
          <p:nvPr/>
        </p:nvCxnSpPr>
        <p:spPr>
          <a:xfrm>
            <a:off x="9144000" y="2336800"/>
            <a:ext cx="660400" cy="3302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FCF36D-8A8A-4173-2B80-879443089548}"/>
              </a:ext>
            </a:extLst>
          </p:cNvPr>
          <p:cNvCxnSpPr/>
          <p:nvPr/>
        </p:nvCxnSpPr>
        <p:spPr>
          <a:xfrm>
            <a:off x="9804400" y="2667000"/>
            <a:ext cx="685800" cy="2794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83392D-9C91-277E-E1DF-622EED31851B}"/>
              </a:ext>
            </a:extLst>
          </p:cNvPr>
          <p:cNvCxnSpPr/>
          <p:nvPr/>
        </p:nvCxnSpPr>
        <p:spPr>
          <a:xfrm>
            <a:off x="10490200" y="2946400"/>
            <a:ext cx="482600" cy="1778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CC509A7-EDF8-2B4E-F2CC-2D195469B5CB}"/>
              </a:ext>
            </a:extLst>
          </p:cNvPr>
          <p:cNvCxnSpPr/>
          <p:nvPr/>
        </p:nvCxnSpPr>
        <p:spPr>
          <a:xfrm>
            <a:off x="10566400" y="2057400"/>
            <a:ext cx="0" cy="1143000"/>
          </a:xfrm>
          <a:prstGeom prst="line">
            <a:avLst/>
          </a:prstGeom>
          <a:ln w="1905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CDAD290-F87F-F523-ECA8-AAB6E9752B8D}"/>
              </a:ext>
            </a:extLst>
          </p:cNvPr>
          <p:cNvSpPr txBox="1"/>
          <p:nvPr/>
        </p:nvSpPr>
        <p:spPr>
          <a:xfrm>
            <a:off x="10668000" y="2413000"/>
            <a:ext cx="838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Headroom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485BD8-9974-DC12-F32C-2BD4543ADD2A}"/>
              </a:ext>
            </a:extLst>
          </p:cNvPr>
          <p:cNvSpPr txBox="1"/>
          <p:nvPr/>
        </p:nvSpPr>
        <p:spPr>
          <a:xfrm>
            <a:off x="8382000" y="38354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Budget shift by channel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4B4832-CB36-131E-89EF-B73F7C7FD28B}"/>
              </a:ext>
            </a:extLst>
          </p:cNvPr>
          <p:cNvSpPr txBox="1"/>
          <p:nvPr/>
        </p:nvSpPr>
        <p:spPr>
          <a:xfrm>
            <a:off x="8382000" y="41021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D901D2-2BEA-6067-F029-3AF51A28176E}"/>
              </a:ext>
            </a:extLst>
          </p:cNvPr>
          <p:cNvSpPr/>
          <p:nvPr/>
        </p:nvSpPr>
        <p:spPr>
          <a:xfrm>
            <a:off x="9601200" y="4114800"/>
            <a:ext cx="965200" cy="152400"/>
          </a:xfrm>
          <a:prstGeom prst="rect">
            <a:avLst/>
          </a:prstGeom>
          <a:solidFill>
            <a:srgbClr val="4949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91944C-275F-CD2A-955F-760D002747ED}"/>
              </a:ext>
            </a:extLst>
          </p:cNvPr>
          <p:cNvSpPr/>
          <p:nvPr/>
        </p:nvSpPr>
        <p:spPr>
          <a:xfrm>
            <a:off x="9601200" y="4114800"/>
            <a:ext cx="1549400" cy="1524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E8A331-ACB7-2D5D-D04F-28A58A1EA3D8}"/>
              </a:ext>
            </a:extLst>
          </p:cNvPr>
          <p:cNvSpPr txBox="1"/>
          <p:nvPr/>
        </p:nvSpPr>
        <p:spPr>
          <a:xfrm>
            <a:off x="8382000" y="46101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795976-7386-4D59-79FB-6EA3275D8395}"/>
              </a:ext>
            </a:extLst>
          </p:cNvPr>
          <p:cNvSpPr/>
          <p:nvPr/>
        </p:nvSpPr>
        <p:spPr>
          <a:xfrm>
            <a:off x="9601200" y="4622800"/>
            <a:ext cx="1295400" cy="152400"/>
          </a:xfrm>
          <a:prstGeom prst="rect">
            <a:avLst/>
          </a:prstGeom>
          <a:solidFill>
            <a:srgbClr val="4949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4928F5-5FCE-3863-79CE-53CEE05287D6}"/>
              </a:ext>
            </a:extLst>
          </p:cNvPr>
          <p:cNvSpPr/>
          <p:nvPr/>
        </p:nvSpPr>
        <p:spPr>
          <a:xfrm>
            <a:off x="9601200" y="4622800"/>
            <a:ext cx="990600" cy="1524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45BE33-17CE-9409-E920-99ABF52EBED2}"/>
              </a:ext>
            </a:extLst>
          </p:cNvPr>
          <p:cNvSpPr txBox="1"/>
          <p:nvPr/>
        </p:nvSpPr>
        <p:spPr>
          <a:xfrm>
            <a:off x="8382000" y="51181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SOCIAL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CA40A9D-29F3-F17B-0B98-DFB48A44584C}"/>
              </a:ext>
            </a:extLst>
          </p:cNvPr>
          <p:cNvSpPr/>
          <p:nvPr/>
        </p:nvSpPr>
        <p:spPr>
          <a:xfrm>
            <a:off x="9601200" y="5130800"/>
            <a:ext cx="863600" cy="152400"/>
          </a:xfrm>
          <a:prstGeom prst="rect">
            <a:avLst/>
          </a:prstGeom>
          <a:solidFill>
            <a:srgbClr val="4949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960B6D-65F0-89C9-4BB4-189CBB7762A6}"/>
              </a:ext>
            </a:extLst>
          </p:cNvPr>
          <p:cNvSpPr/>
          <p:nvPr/>
        </p:nvSpPr>
        <p:spPr>
          <a:xfrm>
            <a:off x="9601200" y="5130800"/>
            <a:ext cx="660400" cy="1524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647D7E-9A53-37C9-B86A-F0EA9B03D1D9}"/>
              </a:ext>
            </a:extLst>
          </p:cNvPr>
          <p:cNvSpPr txBox="1"/>
          <p:nvPr/>
        </p:nvSpPr>
        <p:spPr>
          <a:xfrm>
            <a:off x="8382000" y="5816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33CCFF"/>
                </a:solidFill>
                <a:latin typeface="Aptos" panose="020B0004020202020204" pitchFamily="34" charset="0"/>
              </a:rPr>
              <a:t>Reallocate before channels saturate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82CB93-7A2D-051A-ACA4-283F174D230F}"/>
              </a:ext>
            </a:extLst>
          </p:cNvPr>
          <p:cNvSpPr txBox="1"/>
          <p:nvPr/>
        </p:nvSpPr>
        <p:spPr>
          <a:xfrm>
            <a:off x="4572000" y="65532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800">
                <a:solidFill>
                  <a:srgbClr val="4E4E4E"/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27987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173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Malek (Omnicom)</dc:creator>
  <cp:lastModifiedBy>Ali Malek (Omnicom)</cp:lastModifiedBy>
  <cp:revision>2</cp:revision>
  <dcterms:created xsi:type="dcterms:W3CDTF">2026-04-07T09:55:28Z</dcterms:created>
  <dcterms:modified xsi:type="dcterms:W3CDTF">2026-04-08T00:45:02Z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2026-04-07T09:55:28Z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0ece0c5a-561a-46f9-b872-2e2ac4ce7485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