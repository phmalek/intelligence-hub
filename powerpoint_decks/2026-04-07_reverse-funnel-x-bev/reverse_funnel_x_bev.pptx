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318F-BC06-1258-B803-24B7C914C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3EDA5-35ED-064D-6EB6-1F1681067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A649A-BBD8-DA8F-FF04-EEA45FA5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4A82C-CF03-89A4-78EC-72EF1630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5870C-5004-625D-B38F-FF35522F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59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9C1A-EECC-6B5D-CFC8-A49D2023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21F7F-91DA-EC60-0477-DC7E3687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057EE-3964-8B8B-FD1F-5FF4B5CC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1DC54-9250-C8A0-B931-CD8995B6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1050-C5F9-8416-6987-BA581B3C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21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5DA70-12E3-FAE4-27B2-0CB2F1EF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EDD44-BC42-A081-B3DA-543AA2292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59F81-3DE4-8CAF-7FB0-E91FA63B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6C03-12E8-EC08-0D65-00DE4FA7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9F6-C3B3-0279-182F-9000490F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02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D324-F714-8288-C6F0-6DB490A2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84F52-EA75-512F-5060-45460B2A8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DE81A-4DD2-F3D2-D76A-4526C7903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3282A-52C4-D2B6-4240-6F941AFC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9DA03-877B-B269-80B2-A06913C5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8628B-B8C8-C402-5CC6-E43C91C7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9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D704-904D-C620-CBBE-FDD84075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7FCB2-A9E0-6F5A-92E8-7C67C9D7F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D5D32-06BB-5594-5B72-B4C911EC9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6B4CD-3E3D-1D09-BAA1-307071344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B8F3C-3033-94DB-972E-0339A16E9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31B22-7B8E-9513-25E7-38FB0C44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7629C-BDBB-C112-7A7C-6F287BF0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20279-9D1D-02A1-AA5D-5EA430C9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87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7CEB-E016-0FD5-7141-7057CD91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3C255-503D-BF42-943E-58A2AA35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06E90-AF6A-2B7E-8529-C2BE249A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0D39C-A6D8-42E2-DD9C-BE593207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0AA2F-B740-68E4-82A2-DE46EE88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775C3-9F92-C8F7-4B3C-0CE13DF1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26CCC-8547-5331-4EF8-F82F9C02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73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062D-7E31-49DE-9075-CE092AF2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2105F-0190-9BCA-0C3F-5167C6617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468BC-E7BA-24EB-9AD9-CCC4F2394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5CF20-5E68-1B97-644E-F5949F2D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7B311-DFEF-7F87-8885-8A7B6185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A4AE3-77F1-DA3F-6EAA-786637EC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2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9B3D-2BF9-E959-D512-067FD4D0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96497-747E-E467-F5F6-074E01C13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36636-7F09-30F7-6BA1-4ED3D861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C292E-FDD9-6E5E-2C89-5C6CE8FE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CCEC5-BEBD-2668-0B98-D5647521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E3CB1-5EDF-5489-72C6-E599CDF6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24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6382-B7F7-D816-E79B-19143E09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DC1BE-B4D3-C3D3-D2A3-DBAF72644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DB953-183E-A828-D314-7E3A7559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0ED1B-4AF0-69C4-1393-BC53829F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FDBB5-9728-FB40-B12D-01739DA34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882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C9361-2519-2330-3DC1-F326767275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4DA48-E431-15B1-44C6-1D6678C3F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E4B4-0C15-5574-2805-96B54B69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D09D-58C7-4687-6D9D-A828089C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5C452-8722-EF1C-4782-D1BA5710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21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70CEC-C687-F68F-BA29-10661CB2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906C1-5B82-860B-8CF7-AFBF0AA91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FAB2C-39FE-D1D7-42E6-16732064A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6367C-FB8C-47B2-B25B-24F710F57719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D885-0A42-A1C0-3334-58D81434F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1269C-CBEF-BC68-C0D2-873DC3281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E8FF2-B88F-4389-BE84-CFC41F22862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E0594-8A6A-5C24-43DC-B14ED500511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  <p:extLst>
      <p:ext uri="{BB962C8B-B14F-4D97-AF65-F5344CB8AC3E}">
        <p14:creationId xmlns:p14="http://schemas.microsoft.com/office/powerpoint/2010/main" val="180977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36440F-FCC3-38B0-C367-E25717A77FB2}"/>
              </a:ext>
            </a:extLst>
          </p:cNvPr>
          <p:cNvSpPr txBox="1"/>
          <p:nvPr/>
        </p:nvSpPr>
        <p:spPr>
          <a:xfrm>
            <a:off x="584200" y="355600"/>
            <a:ext cx="787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F5F5F5"/>
                </a:solidFill>
                <a:latin typeface="Aptos" panose="020B0004020202020204" pitchFamily="34" charset="0"/>
              </a:rPr>
              <a:t>FROM MEDIA PLANNING TO OUTCOME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EE1A9-114D-9971-9763-3BB38C2C5A1D}"/>
              </a:ext>
            </a:extLst>
          </p:cNvPr>
          <p:cNvSpPr txBox="1"/>
          <p:nvPr/>
        </p:nvSpPr>
        <p:spPr>
          <a:xfrm>
            <a:off x="584200" y="863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>
                <a:solidFill>
                  <a:srgbClr val="9B9B9B"/>
                </a:solidFill>
                <a:latin typeface="Aptos" panose="020B0004020202020204" pitchFamily="34" charset="0"/>
              </a:rPr>
              <a:t>Reverse Funnel turns demand into a controllable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5F842-2010-6506-69BC-18CF9EE73D99}"/>
              </a:ext>
            </a:extLst>
          </p:cNvPr>
          <p:cNvSpPr txBox="1"/>
          <p:nvPr/>
        </p:nvSpPr>
        <p:spPr>
          <a:xfrm>
            <a:off x="584200" y="6324600"/>
            <a:ext cx="444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 b="1">
                <a:solidFill>
                  <a:srgbClr val="EFAE00"/>
                </a:solidFill>
                <a:latin typeface="Aptos" panose="020B0004020202020204" pitchFamily="34" charset="0"/>
              </a:rPr>
              <a:t>Every EUR is traceable to sales impact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D1C5F8-537D-576E-BC75-652FF7491426}"/>
              </a:ext>
            </a:extLst>
          </p:cNvPr>
          <p:cNvSpPr/>
          <p:nvPr/>
        </p:nvSpPr>
        <p:spPr>
          <a:xfrm>
            <a:off x="1701800" y="1422400"/>
            <a:ext cx="3302000" cy="482600"/>
          </a:xfrm>
          <a:prstGeom prst="roundRect">
            <a:avLst/>
          </a:prstGeom>
          <a:solidFill>
            <a:srgbClr val="1B1B1B"/>
          </a:solidFill>
          <a:ln w="15875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600" b="1">
                <a:solidFill>
                  <a:srgbClr val="F5F5F5"/>
                </a:solidFill>
                <a:latin typeface="Aptos" panose="020B0004020202020204" pitchFamily="34" charset="0"/>
              </a:rPr>
              <a:t>SALES TARGET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6223E4-A3CE-877C-F7C2-0F9267705B13}"/>
              </a:ext>
            </a:extLst>
          </p:cNvPr>
          <p:cNvSpPr/>
          <p:nvPr/>
        </p:nvSpPr>
        <p:spPr>
          <a:xfrm>
            <a:off x="1701800" y="2209800"/>
            <a:ext cx="3302000" cy="482600"/>
          </a:xfrm>
          <a:prstGeom prst="roundRect">
            <a:avLst/>
          </a:prstGeom>
          <a:solidFill>
            <a:srgbClr val="1B1B1B"/>
          </a:solidFill>
          <a:ln w="15875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600" b="1">
                <a:solidFill>
                  <a:srgbClr val="F5F5F5"/>
                </a:solidFill>
                <a:latin typeface="Aptos" panose="020B0004020202020204" pitchFamily="34" charset="0"/>
              </a:rPr>
              <a:t>REQUIRED LEADS (DCFS)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62EA11-8C6C-C2BA-E341-C5F9F4D724D9}"/>
              </a:ext>
            </a:extLst>
          </p:cNvPr>
          <p:cNvSpPr/>
          <p:nvPr/>
        </p:nvSpPr>
        <p:spPr>
          <a:xfrm>
            <a:off x="1701800" y="2997200"/>
            <a:ext cx="3302000" cy="482600"/>
          </a:xfrm>
          <a:prstGeom prst="roundRect">
            <a:avLst/>
          </a:prstGeom>
          <a:solidFill>
            <a:srgbClr val="1B1B1B"/>
          </a:solidFill>
          <a:ln w="15875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600" b="1">
                <a:solidFill>
                  <a:srgbClr val="F5F5F5"/>
                </a:solidFill>
                <a:latin typeface="Aptos" panose="020B0004020202020204" pitchFamily="34" charset="0"/>
              </a:rPr>
              <a:t>SESSIONS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6AF601-8341-27D9-3892-EEFB6897D4F2}"/>
              </a:ext>
            </a:extLst>
          </p:cNvPr>
          <p:cNvSpPr/>
          <p:nvPr/>
        </p:nvSpPr>
        <p:spPr>
          <a:xfrm>
            <a:off x="1701800" y="3784600"/>
            <a:ext cx="3302000" cy="482600"/>
          </a:xfrm>
          <a:prstGeom prst="roundRect">
            <a:avLst/>
          </a:prstGeom>
          <a:solidFill>
            <a:srgbClr val="1B1B1B"/>
          </a:solidFill>
          <a:ln w="15875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600" b="1">
                <a:solidFill>
                  <a:srgbClr val="F5F5F5"/>
                </a:solidFill>
                <a:latin typeface="Aptos" panose="020B0004020202020204" pitchFamily="34" charset="0"/>
              </a:rPr>
              <a:t>MEDIA SPEND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428F0D-AD75-B381-56CE-ADAFFE2E852E}"/>
              </a:ext>
            </a:extLst>
          </p:cNvPr>
          <p:cNvSpPr/>
          <p:nvPr/>
        </p:nvSpPr>
        <p:spPr>
          <a:xfrm>
            <a:off x="1701800" y="4572000"/>
            <a:ext cx="3302000" cy="482600"/>
          </a:xfrm>
          <a:prstGeom prst="roundRect">
            <a:avLst/>
          </a:prstGeom>
          <a:solidFill>
            <a:srgbClr val="1B1B1B"/>
          </a:solidFill>
          <a:ln w="15875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600" b="1">
                <a:solidFill>
                  <a:srgbClr val="F5F5F5"/>
                </a:solidFill>
                <a:latin typeface="Aptos" panose="020B0004020202020204" pitchFamily="34" charset="0"/>
              </a:rPr>
              <a:t>CHANNELS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7774E0-BD57-37AA-68F6-83C1CEA14DE9}"/>
              </a:ext>
            </a:extLst>
          </p:cNvPr>
          <p:cNvCxnSpPr/>
          <p:nvPr/>
        </p:nvCxnSpPr>
        <p:spPr>
          <a:xfrm>
            <a:off x="3352800" y="1905000"/>
            <a:ext cx="0" cy="304800"/>
          </a:xfrm>
          <a:prstGeom prst="line">
            <a:avLst/>
          </a:prstGeom>
          <a:ln w="25400">
            <a:solidFill>
              <a:srgbClr val="3A3A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402DD5-3511-72B6-BBBB-F88C1732064F}"/>
              </a:ext>
            </a:extLst>
          </p:cNvPr>
          <p:cNvCxnSpPr/>
          <p:nvPr/>
        </p:nvCxnSpPr>
        <p:spPr>
          <a:xfrm>
            <a:off x="3352800" y="2692400"/>
            <a:ext cx="0" cy="304800"/>
          </a:xfrm>
          <a:prstGeom prst="line">
            <a:avLst/>
          </a:prstGeom>
          <a:ln w="25400">
            <a:solidFill>
              <a:srgbClr val="3A3A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2E53A5-06E9-35A9-0454-C0A6E7B51927}"/>
              </a:ext>
            </a:extLst>
          </p:cNvPr>
          <p:cNvCxnSpPr/>
          <p:nvPr/>
        </p:nvCxnSpPr>
        <p:spPr>
          <a:xfrm>
            <a:off x="3352800" y="3479800"/>
            <a:ext cx="0" cy="304800"/>
          </a:xfrm>
          <a:prstGeom prst="line">
            <a:avLst/>
          </a:prstGeom>
          <a:ln w="25400">
            <a:solidFill>
              <a:srgbClr val="EFA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2007BF-96CD-6A44-9C5E-9069B634CD8B}"/>
              </a:ext>
            </a:extLst>
          </p:cNvPr>
          <p:cNvCxnSpPr/>
          <p:nvPr/>
        </p:nvCxnSpPr>
        <p:spPr>
          <a:xfrm>
            <a:off x="3352800" y="4267200"/>
            <a:ext cx="0" cy="304800"/>
          </a:xfrm>
          <a:prstGeom prst="line">
            <a:avLst/>
          </a:prstGeom>
          <a:ln w="25400">
            <a:solidFill>
              <a:srgbClr val="3A3A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A261FC-3896-6B70-18D4-3CA4AA840C0F}"/>
              </a:ext>
            </a:extLst>
          </p:cNvPr>
          <p:cNvSpPr txBox="1"/>
          <p:nvPr/>
        </p:nvSpPr>
        <p:spPr>
          <a:xfrm>
            <a:off x="5257800" y="2298700"/>
            <a:ext cx="152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Observed conversion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02698B-BD86-7A23-FEE0-4EF7B0FDEE82}"/>
              </a:ext>
            </a:extLst>
          </p:cNvPr>
          <p:cNvSpPr/>
          <p:nvPr/>
        </p:nvSpPr>
        <p:spPr>
          <a:xfrm>
            <a:off x="1117600" y="5334000"/>
            <a:ext cx="1168400" cy="35560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300" b="1">
                <a:solidFill>
                  <a:srgbClr val="F5F5F5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37A04C-AA50-02BB-F9DB-026A7475B37A}"/>
              </a:ext>
            </a:extLst>
          </p:cNvPr>
          <p:cNvSpPr/>
          <p:nvPr/>
        </p:nvSpPr>
        <p:spPr>
          <a:xfrm>
            <a:off x="2514600" y="5334000"/>
            <a:ext cx="1168400" cy="35560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300" b="1">
                <a:solidFill>
                  <a:srgbClr val="F5F5F5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F723A40-B162-5456-8E76-E4A17E2A61D5}"/>
              </a:ext>
            </a:extLst>
          </p:cNvPr>
          <p:cNvSpPr/>
          <p:nvPr/>
        </p:nvSpPr>
        <p:spPr>
          <a:xfrm>
            <a:off x="3911600" y="5334000"/>
            <a:ext cx="1168400" cy="35560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GB" sz="1300" b="1">
                <a:solidFill>
                  <a:srgbClr val="F5F5F5"/>
                </a:solidFill>
                <a:latin typeface="Aptos" panose="020B0004020202020204" pitchFamily="34" charset="0"/>
              </a:rPr>
              <a:t>SOCIAL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A61F6B-5038-4350-EA3C-A1A49C04FE5F}"/>
              </a:ext>
            </a:extLst>
          </p:cNvPr>
          <p:cNvCxnSpPr/>
          <p:nvPr/>
        </p:nvCxnSpPr>
        <p:spPr>
          <a:xfrm>
            <a:off x="3352800" y="5054600"/>
            <a:ext cx="0" cy="152400"/>
          </a:xfrm>
          <a:prstGeom prst="line">
            <a:avLst/>
          </a:prstGeom>
          <a:ln w="25400">
            <a:solidFill>
              <a:srgbClr val="EFA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279525-597D-FFB7-F67E-96E373B61472}"/>
              </a:ext>
            </a:extLst>
          </p:cNvPr>
          <p:cNvCxnSpPr/>
          <p:nvPr/>
        </p:nvCxnSpPr>
        <p:spPr>
          <a:xfrm>
            <a:off x="2286000" y="5511800"/>
            <a:ext cx="228600" cy="0"/>
          </a:xfrm>
          <a:prstGeom prst="line">
            <a:avLst/>
          </a:prstGeom>
          <a:ln w="22225">
            <a:solidFill>
              <a:srgbClr val="EFAE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4551C3-B322-1D52-9F0C-BE94CD6AD91D}"/>
              </a:ext>
            </a:extLst>
          </p:cNvPr>
          <p:cNvCxnSpPr/>
          <p:nvPr/>
        </p:nvCxnSpPr>
        <p:spPr>
          <a:xfrm>
            <a:off x="3683000" y="5511800"/>
            <a:ext cx="228600" cy="0"/>
          </a:xfrm>
          <a:prstGeom prst="line">
            <a:avLst/>
          </a:prstGeom>
          <a:ln w="22225">
            <a:solidFill>
              <a:srgbClr val="EFAE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D3612B7-A767-6CC2-4E54-8F54459AE9EA}"/>
              </a:ext>
            </a:extLst>
          </p:cNvPr>
          <p:cNvSpPr txBox="1"/>
          <p:nvPr/>
        </p:nvSpPr>
        <p:spPr>
          <a:xfrm>
            <a:off x="1066800" y="57658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Dynamic reallocation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E5DBA8-B467-4ED2-B257-7BB14AC98F1D}"/>
              </a:ext>
            </a:extLst>
          </p:cNvPr>
          <p:cNvCxnSpPr/>
          <p:nvPr/>
        </p:nvCxnSpPr>
        <p:spPr>
          <a:xfrm flipV="1">
            <a:off x="4978400" y="1371600"/>
            <a:ext cx="0" cy="4140200"/>
          </a:xfrm>
          <a:prstGeom prst="line">
            <a:avLst/>
          </a:prstGeom>
          <a:ln w="25400">
            <a:solidFill>
              <a:srgbClr val="EF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7DB6A1-6833-820D-5DA7-F390C3B2B1FE}"/>
              </a:ext>
            </a:extLst>
          </p:cNvPr>
          <p:cNvCxnSpPr/>
          <p:nvPr/>
        </p:nvCxnSpPr>
        <p:spPr>
          <a:xfrm flipH="1">
            <a:off x="3429000" y="1371600"/>
            <a:ext cx="1549400" cy="0"/>
          </a:xfrm>
          <a:prstGeom prst="line">
            <a:avLst/>
          </a:prstGeom>
          <a:ln w="25400">
            <a:solidFill>
              <a:srgbClr val="EFA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146DE59-01D3-32FF-FD84-D154BD8A477C}"/>
              </a:ext>
            </a:extLst>
          </p:cNvPr>
          <p:cNvSpPr txBox="1"/>
          <p:nvPr/>
        </p:nvSpPr>
        <p:spPr>
          <a:xfrm>
            <a:off x="5156200" y="30226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Closed-loop optimisation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88F14717-1459-FDC2-7B14-C8E6D17CEBDA}"/>
              </a:ext>
            </a:extLst>
          </p:cNvPr>
          <p:cNvSpPr/>
          <p:nvPr/>
        </p:nvSpPr>
        <p:spPr>
          <a:xfrm>
            <a:off x="4343400" y="2235200"/>
            <a:ext cx="3810000" cy="2997200"/>
          </a:xfrm>
          <a:prstGeom prst="arc">
            <a:avLst/>
          </a:prstGeom>
          <a:ln w="25400">
            <a:solidFill>
              <a:srgbClr val="EF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FFFBC7-15FD-25FC-BA90-51DAF3DC3DD0}"/>
              </a:ext>
            </a:extLst>
          </p:cNvPr>
          <p:cNvCxnSpPr/>
          <p:nvPr/>
        </p:nvCxnSpPr>
        <p:spPr>
          <a:xfrm flipV="1">
            <a:off x="6426200" y="2489200"/>
            <a:ext cx="1473200" cy="939800"/>
          </a:xfrm>
          <a:prstGeom prst="line">
            <a:avLst/>
          </a:prstGeom>
          <a:ln w="12700">
            <a:solidFill>
              <a:srgbClr val="EF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249E9C8-CA6C-1319-7478-4883D5140C8C}"/>
              </a:ext>
            </a:extLst>
          </p:cNvPr>
          <p:cNvSpPr txBox="1"/>
          <p:nvPr/>
        </p:nvSpPr>
        <p:spPr>
          <a:xfrm>
            <a:off x="6680200" y="3632200"/>
            <a:ext cx="127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Saturation curve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431B6E9-487D-EE3B-B4AF-48A565CF39AA}"/>
              </a:ext>
            </a:extLst>
          </p:cNvPr>
          <p:cNvSpPr/>
          <p:nvPr/>
        </p:nvSpPr>
        <p:spPr>
          <a:xfrm>
            <a:off x="7899400" y="1397000"/>
            <a:ext cx="558800" cy="558800"/>
          </a:xfrm>
          <a:prstGeom prst="ellipse">
            <a:avLst/>
          </a:prstGeom>
          <a:noFill/>
          <a:ln w="15875" cap="flat" cmpd="sng" algn="ctr">
            <a:solidFill>
              <a:srgbClr val="3A3A3A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F21E67-1E40-800C-2096-54DC7338C27D}"/>
              </a:ext>
            </a:extLst>
          </p:cNvPr>
          <p:cNvSpPr txBox="1"/>
          <p:nvPr/>
        </p:nvSpPr>
        <p:spPr>
          <a:xfrm>
            <a:off x="8039100" y="1536700"/>
            <a:ext cx="304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F5F5F5"/>
                </a:solidFill>
                <a:latin typeface="Aptos" panose="020B000402020202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62412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A6675-230A-A205-9C88-6510764260C6}"/>
              </a:ext>
            </a:extLst>
          </p:cNvPr>
          <p:cNvSpPr txBox="1"/>
          <p:nvPr/>
        </p:nvSpPr>
        <p:spPr>
          <a:xfrm>
            <a:off x="584200" y="3810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400" b="1">
                <a:solidFill>
                  <a:srgbClr val="F5F5F5"/>
                </a:solidFill>
                <a:latin typeface="Aptos" panose="020B0004020202020204" pitchFamily="34" charset="0"/>
              </a:rPr>
              <a:t>REVERSE FUNNEL OPERATING LOGIC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86F82-9067-0C05-F4ED-CC295E57DDC1}"/>
              </a:ext>
            </a:extLst>
          </p:cNvPr>
          <p:cNvSpPr/>
          <p:nvPr/>
        </p:nvSpPr>
        <p:spPr>
          <a:xfrm>
            <a:off x="685800" y="1168400"/>
            <a:ext cx="4470400" cy="736600"/>
          </a:xfrm>
          <a:prstGeom prst="roundRect">
            <a:avLst/>
          </a:prstGeom>
          <a:solidFill>
            <a:srgbClr val="1B1B1B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5BA20A-953A-29DD-D772-8B7E71DA50DE}"/>
              </a:ext>
            </a:extLst>
          </p:cNvPr>
          <p:cNvSpPr txBox="1"/>
          <p:nvPr/>
        </p:nvSpPr>
        <p:spPr>
          <a:xfrm>
            <a:off x="914400" y="1295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EFAE00"/>
                </a:solidFill>
                <a:latin typeface="Aptos" panose="020B0004020202020204" pitchFamily="34" charset="0"/>
              </a:rPr>
              <a:t>START FROM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7AC8E-DCAC-52CA-7D71-2B40553D29C5}"/>
              </a:ext>
            </a:extLst>
          </p:cNvPr>
          <p:cNvSpPr txBox="1"/>
          <p:nvPr/>
        </p:nvSpPr>
        <p:spPr>
          <a:xfrm>
            <a:off x="914400" y="152400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F5F5F5"/>
                </a:solidFill>
                <a:latin typeface="Aptos" panose="020B0004020202020204" pitchFamily="34" charset="0"/>
              </a:rPr>
              <a:t>Budget derived from targets, not guesses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A867D0-4667-9DCB-9159-46BE36AE8666}"/>
              </a:ext>
            </a:extLst>
          </p:cNvPr>
          <p:cNvSpPr/>
          <p:nvPr/>
        </p:nvSpPr>
        <p:spPr>
          <a:xfrm>
            <a:off x="685800" y="2057400"/>
            <a:ext cx="4470400" cy="736600"/>
          </a:xfrm>
          <a:prstGeom prst="roundRect">
            <a:avLst/>
          </a:prstGeom>
          <a:solidFill>
            <a:srgbClr val="1B1B1B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639B1-3C71-86BD-F62B-0522ABB7C645}"/>
              </a:ext>
            </a:extLst>
          </p:cNvPr>
          <p:cNvSpPr txBox="1"/>
          <p:nvPr/>
        </p:nvSpPr>
        <p:spPr>
          <a:xfrm>
            <a:off x="914400" y="2184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EFAE00"/>
                </a:solidFill>
                <a:latin typeface="Aptos" panose="020B0004020202020204" pitchFamily="34" charset="0"/>
              </a:rPr>
              <a:t>FIND THE GAP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93AD9-84D3-3467-BD5C-0FE5701B2BCE}"/>
              </a:ext>
            </a:extLst>
          </p:cNvPr>
          <p:cNvSpPr txBox="1"/>
          <p:nvPr/>
        </p:nvSpPr>
        <p:spPr>
          <a:xfrm>
            <a:off x="914400" y="241300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F5F5F5"/>
                </a:solidFill>
                <a:latin typeface="Aptos" panose="020B0004020202020204" pitchFamily="34" charset="0"/>
              </a:rPr>
              <a:t>Quantify inefficiencies across the funnel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C4131E-1F16-BD14-126F-16A3004000B7}"/>
              </a:ext>
            </a:extLst>
          </p:cNvPr>
          <p:cNvSpPr/>
          <p:nvPr/>
        </p:nvSpPr>
        <p:spPr>
          <a:xfrm>
            <a:off x="685800" y="2946400"/>
            <a:ext cx="4470400" cy="736600"/>
          </a:xfrm>
          <a:prstGeom prst="roundRect">
            <a:avLst/>
          </a:prstGeom>
          <a:solidFill>
            <a:srgbClr val="1B1B1B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9CE1E-29F5-6438-C60B-15297721DBC5}"/>
              </a:ext>
            </a:extLst>
          </p:cNvPr>
          <p:cNvSpPr txBox="1"/>
          <p:nvPr/>
        </p:nvSpPr>
        <p:spPr>
          <a:xfrm>
            <a:off x="914400" y="3073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EFAE00"/>
                </a:solidFill>
                <a:latin typeface="Aptos" panose="020B0004020202020204" pitchFamily="34" charset="0"/>
              </a:rPr>
              <a:t>REALLOCATE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8A44A-AD85-6EF1-E71E-EEA064BA7CDD}"/>
              </a:ext>
            </a:extLst>
          </p:cNvPr>
          <p:cNvSpPr txBox="1"/>
          <p:nvPr/>
        </p:nvSpPr>
        <p:spPr>
          <a:xfrm>
            <a:off x="914400" y="330200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F5F5F5"/>
                </a:solidFill>
                <a:latin typeface="Aptos" panose="020B0004020202020204" pitchFamily="34" charset="0"/>
              </a:rPr>
              <a:t>Shift spend to highest marginal return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9A83F7-78F3-0A8E-C035-AE0E3200EFE6}"/>
              </a:ext>
            </a:extLst>
          </p:cNvPr>
          <p:cNvSpPr/>
          <p:nvPr/>
        </p:nvSpPr>
        <p:spPr>
          <a:xfrm>
            <a:off x="685800" y="3835400"/>
            <a:ext cx="4470400" cy="736600"/>
          </a:xfrm>
          <a:prstGeom prst="roundRect">
            <a:avLst/>
          </a:prstGeom>
          <a:solidFill>
            <a:srgbClr val="1B1B1B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BD40B9-9923-AA71-7E33-1A60A3CFAA97}"/>
              </a:ext>
            </a:extLst>
          </p:cNvPr>
          <p:cNvSpPr txBox="1"/>
          <p:nvPr/>
        </p:nvSpPr>
        <p:spPr>
          <a:xfrm>
            <a:off x="914400" y="3962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EFAE00"/>
                </a:solidFill>
                <a:latin typeface="Aptos" panose="020B0004020202020204" pitchFamily="34" charset="0"/>
              </a:rPr>
              <a:t>SCALE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9E49F-343F-F22E-0C6C-C36416DF4A98}"/>
              </a:ext>
            </a:extLst>
          </p:cNvPr>
          <p:cNvSpPr txBox="1"/>
          <p:nvPr/>
        </p:nvSpPr>
        <p:spPr>
          <a:xfrm>
            <a:off x="914400" y="419100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F5F5F5"/>
                </a:solidFill>
                <a:latin typeface="Aptos" panose="020B0004020202020204" pitchFamily="34" charset="0"/>
              </a:rPr>
              <a:t>Codified learnings across markets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F5D1BC-72F4-AD3C-7697-491DE5AA0DA1}"/>
              </a:ext>
            </a:extLst>
          </p:cNvPr>
          <p:cNvSpPr/>
          <p:nvPr/>
        </p:nvSpPr>
        <p:spPr>
          <a:xfrm>
            <a:off x="685800" y="4724400"/>
            <a:ext cx="4470400" cy="736600"/>
          </a:xfrm>
          <a:prstGeom prst="roundRect">
            <a:avLst/>
          </a:prstGeom>
          <a:solidFill>
            <a:srgbClr val="1B1B1B"/>
          </a:solidFill>
          <a:ln w="12700">
            <a:solidFill>
              <a:srgbClr val="3A3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069667-31A3-D495-5F71-88E354B82E82}"/>
              </a:ext>
            </a:extLst>
          </p:cNvPr>
          <p:cNvSpPr txBox="1"/>
          <p:nvPr/>
        </p:nvSpPr>
        <p:spPr>
          <a:xfrm>
            <a:off x="914400" y="485140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EFAE00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B5EF6-3109-5CDD-9952-D39257CF664E}"/>
              </a:ext>
            </a:extLst>
          </p:cNvPr>
          <p:cNvSpPr txBox="1"/>
          <p:nvPr/>
        </p:nvSpPr>
        <p:spPr>
          <a:xfrm>
            <a:off x="914400" y="508000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F5F5F5"/>
                </a:solidFill>
                <a:latin typeface="Aptos" panose="020B0004020202020204" pitchFamily="34" charset="0"/>
              </a:rPr>
              <a:t>Always-on decision engine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C6D0C9-D01D-52B9-0E52-F640D0E82E08}"/>
              </a:ext>
            </a:extLst>
          </p:cNvPr>
          <p:cNvCxnSpPr/>
          <p:nvPr/>
        </p:nvCxnSpPr>
        <p:spPr>
          <a:xfrm>
            <a:off x="5969000" y="3403600"/>
            <a:ext cx="2540000" cy="0"/>
          </a:xfrm>
          <a:prstGeom prst="line">
            <a:avLst/>
          </a:prstGeom>
          <a:ln w="1587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63CA09-8859-1688-757E-03AB4D02F16D}"/>
              </a:ext>
            </a:extLst>
          </p:cNvPr>
          <p:cNvCxnSpPr/>
          <p:nvPr/>
        </p:nvCxnSpPr>
        <p:spPr>
          <a:xfrm flipV="1">
            <a:off x="5969000" y="1600200"/>
            <a:ext cx="0" cy="1803400"/>
          </a:xfrm>
          <a:prstGeom prst="line">
            <a:avLst/>
          </a:prstGeom>
          <a:ln w="15875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3DF0A3-199A-DD3B-9D7C-0EF23B9E9E7A}"/>
              </a:ext>
            </a:extLst>
          </p:cNvPr>
          <p:cNvSpPr txBox="1"/>
          <p:nvPr/>
        </p:nvSpPr>
        <p:spPr>
          <a:xfrm>
            <a:off x="5892800" y="13716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Marginal return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534939-B03A-C978-602D-671BC56C5867}"/>
              </a:ext>
            </a:extLst>
          </p:cNvPr>
          <p:cNvSpPr txBox="1"/>
          <p:nvPr/>
        </p:nvSpPr>
        <p:spPr>
          <a:xfrm>
            <a:off x="8229600" y="3479800"/>
            <a:ext cx="50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Spend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68BA2B-2B63-58D2-C54B-FFD55088D578}"/>
              </a:ext>
            </a:extLst>
          </p:cNvPr>
          <p:cNvCxnSpPr/>
          <p:nvPr/>
        </p:nvCxnSpPr>
        <p:spPr>
          <a:xfrm>
            <a:off x="6070600" y="1828800"/>
            <a:ext cx="584200" cy="381000"/>
          </a:xfrm>
          <a:prstGeom prst="line">
            <a:avLst/>
          </a:prstGeom>
          <a:ln w="25400">
            <a:solidFill>
              <a:srgbClr val="EF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D2B27F9-7C79-76A1-D771-B0F84904935A}"/>
              </a:ext>
            </a:extLst>
          </p:cNvPr>
          <p:cNvCxnSpPr/>
          <p:nvPr/>
        </p:nvCxnSpPr>
        <p:spPr>
          <a:xfrm>
            <a:off x="6654800" y="2209800"/>
            <a:ext cx="609600" cy="355600"/>
          </a:xfrm>
          <a:prstGeom prst="line">
            <a:avLst/>
          </a:prstGeom>
          <a:ln w="25400">
            <a:solidFill>
              <a:srgbClr val="EF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9D6034-A35D-0B5F-F221-AE0BECC24967}"/>
              </a:ext>
            </a:extLst>
          </p:cNvPr>
          <p:cNvCxnSpPr/>
          <p:nvPr/>
        </p:nvCxnSpPr>
        <p:spPr>
          <a:xfrm>
            <a:off x="7264400" y="2565400"/>
            <a:ext cx="762000" cy="330200"/>
          </a:xfrm>
          <a:prstGeom prst="line">
            <a:avLst/>
          </a:prstGeom>
          <a:ln w="25400">
            <a:solidFill>
              <a:srgbClr val="EFA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037531-C224-D6C7-0D76-2FB0020E6E3D}"/>
              </a:ext>
            </a:extLst>
          </p:cNvPr>
          <p:cNvCxnSpPr/>
          <p:nvPr/>
        </p:nvCxnSpPr>
        <p:spPr>
          <a:xfrm>
            <a:off x="7823200" y="1930400"/>
            <a:ext cx="0" cy="1371600"/>
          </a:xfrm>
          <a:prstGeom prst="line">
            <a:avLst/>
          </a:prstGeom>
          <a:ln w="12700">
            <a:solidFill>
              <a:srgbClr val="EFA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6E4CD1F-3B70-1D76-CBEE-C9A8174A7333}"/>
              </a:ext>
            </a:extLst>
          </p:cNvPr>
          <p:cNvSpPr txBox="1"/>
          <p:nvPr/>
        </p:nvSpPr>
        <p:spPr>
          <a:xfrm>
            <a:off x="7899400" y="2032000"/>
            <a:ext cx="66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9B9B9B"/>
                </a:solidFill>
                <a:latin typeface="Aptos" panose="020B0004020202020204" pitchFamily="34" charset="0"/>
              </a:rPr>
              <a:t>Headroom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1887F2-5D6B-7112-8F1A-A9F5E3CE0A05}"/>
              </a:ext>
            </a:extLst>
          </p:cNvPr>
          <p:cNvSpPr txBox="1"/>
          <p:nvPr/>
        </p:nvSpPr>
        <p:spPr>
          <a:xfrm>
            <a:off x="5867400" y="4013200"/>
            <a:ext cx="101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F5F5F5"/>
                </a:solidFill>
                <a:latin typeface="Aptos" panose="020B0004020202020204" pitchFamily="34" charset="0"/>
              </a:rPr>
              <a:t>SEARCH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CBC0A4-65B4-CFC0-7DD0-F689373DC61D}"/>
              </a:ext>
            </a:extLst>
          </p:cNvPr>
          <p:cNvSpPr/>
          <p:nvPr/>
        </p:nvSpPr>
        <p:spPr>
          <a:xfrm>
            <a:off x="6985000" y="4038600"/>
            <a:ext cx="1168400" cy="152400"/>
          </a:xfrm>
          <a:prstGeom prst="rect">
            <a:avLst/>
          </a:prstGeom>
          <a:solidFill>
            <a:srgbClr val="3A3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773335-8541-F17C-D98D-CEE5C2C2F963}"/>
              </a:ext>
            </a:extLst>
          </p:cNvPr>
          <p:cNvSpPr/>
          <p:nvPr/>
        </p:nvSpPr>
        <p:spPr>
          <a:xfrm>
            <a:off x="6985000" y="4038600"/>
            <a:ext cx="1574800" cy="152400"/>
          </a:xfrm>
          <a:prstGeom prst="rect">
            <a:avLst/>
          </a:prstGeom>
          <a:solidFill>
            <a:srgbClr val="EFAE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913126-2D9C-4637-2180-24CEE321A754}"/>
              </a:ext>
            </a:extLst>
          </p:cNvPr>
          <p:cNvSpPr txBox="1"/>
          <p:nvPr/>
        </p:nvSpPr>
        <p:spPr>
          <a:xfrm>
            <a:off x="5867400" y="4495800"/>
            <a:ext cx="101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F5F5F5"/>
                </a:solidFill>
                <a:latin typeface="Aptos" panose="020B0004020202020204" pitchFamily="34" charset="0"/>
              </a:rPr>
              <a:t>INVENTORY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AF0FC2-DA90-8415-92DE-2385C881F54C}"/>
              </a:ext>
            </a:extLst>
          </p:cNvPr>
          <p:cNvSpPr/>
          <p:nvPr/>
        </p:nvSpPr>
        <p:spPr>
          <a:xfrm>
            <a:off x="6985000" y="4521200"/>
            <a:ext cx="1600200" cy="152400"/>
          </a:xfrm>
          <a:prstGeom prst="rect">
            <a:avLst/>
          </a:prstGeom>
          <a:solidFill>
            <a:srgbClr val="3A3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8A9FCC-4E1C-D6FB-A52A-D8FBCF533415}"/>
              </a:ext>
            </a:extLst>
          </p:cNvPr>
          <p:cNvSpPr/>
          <p:nvPr/>
        </p:nvSpPr>
        <p:spPr>
          <a:xfrm>
            <a:off x="6985000" y="4521200"/>
            <a:ext cx="1168400" cy="152400"/>
          </a:xfrm>
          <a:prstGeom prst="rect">
            <a:avLst/>
          </a:prstGeom>
          <a:solidFill>
            <a:srgbClr val="EFAE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74E4FF-9662-27D2-A75C-F2500C240269}"/>
              </a:ext>
            </a:extLst>
          </p:cNvPr>
          <p:cNvSpPr txBox="1"/>
          <p:nvPr/>
        </p:nvSpPr>
        <p:spPr>
          <a:xfrm>
            <a:off x="5867400" y="4978400"/>
            <a:ext cx="101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 b="1">
                <a:solidFill>
                  <a:srgbClr val="F5F5F5"/>
                </a:solidFill>
                <a:latin typeface="Aptos" panose="020B0004020202020204" pitchFamily="34" charset="0"/>
              </a:rPr>
              <a:t>SOCIAL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2ADEA1-F0CA-8C18-5D92-7300263E8193}"/>
              </a:ext>
            </a:extLst>
          </p:cNvPr>
          <p:cNvSpPr/>
          <p:nvPr/>
        </p:nvSpPr>
        <p:spPr>
          <a:xfrm>
            <a:off x="6985000" y="5003800"/>
            <a:ext cx="965200" cy="152400"/>
          </a:xfrm>
          <a:prstGeom prst="rect">
            <a:avLst/>
          </a:prstGeom>
          <a:solidFill>
            <a:srgbClr val="3A3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54C0DE-DFB0-8AAA-1ABD-8A35AA0D4581}"/>
              </a:ext>
            </a:extLst>
          </p:cNvPr>
          <p:cNvSpPr/>
          <p:nvPr/>
        </p:nvSpPr>
        <p:spPr>
          <a:xfrm>
            <a:off x="6985000" y="5003800"/>
            <a:ext cx="736600" cy="152400"/>
          </a:xfrm>
          <a:prstGeom prst="rect">
            <a:avLst/>
          </a:prstGeom>
          <a:solidFill>
            <a:srgbClr val="EFAE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FE3EF5-DBFE-EE7B-7396-1B05B2E657A9}"/>
              </a:ext>
            </a:extLst>
          </p:cNvPr>
          <p:cNvSpPr txBox="1"/>
          <p:nvPr/>
        </p:nvSpPr>
        <p:spPr>
          <a:xfrm>
            <a:off x="5867400" y="56642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100">
                <a:solidFill>
                  <a:srgbClr val="9B9B9B"/>
                </a:solidFill>
                <a:latin typeface="Aptos" panose="020B0004020202020204" pitchFamily="34" charset="0"/>
              </a:rPr>
              <a:t>Reallocate before channels saturate</a:t>
            </a:r>
          </a:p>
        </p:txBody>
      </p:sp>
    </p:spTree>
    <p:extLst>
      <p:ext uri="{BB962C8B-B14F-4D97-AF65-F5344CB8AC3E}">
        <p14:creationId xmlns:p14="http://schemas.microsoft.com/office/powerpoint/2010/main" val="338529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Custom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Malek (Omnicom)</dc:creator>
  <cp:lastModifiedBy>Ali Malek (Omnicom)</cp:lastModifiedBy>
  <cp:revision>1</cp:revision>
  <dcterms:created xsi:type="dcterms:W3CDTF">2026-04-07T09:32:35Z</dcterms:created>
  <dcterms:modified xsi:type="dcterms:W3CDTF">2026-04-07T09:32:35Z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2026-04-07T09:32:35Z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e044d740-b21e-45e4-a2ca-9d2e3cdefc8e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 - Not for Public Consumption or Distribution</vt:lpwstr>
  </property>
</Properties>
</file>