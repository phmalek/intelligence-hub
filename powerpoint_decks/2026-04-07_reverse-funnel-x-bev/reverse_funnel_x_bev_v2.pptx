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9E1B-52DC-2C42-AF38-924127A87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22017-6990-A667-0076-201157136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62000-37D7-DB1F-B1AE-5804B251B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7F97-D5E9-49FB-A851-F72BC015C4C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C4F9A-CF65-62F7-185D-971606DB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CFDCE-C3C9-7B3A-CEEA-4BEAACD16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07B85-1866-4D7C-AE99-303BA003F9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40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9620F-3C75-E374-E24D-EF33BCD94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9EC3B-E018-A9DC-FD4D-0B6C82EF4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7A858-E19F-CB58-680C-464A3288A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7F97-D5E9-49FB-A851-F72BC015C4C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242B4-1D80-9CC8-7415-A40CF48BF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FDC60-F1C9-BC37-2273-21108307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07B85-1866-4D7C-AE99-303BA003F9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066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D14C5-BA05-F52F-A572-272A33472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2ECE8-6DB5-A86A-F14A-91A3535C2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A7AA8-5CEF-6E16-EEC8-2E7A5769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7F97-D5E9-49FB-A851-F72BC015C4C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6218B-3C33-7D20-70AB-5A1E7D2CB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604D7-502C-1994-FB90-A75E0EBC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07B85-1866-4D7C-AE99-303BA003F9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72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39DA-679C-59D6-F257-CE340F21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B8792-71CE-9CD4-C298-CC256E15C9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79F44-F657-3F92-F55D-E4951E278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479C2-1EB8-E35B-EA3C-585019DF8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7F97-D5E9-49FB-A851-F72BC015C4C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1A7BA-E478-EC77-0F17-AE177281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53DC7-5F86-9329-E166-CF074857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07B85-1866-4D7C-AE99-303BA003F9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0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EF009-CA8F-19BD-FE9A-75CD1A48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D855E-8408-5855-891E-A4F036D27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536A4-6545-1C6F-A03A-411B4F5F8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18039D-B3A4-C88D-EB46-355CAACDE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F5EB92-BF84-CA65-0F33-D3C5F667B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BE4D4B-DA18-15DD-B536-BE234FE87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7F97-D5E9-49FB-A851-F72BC015C4C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FA0CA0-8FDB-9D2E-788A-0FA75F06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931C10-A5DF-8B1F-B596-07B9999A0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07B85-1866-4D7C-AE99-303BA003F9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27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3716-14A9-817C-5B87-F7B7C11A7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56655-329E-EED6-9D7C-0D826A7F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7F97-D5E9-49FB-A851-F72BC015C4C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1F44B-E32C-C9E7-B1AC-11A5F14E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36D07-FC30-5DF3-6CB0-DB3DCDE1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07B85-1866-4D7C-AE99-303BA003F9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506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4EC1F-66A0-05AA-8AD4-B1C2B13DA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7F97-D5E9-49FB-A851-F72BC015C4C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743EC7-0FD6-3CD0-CC9E-B28703F0A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678DC-E97C-8505-54E8-0D9B1EA5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07B85-1866-4D7C-AE99-303BA003F9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60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057F-91FC-A356-51B9-5C14DA355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DD88C-ED33-DD49-9529-10708E41A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B9391-751B-E7A9-4213-D13FC0031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74ACD-B18A-3EF5-2665-8BC338D1A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7F97-D5E9-49FB-A851-F72BC015C4C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CA912-C318-D98C-C7B7-25097546D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6F7D9-7408-9527-62EB-ED4CC50F6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07B85-1866-4D7C-AE99-303BA003F9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54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EC8E-E3F5-FFF8-F154-29CD3B00B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A8B86-8DFD-633F-0803-8E8261A14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DB6F9-D08D-3579-5587-14F54EA4F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D639B-0EE6-487D-4F06-A0268BE28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7F97-D5E9-49FB-A851-F72BC015C4C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3BD17-B124-17BC-4EFE-15BA6B5DA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FABE2-A8E7-D92D-65F1-C573F8EF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07B85-1866-4D7C-AE99-303BA003F9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6550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C705-220F-CB07-F257-8DE14DFA2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058F3-A59F-8F68-A352-980FFBF5C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B360D-3B28-9FED-924F-9D058B43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7F97-D5E9-49FB-A851-F72BC015C4C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A6011-DFD0-0194-E587-FEA751C77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0EF43-BD7E-97C3-15E2-4EF324D44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07B85-1866-4D7C-AE99-303BA003F9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068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65A06B-5D49-D099-138D-6FCA7E7602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7602C-1596-03C1-358D-D2CA7CD09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91B9B-097A-7946-85DE-855500034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7F97-D5E9-49FB-A851-F72BC015C4C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DEAE6-DD30-B95A-51E1-78FEEAF21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B1BE2-0717-E8D2-DF59-B7A138274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07B85-1866-4D7C-AE99-303BA003F9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30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9A07FA-E92C-3245-2C7C-7B55881D2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D7810-3C13-993B-7583-968C6D0ED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CC506-EBC0-2CA8-1987-984CE75C3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C7F97-D5E9-49FB-A851-F72BC015C4C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39D65-D44C-8A40-373D-A00362F2E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539F9-CD6F-CAB1-7A11-42E175250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07B85-1866-4D7C-AE99-303BA003F91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FD392D-2C85-2B25-02BB-13874892660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1481714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3C0234-6C87-94A3-7B1B-DF9A8787D9A3}"/>
              </a:ext>
            </a:extLst>
          </p:cNvPr>
          <p:cNvSpPr txBox="1"/>
          <p:nvPr/>
        </p:nvSpPr>
        <p:spPr>
          <a:xfrm>
            <a:off x="558800" y="355600"/>
            <a:ext cx="482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FFD767"/>
                </a:solidFill>
                <a:latin typeface="Aptos" panose="020B0004020202020204" pitchFamily="34" charset="0"/>
              </a:rPr>
              <a:t>REVERSE FUNNEL x BEV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397FD-717D-F562-1647-10803BF7D1FF}"/>
              </a:ext>
            </a:extLst>
          </p:cNvPr>
          <p:cNvSpPr txBox="1"/>
          <p:nvPr/>
        </p:nvSpPr>
        <p:spPr>
          <a:xfrm>
            <a:off x="558800" y="660400"/>
            <a:ext cx="5334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F3F3F3"/>
                </a:solidFill>
                <a:latin typeface="Aptos" panose="020B0004020202020204" pitchFamily="34" charset="0"/>
              </a:rPr>
              <a:t>FROM MEDIA PLANNING
TO OUTCOME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CB8A-F837-C180-336B-EA0654113071}"/>
              </a:ext>
            </a:extLst>
          </p:cNvPr>
          <p:cNvSpPr txBox="1"/>
          <p:nvPr/>
        </p:nvSpPr>
        <p:spPr>
          <a:xfrm>
            <a:off x="558800" y="1549400"/>
            <a:ext cx="406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>
                <a:solidFill>
                  <a:srgbClr val="A6A6A6"/>
                </a:solidFill>
                <a:latin typeface="Aptos" panose="020B0004020202020204" pitchFamily="34" charset="0"/>
              </a:rPr>
              <a:t>Reverse Funnel turns demand into a controllable system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2668E52-4430-BEDD-5CFD-6BAF869D9374}"/>
              </a:ext>
            </a:extLst>
          </p:cNvPr>
          <p:cNvSpPr/>
          <p:nvPr/>
        </p:nvSpPr>
        <p:spPr>
          <a:xfrm>
            <a:off x="558800" y="2184400"/>
            <a:ext cx="1422400" cy="3048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65C995-340E-7ACB-9C33-0D7ED3712061}"/>
              </a:ext>
            </a:extLst>
          </p:cNvPr>
          <p:cNvSpPr txBox="1"/>
          <p:nvPr/>
        </p:nvSpPr>
        <p:spPr>
          <a:xfrm>
            <a:off x="685800" y="2235200"/>
            <a:ext cx="1168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3F3F3"/>
                </a:solidFill>
                <a:latin typeface="Aptos" panose="020B0004020202020204" pitchFamily="34" charset="0"/>
              </a:rPr>
              <a:t>TRACEABLE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ADBCA43-85CC-FD35-19CD-1A8D5672671D}"/>
              </a:ext>
            </a:extLst>
          </p:cNvPr>
          <p:cNvSpPr/>
          <p:nvPr/>
        </p:nvSpPr>
        <p:spPr>
          <a:xfrm>
            <a:off x="2082800" y="2184400"/>
            <a:ext cx="1651000" cy="3048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B028CB-E769-272D-C406-C0BAC22E305C}"/>
              </a:ext>
            </a:extLst>
          </p:cNvPr>
          <p:cNvSpPr txBox="1"/>
          <p:nvPr/>
        </p:nvSpPr>
        <p:spPr>
          <a:xfrm>
            <a:off x="2209800" y="22352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3F3F3"/>
                </a:solidFill>
                <a:latin typeface="Aptos" panose="020B0004020202020204" pitchFamily="34" charset="0"/>
              </a:rPr>
              <a:t>OBSERVED DATA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43BF42C-6769-A4BF-ED97-6394DD7E6DE1}"/>
              </a:ext>
            </a:extLst>
          </p:cNvPr>
          <p:cNvSpPr/>
          <p:nvPr/>
        </p:nvSpPr>
        <p:spPr>
          <a:xfrm>
            <a:off x="3835400" y="2184400"/>
            <a:ext cx="1574800" cy="3048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EAA6B9-A9E3-D484-72D5-3FF422CF6784}"/>
              </a:ext>
            </a:extLst>
          </p:cNvPr>
          <p:cNvSpPr txBox="1"/>
          <p:nvPr/>
        </p:nvSpPr>
        <p:spPr>
          <a:xfrm>
            <a:off x="3962400" y="2235200"/>
            <a:ext cx="1320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3F3F3"/>
                </a:solidFill>
                <a:latin typeface="Aptos" panose="020B0004020202020204" pitchFamily="34" charset="0"/>
              </a:rPr>
              <a:t>REALLOCATION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D1352C-FC93-C7D2-B6FF-A34E6CCF65E7}"/>
              </a:ext>
            </a:extLst>
          </p:cNvPr>
          <p:cNvSpPr/>
          <p:nvPr/>
        </p:nvSpPr>
        <p:spPr>
          <a:xfrm>
            <a:off x="939800" y="2819400"/>
            <a:ext cx="4394200" cy="5334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E594C4-4926-91A0-99D9-0CE88766C493}"/>
              </a:ext>
            </a:extLst>
          </p:cNvPr>
          <p:cNvSpPr txBox="1"/>
          <p:nvPr/>
        </p:nvSpPr>
        <p:spPr>
          <a:xfrm>
            <a:off x="1219200" y="2997200"/>
            <a:ext cx="3835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900" b="1">
                <a:solidFill>
                  <a:srgbClr val="F3F3F3"/>
                </a:solidFill>
                <a:latin typeface="Aptos" panose="020B0004020202020204" pitchFamily="34" charset="0"/>
              </a:rPr>
              <a:t>SALES TARGET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11D89D-A791-F45F-BEE6-2A0FEFF31C64}"/>
              </a:ext>
            </a:extLst>
          </p:cNvPr>
          <p:cNvSpPr txBox="1"/>
          <p:nvPr/>
        </p:nvSpPr>
        <p:spPr>
          <a:xfrm>
            <a:off x="1219200" y="3352800"/>
            <a:ext cx="3835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A6A6A6"/>
                </a:solidFill>
                <a:latin typeface="Aptos" panose="020B0004020202020204" pitchFamily="34" charset="0"/>
              </a:rPr>
              <a:t>Start from decision outcome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9ED613-82D0-9F06-3E1C-D342743CF5F3}"/>
              </a:ext>
            </a:extLst>
          </p:cNvPr>
          <p:cNvCxnSpPr/>
          <p:nvPr/>
        </p:nvCxnSpPr>
        <p:spPr>
          <a:xfrm>
            <a:off x="3136900" y="3352800"/>
            <a:ext cx="0" cy="177800"/>
          </a:xfrm>
          <a:prstGeom prst="line">
            <a:avLst/>
          </a:prstGeom>
          <a:ln w="25400">
            <a:solidFill>
              <a:srgbClr val="FFD7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8CF4BA3-C7FA-B784-4AAA-638FE928D11E}"/>
              </a:ext>
            </a:extLst>
          </p:cNvPr>
          <p:cNvSpPr/>
          <p:nvPr/>
        </p:nvSpPr>
        <p:spPr>
          <a:xfrm>
            <a:off x="939800" y="3556000"/>
            <a:ext cx="4394200" cy="5334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BAEF24-E844-C066-403D-4A29984E9FC1}"/>
              </a:ext>
            </a:extLst>
          </p:cNvPr>
          <p:cNvSpPr txBox="1"/>
          <p:nvPr/>
        </p:nvSpPr>
        <p:spPr>
          <a:xfrm>
            <a:off x="1219200" y="3733800"/>
            <a:ext cx="3835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900" b="1">
                <a:solidFill>
                  <a:srgbClr val="F3F3F3"/>
                </a:solidFill>
                <a:latin typeface="Aptos" panose="020B0004020202020204" pitchFamily="34" charset="0"/>
              </a:rPr>
              <a:t>REQUIRED LEADS (DCFS)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018A9A-D9B0-96F6-D33F-5103AA397D34}"/>
              </a:ext>
            </a:extLst>
          </p:cNvPr>
          <p:cNvSpPr txBox="1"/>
          <p:nvPr/>
        </p:nvSpPr>
        <p:spPr>
          <a:xfrm>
            <a:off x="1219200" y="4089400"/>
            <a:ext cx="3835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A6A6A6"/>
                </a:solidFill>
                <a:latin typeface="Aptos" panose="020B0004020202020204" pitchFamily="34" charset="0"/>
              </a:rPr>
              <a:t>Backsolve the demand requirement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D1A1F2-B05A-C34A-1878-6B720432F8BB}"/>
              </a:ext>
            </a:extLst>
          </p:cNvPr>
          <p:cNvCxnSpPr/>
          <p:nvPr/>
        </p:nvCxnSpPr>
        <p:spPr>
          <a:xfrm>
            <a:off x="3136900" y="4089400"/>
            <a:ext cx="0" cy="177800"/>
          </a:xfrm>
          <a:prstGeom prst="line">
            <a:avLst/>
          </a:prstGeom>
          <a:ln w="25400">
            <a:solidFill>
              <a:srgbClr val="FFD7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E7371E6-FD0F-CFCD-9428-14CE2D0A0631}"/>
              </a:ext>
            </a:extLst>
          </p:cNvPr>
          <p:cNvSpPr/>
          <p:nvPr/>
        </p:nvSpPr>
        <p:spPr>
          <a:xfrm>
            <a:off x="939800" y="4292600"/>
            <a:ext cx="4394200" cy="5334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607359-2895-CC89-D331-BA4AB6847514}"/>
              </a:ext>
            </a:extLst>
          </p:cNvPr>
          <p:cNvSpPr txBox="1"/>
          <p:nvPr/>
        </p:nvSpPr>
        <p:spPr>
          <a:xfrm>
            <a:off x="1219200" y="4470400"/>
            <a:ext cx="3835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900" b="1">
                <a:solidFill>
                  <a:srgbClr val="F3F3F3"/>
                </a:solidFill>
                <a:latin typeface="Aptos" panose="020B0004020202020204" pitchFamily="34" charset="0"/>
              </a:rPr>
              <a:t>SESSIONS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451308-B86E-AAEA-9B85-435398699A4A}"/>
              </a:ext>
            </a:extLst>
          </p:cNvPr>
          <p:cNvSpPr txBox="1"/>
          <p:nvPr/>
        </p:nvSpPr>
        <p:spPr>
          <a:xfrm>
            <a:off x="1219200" y="4826000"/>
            <a:ext cx="3835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A6A6A6"/>
                </a:solidFill>
                <a:latin typeface="Aptos" panose="020B0004020202020204" pitchFamily="34" charset="0"/>
              </a:rPr>
              <a:t>Translate leads into traffic volume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C20207-B112-AEB0-3BA7-D15B5684407D}"/>
              </a:ext>
            </a:extLst>
          </p:cNvPr>
          <p:cNvCxnSpPr/>
          <p:nvPr/>
        </p:nvCxnSpPr>
        <p:spPr>
          <a:xfrm>
            <a:off x="3136900" y="4826000"/>
            <a:ext cx="0" cy="177800"/>
          </a:xfrm>
          <a:prstGeom prst="line">
            <a:avLst/>
          </a:prstGeom>
          <a:ln w="25400">
            <a:solidFill>
              <a:srgbClr val="FFD7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8B5414F-6A5E-9008-490A-F58020C3D590}"/>
              </a:ext>
            </a:extLst>
          </p:cNvPr>
          <p:cNvSpPr/>
          <p:nvPr/>
        </p:nvSpPr>
        <p:spPr>
          <a:xfrm>
            <a:off x="939800" y="5029200"/>
            <a:ext cx="4394200" cy="5334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B7C1A7-E8B9-F21C-F755-81E3671E614D}"/>
              </a:ext>
            </a:extLst>
          </p:cNvPr>
          <p:cNvSpPr txBox="1"/>
          <p:nvPr/>
        </p:nvSpPr>
        <p:spPr>
          <a:xfrm>
            <a:off x="1219200" y="5207000"/>
            <a:ext cx="3835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900" b="1">
                <a:solidFill>
                  <a:srgbClr val="F3F3F3"/>
                </a:solidFill>
                <a:latin typeface="Aptos" panose="020B0004020202020204" pitchFamily="34" charset="0"/>
              </a:rPr>
              <a:t>MEDIA SPEND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158B25-21DC-2E19-6BCB-36B31D213A66}"/>
              </a:ext>
            </a:extLst>
          </p:cNvPr>
          <p:cNvSpPr txBox="1"/>
          <p:nvPr/>
        </p:nvSpPr>
        <p:spPr>
          <a:xfrm>
            <a:off x="1219200" y="5562600"/>
            <a:ext cx="3835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A6A6A6"/>
                </a:solidFill>
                <a:latin typeface="Aptos" panose="020B0004020202020204" pitchFamily="34" charset="0"/>
              </a:rPr>
              <a:t>Price the traffic requirement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0BD87C-757D-9C3F-1741-A55EB24BBDB8}"/>
              </a:ext>
            </a:extLst>
          </p:cNvPr>
          <p:cNvSpPr txBox="1"/>
          <p:nvPr/>
        </p:nvSpPr>
        <p:spPr>
          <a:xfrm>
            <a:off x="939800" y="55118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A6A6A6"/>
                </a:solidFill>
                <a:latin typeface="Aptos" panose="020B0004020202020204" pitchFamily="34" charset="0"/>
              </a:rPr>
              <a:t>CHANNEL ALLOCATION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6707834-BD79-E269-D9A0-D21DD81558E5}"/>
              </a:ext>
            </a:extLst>
          </p:cNvPr>
          <p:cNvSpPr/>
          <p:nvPr/>
        </p:nvSpPr>
        <p:spPr>
          <a:xfrm>
            <a:off x="939800" y="5765800"/>
            <a:ext cx="1270000" cy="38100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FFD7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15C200-BCA9-FE01-683D-3D41DE2890B2}"/>
              </a:ext>
            </a:extLst>
          </p:cNvPr>
          <p:cNvSpPr txBox="1"/>
          <p:nvPr/>
        </p:nvSpPr>
        <p:spPr>
          <a:xfrm>
            <a:off x="1092200" y="5854700"/>
            <a:ext cx="965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F3F3F3"/>
                </a:solidFill>
                <a:latin typeface="Aptos" panose="020B0004020202020204" pitchFamily="34" charset="0"/>
              </a:rPr>
              <a:t>SEARCH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44A10EF-61F8-7CEA-E6EF-054E6BAF2CCA}"/>
              </a:ext>
            </a:extLst>
          </p:cNvPr>
          <p:cNvSpPr/>
          <p:nvPr/>
        </p:nvSpPr>
        <p:spPr>
          <a:xfrm>
            <a:off x="2413000" y="5765800"/>
            <a:ext cx="1447800" cy="38100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FFD7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CE7405-9D53-F483-7199-987FD125B469}"/>
              </a:ext>
            </a:extLst>
          </p:cNvPr>
          <p:cNvSpPr txBox="1"/>
          <p:nvPr/>
        </p:nvSpPr>
        <p:spPr>
          <a:xfrm>
            <a:off x="2565400" y="5854700"/>
            <a:ext cx="114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F3F3F3"/>
                </a:solidFill>
                <a:latin typeface="Aptos" panose="020B0004020202020204" pitchFamily="34" charset="0"/>
              </a:rPr>
              <a:t>INVENTORY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87AF95C-0D28-6F6E-23F6-15999F07A180}"/>
              </a:ext>
            </a:extLst>
          </p:cNvPr>
          <p:cNvSpPr/>
          <p:nvPr/>
        </p:nvSpPr>
        <p:spPr>
          <a:xfrm>
            <a:off x="4064000" y="5765800"/>
            <a:ext cx="1219200" cy="381000"/>
          </a:xfrm>
          <a:prstGeom prst="roundRect">
            <a:avLst/>
          </a:prstGeom>
          <a:solidFill>
            <a:srgbClr val="101010"/>
          </a:solidFill>
          <a:ln w="12700">
            <a:solidFill>
              <a:srgbClr val="FFD7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2E6DB6-F274-9F11-BA24-1EFA282A2BF1}"/>
              </a:ext>
            </a:extLst>
          </p:cNvPr>
          <p:cNvSpPr txBox="1"/>
          <p:nvPr/>
        </p:nvSpPr>
        <p:spPr>
          <a:xfrm>
            <a:off x="4216400" y="5854700"/>
            <a:ext cx="914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F3F3F3"/>
                </a:solidFill>
                <a:latin typeface="Aptos" panose="020B0004020202020204" pitchFamily="34" charset="0"/>
              </a:rPr>
              <a:t>SOCIAL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7276EAD-338C-639B-3724-B383EA5C0761}"/>
              </a:ext>
            </a:extLst>
          </p:cNvPr>
          <p:cNvCxnSpPr/>
          <p:nvPr/>
        </p:nvCxnSpPr>
        <p:spPr>
          <a:xfrm>
            <a:off x="2209800" y="5956300"/>
            <a:ext cx="203200" cy="0"/>
          </a:xfrm>
          <a:prstGeom prst="line">
            <a:avLst/>
          </a:prstGeom>
          <a:ln w="19050">
            <a:solidFill>
              <a:srgbClr val="FFD76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7564C10-F93E-67F7-72F1-9A3ADAE14581}"/>
              </a:ext>
            </a:extLst>
          </p:cNvPr>
          <p:cNvCxnSpPr/>
          <p:nvPr/>
        </p:nvCxnSpPr>
        <p:spPr>
          <a:xfrm>
            <a:off x="3860800" y="5956300"/>
            <a:ext cx="203200" cy="0"/>
          </a:xfrm>
          <a:prstGeom prst="line">
            <a:avLst/>
          </a:prstGeom>
          <a:ln w="19050">
            <a:solidFill>
              <a:srgbClr val="FFD76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25FF45C-2FBB-F458-E16D-FAA9C0A13F78}"/>
              </a:ext>
            </a:extLst>
          </p:cNvPr>
          <p:cNvSpPr txBox="1"/>
          <p:nvPr/>
        </p:nvSpPr>
        <p:spPr>
          <a:xfrm>
            <a:off x="939800" y="6223000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A6A6A6"/>
                </a:solidFill>
                <a:latin typeface="Aptos" panose="020B0004020202020204" pitchFamily="34" charset="0"/>
              </a:rPr>
              <a:t>Budget shifts to the strongest marginal return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5CCBCC-070A-B568-E185-797CEF82F0C0}"/>
              </a:ext>
            </a:extLst>
          </p:cNvPr>
          <p:cNvSpPr txBox="1"/>
          <p:nvPr/>
        </p:nvSpPr>
        <p:spPr>
          <a:xfrm>
            <a:off x="6400800" y="939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100" b="1">
                <a:solidFill>
                  <a:srgbClr val="A6A6A6"/>
                </a:solidFill>
                <a:latin typeface="Aptos" panose="020B0004020202020204" pitchFamily="34" charset="0"/>
              </a:rPr>
              <a:t>WHY THIS IS DIFFERENT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8440A41-A3AC-D466-A1E1-2981547429EF}"/>
              </a:ext>
            </a:extLst>
          </p:cNvPr>
          <p:cNvSpPr/>
          <p:nvPr/>
        </p:nvSpPr>
        <p:spPr>
          <a:xfrm>
            <a:off x="6400800" y="1270000"/>
            <a:ext cx="3378200" cy="41910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BA93CA-889F-08A3-691E-4FBDB01AEE33}"/>
              </a:ext>
            </a:extLst>
          </p:cNvPr>
          <p:cNvSpPr txBox="1"/>
          <p:nvPr/>
        </p:nvSpPr>
        <p:spPr>
          <a:xfrm>
            <a:off x="6705600" y="1574800"/>
            <a:ext cx="2413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F3F3F3"/>
                </a:solidFill>
                <a:latin typeface="Aptos" panose="020B0004020202020204" pitchFamily="34" charset="0"/>
              </a:rPr>
              <a:t>Closed-loop optimisation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5C4480-3378-5528-1923-711D676A6805}"/>
              </a:ext>
            </a:extLst>
          </p:cNvPr>
          <p:cNvSpPr txBox="1"/>
          <p:nvPr/>
        </p:nvSpPr>
        <p:spPr>
          <a:xfrm>
            <a:off x="6705600" y="1955800"/>
            <a:ext cx="2311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A6A6A6"/>
                </a:solidFill>
                <a:latin typeface="Aptos" panose="020B0004020202020204" pitchFamily="34" charset="0"/>
              </a:rPr>
              <a:t>Observed performance continuously updates lead needs, session volume and spend.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5F45878-24AD-F345-EFB4-78E0C0D15D10}"/>
              </a:ext>
            </a:extLst>
          </p:cNvPr>
          <p:cNvCxnSpPr/>
          <p:nvPr/>
        </p:nvCxnSpPr>
        <p:spPr>
          <a:xfrm>
            <a:off x="6705600" y="4394200"/>
            <a:ext cx="261620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4BAB8B6-9899-E5C5-F59A-963E059BC7AB}"/>
              </a:ext>
            </a:extLst>
          </p:cNvPr>
          <p:cNvCxnSpPr/>
          <p:nvPr/>
        </p:nvCxnSpPr>
        <p:spPr>
          <a:xfrm flipV="1">
            <a:off x="6705600" y="2819400"/>
            <a:ext cx="0" cy="157480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DD21D05-C1F4-5FBB-203C-C193801AE36C}"/>
              </a:ext>
            </a:extLst>
          </p:cNvPr>
          <p:cNvSpPr txBox="1"/>
          <p:nvPr/>
        </p:nvSpPr>
        <p:spPr>
          <a:xfrm>
            <a:off x="6680200" y="25908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>
                <a:solidFill>
                  <a:srgbClr val="A6A6A6"/>
                </a:solidFill>
                <a:latin typeface="Aptos" panose="020B0004020202020204" pitchFamily="34" charset="0"/>
              </a:rPr>
              <a:t>Marginal return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840BC5-F220-589B-A9E3-665AC81BF14D}"/>
              </a:ext>
            </a:extLst>
          </p:cNvPr>
          <p:cNvSpPr txBox="1"/>
          <p:nvPr/>
        </p:nvSpPr>
        <p:spPr>
          <a:xfrm>
            <a:off x="9169400" y="44704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>
                <a:solidFill>
                  <a:srgbClr val="A6A6A6"/>
                </a:solidFill>
                <a:latin typeface="Aptos" panose="020B0004020202020204" pitchFamily="34" charset="0"/>
              </a:rPr>
              <a:t>Spend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9482A5-24D5-386B-2D2A-5957E41EDADE}"/>
              </a:ext>
            </a:extLst>
          </p:cNvPr>
          <p:cNvCxnSpPr/>
          <p:nvPr/>
        </p:nvCxnSpPr>
        <p:spPr>
          <a:xfrm>
            <a:off x="6858000" y="3048000"/>
            <a:ext cx="533400" cy="2032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DF21308-6133-6176-B406-06CEC7781A32}"/>
              </a:ext>
            </a:extLst>
          </p:cNvPr>
          <p:cNvCxnSpPr/>
          <p:nvPr/>
        </p:nvCxnSpPr>
        <p:spPr>
          <a:xfrm>
            <a:off x="7391400" y="3251200"/>
            <a:ext cx="533400" cy="2540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98200E6-1007-1938-E65D-D26E01267DE4}"/>
              </a:ext>
            </a:extLst>
          </p:cNvPr>
          <p:cNvCxnSpPr/>
          <p:nvPr/>
        </p:nvCxnSpPr>
        <p:spPr>
          <a:xfrm>
            <a:off x="7924800" y="3505200"/>
            <a:ext cx="558800" cy="2794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287350C-BA9D-33CF-3E07-B06C03206AB0}"/>
              </a:ext>
            </a:extLst>
          </p:cNvPr>
          <p:cNvCxnSpPr/>
          <p:nvPr/>
        </p:nvCxnSpPr>
        <p:spPr>
          <a:xfrm>
            <a:off x="8483600" y="3784600"/>
            <a:ext cx="609600" cy="2540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8FFB0C2-BBCF-A23D-A7A5-6312C6C54A87}"/>
              </a:ext>
            </a:extLst>
          </p:cNvPr>
          <p:cNvCxnSpPr/>
          <p:nvPr/>
        </p:nvCxnSpPr>
        <p:spPr>
          <a:xfrm>
            <a:off x="8661400" y="3048000"/>
            <a:ext cx="0" cy="1168400"/>
          </a:xfrm>
          <a:prstGeom prst="line">
            <a:avLst/>
          </a:prstGeom>
          <a:ln w="19050">
            <a:solidFill>
              <a:srgbClr val="FFD7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58D4758-C114-28F9-C5D3-69F718B9DE60}"/>
              </a:ext>
            </a:extLst>
          </p:cNvPr>
          <p:cNvSpPr txBox="1"/>
          <p:nvPr/>
        </p:nvSpPr>
        <p:spPr>
          <a:xfrm>
            <a:off x="8763000" y="3378200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A6A6A6"/>
                </a:solidFill>
                <a:latin typeface="Aptos" panose="020B0004020202020204" pitchFamily="34" charset="0"/>
              </a:rPr>
              <a:t>Headroom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B1C8AE-CB31-62FC-AF7B-C9BE8B25D33F}"/>
              </a:ext>
            </a:extLst>
          </p:cNvPr>
          <p:cNvSpPr txBox="1"/>
          <p:nvPr/>
        </p:nvSpPr>
        <p:spPr>
          <a:xfrm>
            <a:off x="6705600" y="4546600"/>
            <a:ext cx="165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A6A6A6"/>
                </a:solidFill>
                <a:latin typeface="Aptos" panose="020B0004020202020204" pitchFamily="34" charset="0"/>
              </a:rPr>
              <a:t>Dynamic reallocation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2FD10F-41A6-BC1A-9954-831160E68057}"/>
              </a:ext>
            </a:extLst>
          </p:cNvPr>
          <p:cNvSpPr txBox="1"/>
          <p:nvPr/>
        </p:nvSpPr>
        <p:spPr>
          <a:xfrm>
            <a:off x="6705600" y="4762500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3F3F3"/>
                </a:solidFill>
                <a:latin typeface="Aptos" panose="020B0004020202020204" pitchFamily="34" charset="0"/>
              </a:rPr>
              <a:t>SEARCH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D62BD0E-796C-9EF5-2830-63B0AF512240}"/>
              </a:ext>
            </a:extLst>
          </p:cNvPr>
          <p:cNvSpPr/>
          <p:nvPr/>
        </p:nvSpPr>
        <p:spPr>
          <a:xfrm>
            <a:off x="7772400" y="4775200"/>
            <a:ext cx="812800" cy="1270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DF9C8DE-7379-B42B-D028-E23F4BCD9FD8}"/>
              </a:ext>
            </a:extLst>
          </p:cNvPr>
          <p:cNvSpPr/>
          <p:nvPr/>
        </p:nvSpPr>
        <p:spPr>
          <a:xfrm>
            <a:off x="7772400" y="4775200"/>
            <a:ext cx="1371600" cy="127000"/>
          </a:xfrm>
          <a:prstGeom prst="rect">
            <a:avLst/>
          </a:prstGeom>
          <a:solidFill>
            <a:srgbClr val="FFD7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0F48245-BA38-AD74-573D-20137E13AF74}"/>
              </a:ext>
            </a:extLst>
          </p:cNvPr>
          <p:cNvSpPr txBox="1"/>
          <p:nvPr/>
        </p:nvSpPr>
        <p:spPr>
          <a:xfrm>
            <a:off x="6705600" y="5168900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3F3F3"/>
                </a:solidFill>
                <a:latin typeface="Aptos" panose="020B0004020202020204" pitchFamily="34" charset="0"/>
              </a:rPr>
              <a:t>INVENTORY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DCDCC57-5734-786E-2D43-D0926064A4BF}"/>
              </a:ext>
            </a:extLst>
          </p:cNvPr>
          <p:cNvSpPr/>
          <p:nvPr/>
        </p:nvSpPr>
        <p:spPr>
          <a:xfrm>
            <a:off x="7772400" y="5181600"/>
            <a:ext cx="1168400" cy="1270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42EC929-6A35-B3C3-62E4-F38036E1D05F}"/>
              </a:ext>
            </a:extLst>
          </p:cNvPr>
          <p:cNvSpPr/>
          <p:nvPr/>
        </p:nvSpPr>
        <p:spPr>
          <a:xfrm>
            <a:off x="7772400" y="5181600"/>
            <a:ext cx="889000" cy="127000"/>
          </a:xfrm>
          <a:prstGeom prst="rect">
            <a:avLst/>
          </a:prstGeom>
          <a:solidFill>
            <a:srgbClr val="FFD7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F6B389-DA08-3564-ABEB-57A1A82B1DD5}"/>
              </a:ext>
            </a:extLst>
          </p:cNvPr>
          <p:cNvSpPr txBox="1"/>
          <p:nvPr/>
        </p:nvSpPr>
        <p:spPr>
          <a:xfrm>
            <a:off x="6705600" y="5575300"/>
            <a:ext cx="88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3F3F3"/>
                </a:solidFill>
                <a:latin typeface="Aptos" panose="020B0004020202020204" pitchFamily="34" charset="0"/>
              </a:rPr>
              <a:t>SOCIAL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8D5880C-27C1-423F-F7F1-C5850381FF88}"/>
              </a:ext>
            </a:extLst>
          </p:cNvPr>
          <p:cNvSpPr/>
          <p:nvPr/>
        </p:nvSpPr>
        <p:spPr>
          <a:xfrm>
            <a:off x="7772400" y="5588000"/>
            <a:ext cx="990600" cy="127000"/>
          </a:xfrm>
          <a:prstGeom prst="rect">
            <a:avLst/>
          </a:prstGeom>
          <a:solidFill>
            <a:srgbClr val="4A4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55B2653-AA7B-8E03-5F96-3958D09568CD}"/>
              </a:ext>
            </a:extLst>
          </p:cNvPr>
          <p:cNvSpPr/>
          <p:nvPr/>
        </p:nvSpPr>
        <p:spPr>
          <a:xfrm>
            <a:off x="7772400" y="5588000"/>
            <a:ext cx="711200" cy="127000"/>
          </a:xfrm>
          <a:prstGeom prst="rect">
            <a:avLst/>
          </a:prstGeom>
          <a:solidFill>
            <a:srgbClr val="FFD7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7554F4-F414-70EB-106A-A18FFBD2EA5A}"/>
              </a:ext>
            </a:extLst>
          </p:cNvPr>
          <p:cNvSpPr txBox="1"/>
          <p:nvPr/>
        </p:nvSpPr>
        <p:spPr>
          <a:xfrm>
            <a:off x="558800" y="6172200"/>
            <a:ext cx="457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33CCFF"/>
                </a:solidFill>
                <a:latin typeface="Aptos" panose="020B0004020202020204" pitchFamily="34" charset="0"/>
              </a:rPr>
              <a:t>Every EUR is traceable to sales impact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3ABA9D-C4B0-F7F7-0251-96CE8CFFDD78}"/>
              </a:ext>
            </a:extLst>
          </p:cNvPr>
          <p:cNvSpPr txBox="1"/>
          <p:nvPr/>
        </p:nvSpPr>
        <p:spPr>
          <a:xfrm>
            <a:off x="4572000" y="6553200"/>
            <a:ext cx="304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800">
                <a:solidFill>
                  <a:srgbClr val="4E4E4E"/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3433342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52F4C-C099-29AF-38B9-8E73A01EE797}"/>
              </a:ext>
            </a:extLst>
          </p:cNvPr>
          <p:cNvSpPr txBox="1"/>
          <p:nvPr/>
        </p:nvSpPr>
        <p:spPr>
          <a:xfrm>
            <a:off x="558800" y="406400"/>
            <a:ext cx="6604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500" b="1">
                <a:solidFill>
                  <a:srgbClr val="F3F3F3"/>
                </a:solidFill>
                <a:latin typeface="Aptos" panose="020B0004020202020204" pitchFamily="34" charset="0"/>
              </a:rPr>
              <a:t>REVERSE FUNNEL OPERATING LOGIC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A34CB-E775-EB58-0C17-AB4165C0505B}"/>
              </a:ext>
            </a:extLst>
          </p:cNvPr>
          <p:cNvSpPr txBox="1"/>
          <p:nvPr/>
        </p:nvSpPr>
        <p:spPr>
          <a:xfrm>
            <a:off x="558800" y="812800"/>
            <a:ext cx="533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300">
                <a:solidFill>
                  <a:srgbClr val="A6A6A6"/>
                </a:solidFill>
                <a:latin typeface="Aptos" panose="020B0004020202020204" pitchFamily="34" charset="0"/>
              </a:rPr>
              <a:t>Decision engine, not media plan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A03CDE-4662-097A-DD18-68A491FA01A6}"/>
              </a:ext>
            </a:extLst>
          </p:cNvPr>
          <p:cNvSpPr/>
          <p:nvPr/>
        </p:nvSpPr>
        <p:spPr>
          <a:xfrm>
            <a:off x="558800" y="1371600"/>
            <a:ext cx="3378200" cy="10668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15CD9-B584-A37A-779A-02406E68CB61}"/>
              </a:ext>
            </a:extLst>
          </p:cNvPr>
          <p:cNvSpPr txBox="1"/>
          <p:nvPr/>
        </p:nvSpPr>
        <p:spPr>
          <a:xfrm>
            <a:off x="787400" y="15494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FFD767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A4894-A219-3F03-1A10-02FFB206ADF5}"/>
              </a:ext>
            </a:extLst>
          </p:cNvPr>
          <p:cNvSpPr txBox="1"/>
          <p:nvPr/>
        </p:nvSpPr>
        <p:spPr>
          <a:xfrm>
            <a:off x="1244600" y="15494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300" b="1">
                <a:solidFill>
                  <a:srgbClr val="F3F3F3"/>
                </a:solidFill>
                <a:latin typeface="Aptos" panose="020B0004020202020204" pitchFamily="34" charset="0"/>
              </a:rPr>
              <a:t>START FROM SALES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9BA61-BBAE-7EA0-A9FE-125A9DA8C026}"/>
              </a:ext>
            </a:extLst>
          </p:cNvPr>
          <p:cNvSpPr txBox="1"/>
          <p:nvPr/>
        </p:nvSpPr>
        <p:spPr>
          <a:xfrm>
            <a:off x="787400" y="19050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A6A6A6"/>
                </a:solidFill>
                <a:latin typeface="Aptos" panose="020B0004020202020204" pitchFamily="34" charset="0"/>
              </a:rPr>
              <a:t>Budget derived from targets, not guesses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649EC6-8A35-ECFB-5A56-A21B80572F0E}"/>
              </a:ext>
            </a:extLst>
          </p:cNvPr>
          <p:cNvSpPr/>
          <p:nvPr/>
        </p:nvSpPr>
        <p:spPr>
          <a:xfrm>
            <a:off x="4241800" y="1371600"/>
            <a:ext cx="3378200" cy="10668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B910BB-CF35-6468-F12E-74C90344B0F6}"/>
              </a:ext>
            </a:extLst>
          </p:cNvPr>
          <p:cNvSpPr txBox="1"/>
          <p:nvPr/>
        </p:nvSpPr>
        <p:spPr>
          <a:xfrm>
            <a:off x="4470400" y="15494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FFD767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B66EC9-D4D7-AE5C-E1B6-ECCE3B397923}"/>
              </a:ext>
            </a:extLst>
          </p:cNvPr>
          <p:cNvSpPr txBox="1"/>
          <p:nvPr/>
        </p:nvSpPr>
        <p:spPr>
          <a:xfrm>
            <a:off x="4927600" y="15494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300" b="1">
                <a:solidFill>
                  <a:srgbClr val="F3F3F3"/>
                </a:solidFill>
                <a:latin typeface="Aptos" panose="020B0004020202020204" pitchFamily="34" charset="0"/>
              </a:rPr>
              <a:t>FIND THE GAP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94BF1-DFBF-0165-A4A5-C5F9AA776830}"/>
              </a:ext>
            </a:extLst>
          </p:cNvPr>
          <p:cNvSpPr txBox="1"/>
          <p:nvPr/>
        </p:nvSpPr>
        <p:spPr>
          <a:xfrm>
            <a:off x="4470400" y="19050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A6A6A6"/>
                </a:solidFill>
                <a:latin typeface="Aptos" panose="020B0004020202020204" pitchFamily="34" charset="0"/>
              </a:rPr>
              <a:t>Quantify inefficiencies across the funnel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1378482-A285-F6F5-BC8D-22BFD987FDCF}"/>
              </a:ext>
            </a:extLst>
          </p:cNvPr>
          <p:cNvSpPr/>
          <p:nvPr/>
        </p:nvSpPr>
        <p:spPr>
          <a:xfrm>
            <a:off x="558800" y="2667000"/>
            <a:ext cx="3378200" cy="10668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706B56-A247-8B51-C1B3-4AE6D651E55A}"/>
              </a:ext>
            </a:extLst>
          </p:cNvPr>
          <p:cNvSpPr txBox="1"/>
          <p:nvPr/>
        </p:nvSpPr>
        <p:spPr>
          <a:xfrm>
            <a:off x="787400" y="28448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FFD767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D4EA73-8C81-A49D-864A-6A171C55CD24}"/>
              </a:ext>
            </a:extLst>
          </p:cNvPr>
          <p:cNvSpPr txBox="1"/>
          <p:nvPr/>
        </p:nvSpPr>
        <p:spPr>
          <a:xfrm>
            <a:off x="1244600" y="28448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300" b="1">
                <a:solidFill>
                  <a:srgbClr val="F3F3F3"/>
                </a:solidFill>
                <a:latin typeface="Aptos" panose="020B0004020202020204" pitchFamily="34" charset="0"/>
              </a:rPr>
              <a:t>REALLOCATE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76100A-E49C-FEA3-42D7-5339FE746791}"/>
              </a:ext>
            </a:extLst>
          </p:cNvPr>
          <p:cNvSpPr txBox="1"/>
          <p:nvPr/>
        </p:nvSpPr>
        <p:spPr>
          <a:xfrm>
            <a:off x="787400" y="32004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A6A6A6"/>
                </a:solidFill>
                <a:latin typeface="Aptos" panose="020B0004020202020204" pitchFamily="34" charset="0"/>
              </a:rPr>
              <a:t>Shift spend to highest marginal return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0780585-B94D-1904-ACD0-2EF974EA9205}"/>
              </a:ext>
            </a:extLst>
          </p:cNvPr>
          <p:cNvSpPr/>
          <p:nvPr/>
        </p:nvSpPr>
        <p:spPr>
          <a:xfrm>
            <a:off x="4241800" y="2667000"/>
            <a:ext cx="3378200" cy="106680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7DFF65-28E0-DBDF-3BB2-1075A39FD9FA}"/>
              </a:ext>
            </a:extLst>
          </p:cNvPr>
          <p:cNvSpPr txBox="1"/>
          <p:nvPr/>
        </p:nvSpPr>
        <p:spPr>
          <a:xfrm>
            <a:off x="4470400" y="28448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FFD767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38087C-7BDD-BF8E-3CC7-B083E2014963}"/>
              </a:ext>
            </a:extLst>
          </p:cNvPr>
          <p:cNvSpPr txBox="1"/>
          <p:nvPr/>
        </p:nvSpPr>
        <p:spPr>
          <a:xfrm>
            <a:off x="4927600" y="28448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300" b="1">
                <a:solidFill>
                  <a:srgbClr val="F3F3F3"/>
                </a:solidFill>
                <a:latin typeface="Aptos" panose="020B0004020202020204" pitchFamily="34" charset="0"/>
              </a:rPr>
              <a:t>SCALE SYSTEM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16F5B9-94AB-063B-FFF8-C8DBED41BB14}"/>
              </a:ext>
            </a:extLst>
          </p:cNvPr>
          <p:cNvSpPr txBox="1"/>
          <p:nvPr/>
        </p:nvSpPr>
        <p:spPr>
          <a:xfrm>
            <a:off x="4470400" y="320040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A6A6A6"/>
                </a:solidFill>
                <a:latin typeface="Aptos" panose="020B0004020202020204" pitchFamily="34" charset="0"/>
              </a:rPr>
              <a:t>Codified learnings across markets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F86DBFF-99AC-4956-681D-D660082B5AA1}"/>
              </a:ext>
            </a:extLst>
          </p:cNvPr>
          <p:cNvSpPr/>
          <p:nvPr/>
        </p:nvSpPr>
        <p:spPr>
          <a:xfrm>
            <a:off x="558800" y="3962400"/>
            <a:ext cx="7061200" cy="1168400"/>
          </a:xfrm>
          <a:prstGeom prst="roundRect">
            <a:avLst/>
          </a:prstGeom>
          <a:solidFill>
            <a:srgbClr val="1F1F1F"/>
          </a:solidFill>
          <a:ln w="12700">
            <a:solidFill>
              <a:srgbClr val="FFD7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2363BE-D1B4-B8B2-0C28-BE91A2C1B7F4}"/>
              </a:ext>
            </a:extLst>
          </p:cNvPr>
          <p:cNvSpPr txBox="1"/>
          <p:nvPr/>
        </p:nvSpPr>
        <p:spPr>
          <a:xfrm>
            <a:off x="787400" y="4165600"/>
            <a:ext cx="609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33CCF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8D7E19-0C5D-D78B-137C-6A18C3BB5C22}"/>
              </a:ext>
            </a:extLst>
          </p:cNvPr>
          <p:cNvSpPr txBox="1"/>
          <p:nvPr/>
        </p:nvSpPr>
        <p:spPr>
          <a:xfrm>
            <a:off x="1244600" y="41402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F3F3F3"/>
                </a:solidFill>
                <a:latin typeface="Aptos" panose="020B0004020202020204" pitchFamily="34" charset="0"/>
              </a:rPr>
              <a:t>OUTPUT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0B4BBC-1028-F0D3-D0CF-B30E3C4153B3}"/>
              </a:ext>
            </a:extLst>
          </p:cNvPr>
          <p:cNvSpPr txBox="1"/>
          <p:nvPr/>
        </p:nvSpPr>
        <p:spPr>
          <a:xfrm>
            <a:off x="787400" y="4521200"/>
            <a:ext cx="355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000" b="1">
                <a:solidFill>
                  <a:srgbClr val="F3F3F3"/>
                </a:solidFill>
                <a:latin typeface="Aptos" panose="020B0004020202020204" pitchFamily="34" charset="0"/>
              </a:rPr>
              <a:t>Always-on decision engine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E2B26A-8EC7-B618-4382-88079793C34E}"/>
              </a:ext>
            </a:extLst>
          </p:cNvPr>
          <p:cNvSpPr txBox="1"/>
          <p:nvPr/>
        </p:nvSpPr>
        <p:spPr>
          <a:xfrm>
            <a:off x="4572000" y="4521200"/>
            <a:ext cx="241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A6A6A6"/>
                </a:solidFill>
                <a:latin typeface="Aptos" panose="020B0004020202020204" pitchFamily="34" charset="0"/>
              </a:rPr>
              <a:t>Target in. Allocation out.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A82938-32E0-2CC4-DD47-CD7B282025FF}"/>
              </a:ext>
            </a:extLst>
          </p:cNvPr>
          <p:cNvSpPr txBox="1"/>
          <p:nvPr/>
        </p:nvSpPr>
        <p:spPr>
          <a:xfrm>
            <a:off x="8382000" y="14732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A6A6A6"/>
                </a:solidFill>
                <a:latin typeface="Aptos" panose="020B0004020202020204" pitchFamily="34" charset="0"/>
              </a:rPr>
              <a:t>ALLOCATION VIEW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321E44C-34B8-47C0-9BA6-30991F1CA8A8}"/>
              </a:ext>
            </a:extLst>
          </p:cNvPr>
          <p:cNvCxnSpPr/>
          <p:nvPr/>
        </p:nvCxnSpPr>
        <p:spPr>
          <a:xfrm>
            <a:off x="8382000" y="3429000"/>
            <a:ext cx="279400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9B50AEC-F2B4-F248-174B-4998E37A0508}"/>
              </a:ext>
            </a:extLst>
          </p:cNvPr>
          <p:cNvCxnSpPr/>
          <p:nvPr/>
        </p:nvCxnSpPr>
        <p:spPr>
          <a:xfrm flipV="1">
            <a:off x="8382000" y="1828800"/>
            <a:ext cx="0" cy="160020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22CC1E1-B877-73AB-5F9C-9D0BBA47EF1D}"/>
              </a:ext>
            </a:extLst>
          </p:cNvPr>
          <p:cNvSpPr txBox="1"/>
          <p:nvPr/>
        </p:nvSpPr>
        <p:spPr>
          <a:xfrm>
            <a:off x="8356600" y="16002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>
                <a:solidFill>
                  <a:srgbClr val="A6A6A6"/>
                </a:solidFill>
                <a:latin typeface="Aptos" panose="020B0004020202020204" pitchFamily="34" charset="0"/>
              </a:rPr>
              <a:t>Marginal return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DCA8D8-5498-38DB-56FD-E5B515C63EE5}"/>
              </a:ext>
            </a:extLst>
          </p:cNvPr>
          <p:cNvSpPr txBox="1"/>
          <p:nvPr/>
        </p:nvSpPr>
        <p:spPr>
          <a:xfrm>
            <a:off x="11023600" y="3505200"/>
            <a:ext cx="558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>
                <a:solidFill>
                  <a:srgbClr val="A6A6A6"/>
                </a:solidFill>
                <a:latin typeface="Aptos" panose="020B0004020202020204" pitchFamily="34" charset="0"/>
              </a:rPr>
              <a:t>Spend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DB2A67D-B63D-90C7-4AB1-BCD0B9AFFEA5}"/>
              </a:ext>
            </a:extLst>
          </p:cNvPr>
          <p:cNvCxnSpPr/>
          <p:nvPr/>
        </p:nvCxnSpPr>
        <p:spPr>
          <a:xfrm>
            <a:off x="8559800" y="2108200"/>
            <a:ext cx="584200" cy="2286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750075A-8B40-3C21-C752-3D495B56025F}"/>
              </a:ext>
            </a:extLst>
          </p:cNvPr>
          <p:cNvCxnSpPr/>
          <p:nvPr/>
        </p:nvCxnSpPr>
        <p:spPr>
          <a:xfrm>
            <a:off x="9144000" y="2336800"/>
            <a:ext cx="660400" cy="3302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CA6320F-D820-A957-D0EB-F8E3CE0C3264}"/>
              </a:ext>
            </a:extLst>
          </p:cNvPr>
          <p:cNvCxnSpPr/>
          <p:nvPr/>
        </p:nvCxnSpPr>
        <p:spPr>
          <a:xfrm>
            <a:off x="9804400" y="2667000"/>
            <a:ext cx="685800" cy="2794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30056F9-5482-380F-C0F3-200DF1953E79}"/>
              </a:ext>
            </a:extLst>
          </p:cNvPr>
          <p:cNvCxnSpPr/>
          <p:nvPr/>
        </p:nvCxnSpPr>
        <p:spPr>
          <a:xfrm>
            <a:off x="10490200" y="2946400"/>
            <a:ext cx="482600" cy="177800"/>
          </a:xfrm>
          <a:prstGeom prst="line">
            <a:avLst/>
          </a:prstGeom>
          <a:ln w="28575">
            <a:solidFill>
              <a:srgbClr val="33C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55199B2-071C-1C8D-C246-97B53E51B2AB}"/>
              </a:ext>
            </a:extLst>
          </p:cNvPr>
          <p:cNvCxnSpPr/>
          <p:nvPr/>
        </p:nvCxnSpPr>
        <p:spPr>
          <a:xfrm>
            <a:off x="10566400" y="2057400"/>
            <a:ext cx="0" cy="1143000"/>
          </a:xfrm>
          <a:prstGeom prst="line">
            <a:avLst/>
          </a:prstGeom>
          <a:ln w="19050">
            <a:solidFill>
              <a:srgbClr val="FFD7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007AB23-66D6-59A0-77C9-7F0BDF440E78}"/>
              </a:ext>
            </a:extLst>
          </p:cNvPr>
          <p:cNvSpPr txBox="1"/>
          <p:nvPr/>
        </p:nvSpPr>
        <p:spPr>
          <a:xfrm>
            <a:off x="10668000" y="2413000"/>
            <a:ext cx="838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A6A6A6"/>
                </a:solidFill>
                <a:latin typeface="Aptos" panose="020B0004020202020204" pitchFamily="34" charset="0"/>
              </a:rPr>
              <a:t>Headroom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AD8C56-3988-E27C-F064-675CD65BD92A}"/>
              </a:ext>
            </a:extLst>
          </p:cNvPr>
          <p:cNvSpPr txBox="1"/>
          <p:nvPr/>
        </p:nvSpPr>
        <p:spPr>
          <a:xfrm>
            <a:off x="8382000" y="38354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A6A6A6"/>
                </a:solidFill>
                <a:latin typeface="Aptos" panose="020B0004020202020204" pitchFamily="34" charset="0"/>
              </a:rPr>
              <a:t>Budget shift by channel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21F3C9-380E-60F8-2F3C-CFE66BB59392}"/>
              </a:ext>
            </a:extLst>
          </p:cNvPr>
          <p:cNvSpPr txBox="1"/>
          <p:nvPr/>
        </p:nvSpPr>
        <p:spPr>
          <a:xfrm>
            <a:off x="8382000" y="4102100"/>
            <a:ext cx="1066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3F3F3"/>
                </a:solidFill>
                <a:latin typeface="Aptos" panose="020B0004020202020204" pitchFamily="34" charset="0"/>
              </a:rPr>
              <a:t>SEARCH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1FFC17-1895-57BD-9F2E-28C99FA9D393}"/>
              </a:ext>
            </a:extLst>
          </p:cNvPr>
          <p:cNvSpPr/>
          <p:nvPr/>
        </p:nvSpPr>
        <p:spPr>
          <a:xfrm>
            <a:off x="9601200" y="4114800"/>
            <a:ext cx="965200" cy="152400"/>
          </a:xfrm>
          <a:prstGeom prst="rect">
            <a:avLst/>
          </a:prstGeom>
          <a:solidFill>
            <a:srgbClr val="4949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67C8D8B-642A-B846-38D5-6C1A2A261709}"/>
              </a:ext>
            </a:extLst>
          </p:cNvPr>
          <p:cNvSpPr/>
          <p:nvPr/>
        </p:nvSpPr>
        <p:spPr>
          <a:xfrm>
            <a:off x="9601200" y="4114800"/>
            <a:ext cx="1549400" cy="152400"/>
          </a:xfrm>
          <a:prstGeom prst="rect">
            <a:avLst/>
          </a:prstGeom>
          <a:solidFill>
            <a:srgbClr val="FFD7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C1F2AD-7F43-BC08-FF59-B2B381AB9F20}"/>
              </a:ext>
            </a:extLst>
          </p:cNvPr>
          <p:cNvSpPr txBox="1"/>
          <p:nvPr/>
        </p:nvSpPr>
        <p:spPr>
          <a:xfrm>
            <a:off x="8382000" y="4610100"/>
            <a:ext cx="1066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3F3F3"/>
                </a:solidFill>
                <a:latin typeface="Aptos" panose="020B0004020202020204" pitchFamily="34" charset="0"/>
              </a:rPr>
              <a:t>INVENTORY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A04BFD1-D497-5D98-1BB7-0E504D0FD369}"/>
              </a:ext>
            </a:extLst>
          </p:cNvPr>
          <p:cNvSpPr/>
          <p:nvPr/>
        </p:nvSpPr>
        <p:spPr>
          <a:xfrm>
            <a:off x="9601200" y="4622800"/>
            <a:ext cx="1295400" cy="152400"/>
          </a:xfrm>
          <a:prstGeom prst="rect">
            <a:avLst/>
          </a:prstGeom>
          <a:solidFill>
            <a:srgbClr val="4949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386AF55-B8E7-D171-9299-5EE6D25AA949}"/>
              </a:ext>
            </a:extLst>
          </p:cNvPr>
          <p:cNvSpPr/>
          <p:nvPr/>
        </p:nvSpPr>
        <p:spPr>
          <a:xfrm>
            <a:off x="9601200" y="4622800"/>
            <a:ext cx="990600" cy="152400"/>
          </a:xfrm>
          <a:prstGeom prst="rect">
            <a:avLst/>
          </a:prstGeom>
          <a:solidFill>
            <a:srgbClr val="FFD7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544B79-D57B-BB7D-EF44-19C4A2A2E3DF}"/>
              </a:ext>
            </a:extLst>
          </p:cNvPr>
          <p:cNvSpPr txBox="1"/>
          <p:nvPr/>
        </p:nvSpPr>
        <p:spPr>
          <a:xfrm>
            <a:off x="8382000" y="5118100"/>
            <a:ext cx="1066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 b="1">
                <a:solidFill>
                  <a:srgbClr val="F3F3F3"/>
                </a:solidFill>
                <a:latin typeface="Aptos" panose="020B0004020202020204" pitchFamily="34" charset="0"/>
              </a:rPr>
              <a:t>SOCIAL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0465553-6EF0-5BAE-D48B-E0C69224D4E8}"/>
              </a:ext>
            </a:extLst>
          </p:cNvPr>
          <p:cNvSpPr/>
          <p:nvPr/>
        </p:nvSpPr>
        <p:spPr>
          <a:xfrm>
            <a:off x="9601200" y="5130800"/>
            <a:ext cx="863600" cy="152400"/>
          </a:xfrm>
          <a:prstGeom prst="rect">
            <a:avLst/>
          </a:prstGeom>
          <a:solidFill>
            <a:srgbClr val="4949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B041C0E-1315-284A-D0F7-09B746CEC52C}"/>
              </a:ext>
            </a:extLst>
          </p:cNvPr>
          <p:cNvSpPr/>
          <p:nvPr/>
        </p:nvSpPr>
        <p:spPr>
          <a:xfrm>
            <a:off x="9601200" y="5130800"/>
            <a:ext cx="660400" cy="152400"/>
          </a:xfrm>
          <a:prstGeom prst="rect">
            <a:avLst/>
          </a:prstGeom>
          <a:solidFill>
            <a:srgbClr val="FFD7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475761-9D03-4084-082B-444BA852BF00}"/>
              </a:ext>
            </a:extLst>
          </p:cNvPr>
          <p:cNvSpPr txBox="1"/>
          <p:nvPr/>
        </p:nvSpPr>
        <p:spPr>
          <a:xfrm>
            <a:off x="8382000" y="58166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100" b="1">
                <a:solidFill>
                  <a:srgbClr val="33CCFF"/>
                </a:solidFill>
                <a:latin typeface="Aptos" panose="020B0004020202020204" pitchFamily="34" charset="0"/>
              </a:rPr>
              <a:t>Reallocate before channels saturate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68BD20-6F6D-CD77-902F-D218E0A3E1F8}"/>
              </a:ext>
            </a:extLst>
          </p:cNvPr>
          <p:cNvSpPr txBox="1"/>
          <p:nvPr/>
        </p:nvSpPr>
        <p:spPr>
          <a:xfrm>
            <a:off x="4572000" y="6553200"/>
            <a:ext cx="304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800">
                <a:solidFill>
                  <a:srgbClr val="4E4E4E"/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3148135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Custom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Malek (Omnicom)</dc:creator>
  <cp:lastModifiedBy>Ali Malek (Omnicom)</cp:lastModifiedBy>
  <cp:revision>1</cp:revision>
  <dcterms:created xsi:type="dcterms:W3CDTF">2026-04-07T09:40:49Z</dcterms:created>
  <dcterms:modified xsi:type="dcterms:W3CDTF">2026-04-07T09:40:49Z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2026-04-07T09:40:49Z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fd795303-1cbe-4357-a444-ed03fc7a2fd1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 - Not for Public Consumption or Distribution</vt:lpwstr>
  </property>
</Properties>
</file>