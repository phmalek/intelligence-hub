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3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3EA338-DA5B-0A96-6A25-63C0A8C53D3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43425" y="6642100"/>
            <a:ext cx="31305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 - Not for Public Consumption or Distribution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77326"/>
            <a:ext cx="7661906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11827"/>
                </a:solidFill>
                <a:latin typeface="Calibri"/>
              </a:defRPr>
            </a:pPr>
            <a:r>
              <a:rPr dirty="0"/>
              <a:t>Recommendation: 2026 Market Budget Aggressiveness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8280" y="1097280"/>
            <a:ext cx="2697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11827"/>
                </a:solidFill>
                <a:latin typeface="Calibri"/>
              </a:defRPr>
            </a:pPr>
            <a:r>
              <a:t>Uplift bands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9098280" y="1426464"/>
            <a:ext cx="26974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766E"/>
                </a:solidFill>
                <a:latin typeface="Calibri"/>
              </a:defRPr>
            </a:pPr>
            <a:r>
              <a:t>+60%  |  4 markets</a:t>
            </a:r>
          </a:p>
          <a:p>
            <a:pPr>
              <a:defRPr sz="950">
                <a:solidFill>
                  <a:srgbClr val="4B5563"/>
                </a:solidFill>
                <a:latin typeface="Calibri"/>
              </a:defRPr>
            </a:pPr>
            <a:r>
              <a:t>Budget: EUR 116,800,000 | Paid DCFS: 100,399</a:t>
            </a:r>
          </a:p>
        </p:txBody>
      </p:sp>
      <p:sp>
        <p:nvSpPr>
          <p:cNvPr id="8" name="Rectangle 7"/>
          <p:cNvSpPr/>
          <p:nvPr/>
        </p:nvSpPr>
        <p:spPr>
          <a:xfrm>
            <a:off x="9098280" y="2148840"/>
            <a:ext cx="26974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+50%  |  5 markets</a:t>
            </a:r>
          </a:p>
          <a:p>
            <a:pPr>
              <a:defRPr sz="950">
                <a:solidFill>
                  <a:srgbClr val="4B5563"/>
                </a:solidFill>
                <a:latin typeface="Calibri"/>
              </a:defRPr>
            </a:pPr>
            <a:r>
              <a:t>Budget: EUR 71,100,000 | Paid DCFS: 12,897</a:t>
            </a:r>
          </a:p>
        </p:txBody>
      </p:sp>
      <p:sp>
        <p:nvSpPr>
          <p:cNvPr id="9" name="Rectangle 8"/>
          <p:cNvSpPr/>
          <p:nvPr/>
        </p:nvSpPr>
        <p:spPr>
          <a:xfrm>
            <a:off x="9098280" y="2871216"/>
            <a:ext cx="26974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B7280"/>
                </a:solidFill>
                <a:latin typeface="Calibri"/>
              </a:defRPr>
            </a:pPr>
            <a:r>
              <a:t>+40%  |  4 markets</a:t>
            </a:r>
          </a:p>
          <a:p>
            <a:pPr>
              <a:defRPr sz="950">
                <a:solidFill>
                  <a:srgbClr val="4B5563"/>
                </a:solidFill>
                <a:latin typeface="Calibri"/>
              </a:defRPr>
            </a:pPr>
            <a:r>
              <a:t>Budget: EUR 21,100,000 | Paid DCFS: 1,010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98280" y="3877056"/>
            <a:ext cx="2697480" cy="155448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50" b="1">
                <a:solidFill>
                  <a:srgbClr val="FFFFFF"/>
                </a:solidFill>
                <a:latin typeface="Calibri"/>
              </a:defRPr>
            </a:pPr>
            <a:r>
              <a:rPr dirty="0"/>
              <a:t>Recommendation</a:t>
            </a:r>
          </a:p>
          <a:p>
            <a:pPr marL="171450" indent="-171450">
              <a:buFont typeface="Arial" panose="020B0604020202020204" pitchFamily="34" charset="0"/>
              <a:buChar char="•"/>
              <a:defRPr sz="1019">
                <a:solidFill>
                  <a:srgbClr val="ECFDF5"/>
                </a:solidFill>
                <a:latin typeface="Calibri"/>
              </a:defRPr>
            </a:pPr>
            <a:r>
              <a:rPr sz="1200" dirty="0" err="1"/>
              <a:t>Prioriti</a:t>
            </a:r>
            <a:r>
              <a:rPr lang="en-GB" sz="1200" dirty="0"/>
              <a:t>s</a:t>
            </a:r>
            <a:r>
              <a:rPr sz="1200" dirty="0"/>
              <a:t>e +60% markets first: PCGB, PCL, PCNA, PIT.</a:t>
            </a:r>
          </a:p>
          <a:p>
            <a:pPr marL="171450" indent="-171450">
              <a:buFont typeface="Arial" panose="020B0604020202020204" pitchFamily="34" charset="0"/>
              <a:buChar char="•"/>
              <a:defRPr sz="950">
                <a:solidFill>
                  <a:srgbClr val="ECFDF5"/>
                </a:solidFill>
                <a:latin typeface="Calibri"/>
              </a:defRPr>
            </a:pPr>
            <a:r>
              <a:rPr sz="1200" dirty="0"/>
              <a:t>Use +50% as controlled scale </a:t>
            </a:r>
            <a:endParaRPr lang="en-GB" sz="1200" dirty="0"/>
          </a:p>
          <a:p>
            <a:pPr marL="171450" indent="-171450">
              <a:buFont typeface="Arial" panose="020B0604020202020204" pitchFamily="34" charset="0"/>
              <a:buChar char="•"/>
              <a:defRPr sz="950">
                <a:solidFill>
                  <a:srgbClr val="ECFDF5"/>
                </a:solidFill>
                <a:latin typeface="Calibri"/>
              </a:defRPr>
            </a:pPr>
            <a:r>
              <a:rPr sz="1200" dirty="0"/>
              <a:t>+40% as baseline </a:t>
            </a:r>
            <a:r>
              <a:rPr sz="1200" dirty="0" err="1"/>
              <a:t>optimi</a:t>
            </a:r>
            <a:r>
              <a:rPr lang="en-GB" sz="1200" dirty="0"/>
              <a:t>s</a:t>
            </a:r>
            <a:r>
              <a:rPr sz="1200" dirty="0" err="1"/>
              <a:t>ation</a:t>
            </a:r>
            <a:r>
              <a:rPr sz="1200" dirty="0"/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5577840"/>
            <a:ext cx="11155680" cy="841248"/>
          </a:xfrm>
          <a:prstGeom prst="rect">
            <a:avLst/>
          </a:prstGeom>
          <a:solidFill>
            <a:srgbClr val="EFF6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30">
                <a:solidFill>
                  <a:srgbClr val="1F2937"/>
                </a:solidFill>
                <a:latin typeface="Calibri"/>
              </a:defRPr>
            </a:pPr>
            <a:r>
              <a:rPr dirty="0"/>
              <a:t>Method: (1) Delivery pressure = required paid-media DCFS from Reverse Funnel</a:t>
            </a:r>
            <a:r>
              <a:rPr lang="en-GB" dirty="0"/>
              <a:t> (from RFL). </a:t>
            </a:r>
            <a:r>
              <a:rPr dirty="0"/>
              <a:t>(2) Cost efficiency = 2026 budget / required paid-media DCFS (RFL). (3) Headroom = registrations share gap + registrations momentum</a:t>
            </a:r>
            <a:r>
              <a:rPr lang="en-GB" dirty="0"/>
              <a:t> (Porsche Reg. data 2025/2024)</a:t>
            </a:r>
            <a:r>
              <a:rPr dirty="0"/>
              <a:t>.</a:t>
            </a:r>
            <a:r>
              <a:rPr lang="en-GB" dirty="0"/>
              <a:t> Bands are assigned rule based.</a:t>
            </a:r>
            <a:endParaRPr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7A765CB-263A-514C-0AB7-1FCD12002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104" y="1149483"/>
            <a:ext cx="8266232" cy="41018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72715-98E7-D5FB-C0A4-E0350BE87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6CBFC7-2126-B10D-27FF-82A6CC921986}"/>
              </a:ext>
            </a:extLst>
          </p:cNvPr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D869BC-0358-7ECB-1513-4AAA2F5D086A}"/>
              </a:ext>
            </a:extLst>
          </p:cNvPr>
          <p:cNvSpPr txBox="1"/>
          <p:nvPr/>
        </p:nvSpPr>
        <p:spPr>
          <a:xfrm>
            <a:off x="411480" y="277326"/>
            <a:ext cx="7661906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11827"/>
                </a:solidFill>
                <a:latin typeface="Calibri"/>
              </a:defRPr>
            </a:pPr>
            <a:r>
              <a:rPr dirty="0"/>
              <a:t>Recommendation: 2026 Market Budget Aggressiveness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C5A777-56C4-A98D-801E-95501203C085}"/>
              </a:ext>
            </a:extLst>
          </p:cNvPr>
          <p:cNvSpPr txBox="1"/>
          <p:nvPr/>
        </p:nvSpPr>
        <p:spPr>
          <a:xfrm>
            <a:off x="9098280" y="1097280"/>
            <a:ext cx="2697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11827"/>
                </a:solidFill>
                <a:latin typeface="Calibri"/>
              </a:defRPr>
            </a:pPr>
            <a:r>
              <a:t>Uplift bands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2EC637-5158-16B9-32F3-9DFD37F1BFB4}"/>
              </a:ext>
            </a:extLst>
          </p:cNvPr>
          <p:cNvSpPr/>
          <p:nvPr/>
        </p:nvSpPr>
        <p:spPr>
          <a:xfrm>
            <a:off x="9098280" y="1426464"/>
            <a:ext cx="26974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766E"/>
                </a:solidFill>
                <a:latin typeface="Calibri"/>
              </a:defRPr>
            </a:pPr>
            <a:r>
              <a:rPr dirty="0"/>
              <a:t>+60%  |  4 markets</a:t>
            </a:r>
          </a:p>
          <a:p>
            <a:pPr>
              <a:defRPr sz="950">
                <a:solidFill>
                  <a:srgbClr val="4B5563"/>
                </a:solidFill>
                <a:latin typeface="Calibri"/>
              </a:defRPr>
            </a:pPr>
            <a:r>
              <a:rPr dirty="0"/>
              <a:t>Budget: EUR 116,800,000 | Paid DCFS: 100,399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02EC12-FD1A-B65D-4CBB-F2E66DAD7351}"/>
              </a:ext>
            </a:extLst>
          </p:cNvPr>
          <p:cNvSpPr/>
          <p:nvPr/>
        </p:nvSpPr>
        <p:spPr>
          <a:xfrm>
            <a:off x="9098280" y="2148840"/>
            <a:ext cx="26974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+50%  |  5 markets</a:t>
            </a:r>
          </a:p>
          <a:p>
            <a:pPr>
              <a:defRPr sz="950">
                <a:solidFill>
                  <a:srgbClr val="4B5563"/>
                </a:solidFill>
                <a:latin typeface="Calibri"/>
              </a:defRPr>
            </a:pPr>
            <a:r>
              <a:t>Budget: EUR 71,100,000 | Paid DCFS: 12,897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1EEBFA-F0D6-4F25-C6AD-789F658E4EC1}"/>
              </a:ext>
            </a:extLst>
          </p:cNvPr>
          <p:cNvSpPr/>
          <p:nvPr/>
        </p:nvSpPr>
        <p:spPr>
          <a:xfrm>
            <a:off x="9098280" y="2871216"/>
            <a:ext cx="26974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B7280"/>
                </a:solidFill>
                <a:latin typeface="Calibri"/>
              </a:defRPr>
            </a:pPr>
            <a:r>
              <a:t>+40%  |  4 markets</a:t>
            </a:r>
          </a:p>
          <a:p>
            <a:pPr>
              <a:defRPr sz="950">
                <a:solidFill>
                  <a:srgbClr val="4B5563"/>
                </a:solidFill>
                <a:latin typeface="Calibri"/>
              </a:defRPr>
            </a:pPr>
            <a:r>
              <a:t>Budget: EUR 21,100,000 | Paid DCFS: 1,010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D36EFE-49B4-0FF3-A48B-46F056F87DF6}"/>
              </a:ext>
            </a:extLst>
          </p:cNvPr>
          <p:cNvSpPr/>
          <p:nvPr/>
        </p:nvSpPr>
        <p:spPr>
          <a:xfrm>
            <a:off x="9098280" y="3877056"/>
            <a:ext cx="2697480" cy="155448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50" b="1">
                <a:solidFill>
                  <a:srgbClr val="FFFFFF"/>
                </a:solidFill>
                <a:latin typeface="Calibri"/>
              </a:defRPr>
            </a:pPr>
            <a:r>
              <a:rPr dirty="0"/>
              <a:t>Recommendation</a:t>
            </a:r>
          </a:p>
          <a:p>
            <a:pPr marL="171450" indent="-171450">
              <a:buFont typeface="Arial" panose="020B0604020202020204" pitchFamily="34" charset="0"/>
              <a:buChar char="•"/>
              <a:defRPr sz="1019">
                <a:solidFill>
                  <a:srgbClr val="ECFDF5"/>
                </a:solidFill>
                <a:latin typeface="Calibri"/>
              </a:defRPr>
            </a:pPr>
            <a:r>
              <a:rPr sz="1200" dirty="0" err="1"/>
              <a:t>Prioriti</a:t>
            </a:r>
            <a:r>
              <a:rPr lang="en-GB" sz="1200" dirty="0"/>
              <a:t>s</a:t>
            </a:r>
            <a:r>
              <a:rPr sz="1200" dirty="0"/>
              <a:t>e +60% markets first: PCGB, PCL, PCNA, PIT.</a:t>
            </a:r>
          </a:p>
          <a:p>
            <a:pPr marL="171450" indent="-171450">
              <a:buFont typeface="Arial" panose="020B0604020202020204" pitchFamily="34" charset="0"/>
              <a:buChar char="•"/>
              <a:defRPr sz="950">
                <a:solidFill>
                  <a:srgbClr val="ECFDF5"/>
                </a:solidFill>
                <a:latin typeface="Calibri"/>
              </a:defRPr>
            </a:pPr>
            <a:r>
              <a:rPr sz="1200" dirty="0"/>
              <a:t>Use +50% as controlled scale </a:t>
            </a:r>
            <a:endParaRPr lang="en-GB" sz="1200" dirty="0"/>
          </a:p>
          <a:p>
            <a:pPr marL="171450" indent="-171450">
              <a:buFont typeface="Arial" panose="020B0604020202020204" pitchFamily="34" charset="0"/>
              <a:buChar char="•"/>
              <a:defRPr sz="950">
                <a:solidFill>
                  <a:srgbClr val="ECFDF5"/>
                </a:solidFill>
                <a:latin typeface="Calibri"/>
              </a:defRPr>
            </a:pPr>
            <a:r>
              <a:rPr sz="1200" dirty="0"/>
              <a:t>+40% as baseline </a:t>
            </a:r>
            <a:r>
              <a:rPr sz="1200" dirty="0" err="1"/>
              <a:t>optimi</a:t>
            </a:r>
            <a:r>
              <a:rPr lang="en-GB" sz="1200" dirty="0"/>
              <a:t>s</a:t>
            </a:r>
            <a:r>
              <a:rPr sz="1200" dirty="0" err="1"/>
              <a:t>ation</a:t>
            </a:r>
            <a:r>
              <a:rPr sz="1200" dirty="0"/>
              <a:t>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0F4FF5-4531-E11C-F138-EAA4CA578884}"/>
              </a:ext>
            </a:extLst>
          </p:cNvPr>
          <p:cNvSpPr/>
          <p:nvPr/>
        </p:nvSpPr>
        <p:spPr>
          <a:xfrm>
            <a:off x="411480" y="5577840"/>
            <a:ext cx="11155680" cy="841248"/>
          </a:xfrm>
          <a:prstGeom prst="rect">
            <a:avLst/>
          </a:prstGeom>
          <a:solidFill>
            <a:srgbClr val="EFF6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30">
                <a:solidFill>
                  <a:srgbClr val="1F2937"/>
                </a:solidFill>
                <a:latin typeface="Calibri"/>
              </a:defRPr>
            </a:pPr>
            <a:r>
              <a:rPr dirty="0"/>
              <a:t>Method: (1) Delivery pressure = required paid-media DCFS from Reverse Funnel</a:t>
            </a:r>
            <a:r>
              <a:rPr lang="en-GB" dirty="0"/>
              <a:t> (from RFL). </a:t>
            </a:r>
            <a:r>
              <a:rPr dirty="0"/>
              <a:t>(2) Cost efficiency = 2026 budget / required paid-media DCFS (RFL). (3) Headroom = registrations share gap + registrations momentum</a:t>
            </a:r>
            <a:r>
              <a:rPr lang="en-GB" dirty="0"/>
              <a:t> (Porsche Reg. data 2025/2024)</a:t>
            </a:r>
            <a:r>
              <a:rPr dirty="0"/>
              <a:t>.</a:t>
            </a:r>
            <a:r>
              <a:rPr lang="en-GB" dirty="0"/>
              <a:t> Bands are assigned rule based.</a:t>
            </a:r>
            <a:endParaRPr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0F99B75-415B-C24F-A7C7-F8D781A3D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104" y="1149483"/>
            <a:ext cx="8266232" cy="4101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087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A0630B58-3B6D-A56C-EC3F-0BE56F286950}"/>
              </a:ext>
            </a:extLst>
          </p:cNvPr>
          <p:cNvGrpSpPr/>
          <p:nvPr/>
        </p:nvGrpSpPr>
        <p:grpSpPr>
          <a:xfrm>
            <a:off x="6116252" y="633943"/>
            <a:ext cx="5182017" cy="932258"/>
            <a:chOff x="886943" y="287665"/>
            <a:chExt cx="6703560" cy="1259964"/>
          </a:xfrm>
        </p:grpSpPr>
        <p:sp>
          <p:nvSpPr>
            <p:cNvPr id="41" name="Flowchart: Process 40">
              <a:extLst>
                <a:ext uri="{FF2B5EF4-FFF2-40B4-BE49-F238E27FC236}">
                  <a16:creationId xmlns:a16="http://schemas.microsoft.com/office/drawing/2014/main" id="{E8A28E62-C324-15FE-5494-20DAFA8DB5D5}"/>
                </a:ext>
              </a:extLst>
            </p:cNvPr>
            <p:cNvSpPr/>
            <p:nvPr/>
          </p:nvSpPr>
          <p:spPr>
            <a:xfrm>
              <a:off x="886943" y="287665"/>
              <a:ext cx="6595405" cy="1259964"/>
            </a:xfrm>
            <a:prstGeom prst="flowChartProcess">
              <a:avLst/>
            </a:prstGeom>
            <a:solidFill>
              <a:schemeClr val="bg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12A6519-4B4C-FDDA-0488-E0792461DDCE}"/>
                </a:ext>
              </a:extLst>
            </p:cNvPr>
            <p:cNvSpPr txBox="1"/>
            <p:nvPr/>
          </p:nvSpPr>
          <p:spPr>
            <a:xfrm>
              <a:off x="886943" y="287665"/>
              <a:ext cx="6703560" cy="8947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GB" sz="1200" b="1" dirty="0"/>
                <a:t>Pressure: </a:t>
              </a:r>
              <a:r>
                <a:rPr lang="en-GB" sz="1200" dirty="0"/>
                <a:t>How big is the gap between target and current performance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GB" sz="1200" b="1" dirty="0"/>
                <a:t>Efficiency</a:t>
              </a:r>
              <a:r>
                <a:rPr lang="en-GB" sz="1200" dirty="0"/>
                <a:t>: How much it costs to deliver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GB" sz="1200" b="1" dirty="0"/>
                <a:t>Headroom</a:t>
              </a:r>
              <a:r>
                <a:rPr lang="en-GB" sz="1200" dirty="0"/>
                <a:t>: How much room we have to grow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3B057F21-64C1-1685-F2D6-7A47F8D829BD}"/>
              </a:ext>
            </a:extLst>
          </p:cNvPr>
          <p:cNvGrpSpPr/>
          <p:nvPr/>
        </p:nvGrpSpPr>
        <p:grpSpPr>
          <a:xfrm>
            <a:off x="625690" y="1425748"/>
            <a:ext cx="2651415" cy="4939035"/>
            <a:chOff x="8161585" y="1820080"/>
            <a:chExt cx="2651415" cy="4939035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0C6FA66-ACCB-7A38-A780-27DC23585CDF}"/>
                </a:ext>
              </a:extLst>
            </p:cNvPr>
            <p:cNvGrpSpPr/>
            <p:nvPr/>
          </p:nvGrpSpPr>
          <p:grpSpPr>
            <a:xfrm>
              <a:off x="8161585" y="2231821"/>
              <a:ext cx="2448232" cy="3067664"/>
              <a:chOff x="8227547" y="1221618"/>
              <a:chExt cx="2448232" cy="3067664"/>
            </a:xfrm>
          </p:grpSpPr>
          <p:sp>
            <p:nvSpPr>
              <p:cNvPr id="2" name="Flowchart: Process 1">
                <a:extLst>
                  <a:ext uri="{FF2B5EF4-FFF2-40B4-BE49-F238E27FC236}">
                    <a16:creationId xmlns:a16="http://schemas.microsoft.com/office/drawing/2014/main" id="{A1034625-0D78-C1E0-7898-BFE0470B98F2}"/>
                  </a:ext>
                </a:extLst>
              </p:cNvPr>
              <p:cNvSpPr/>
              <p:nvPr/>
            </p:nvSpPr>
            <p:spPr>
              <a:xfrm>
                <a:off x="8227547" y="1221618"/>
                <a:ext cx="2448232" cy="3067664"/>
              </a:xfrm>
              <a:prstGeom prst="flowChartProcess">
                <a:avLst/>
              </a:prstGeom>
              <a:gradFill>
                <a:gsLst>
                  <a:gs pos="54000">
                    <a:srgbClr val="FFC000"/>
                  </a:gs>
                  <a:gs pos="100000">
                    <a:srgbClr val="C00000"/>
                  </a:gs>
                  <a:gs pos="0">
                    <a:schemeClr val="accent1"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 w="730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703B149-0658-0034-8EFB-5F4C5D217F38}"/>
                  </a:ext>
                </a:extLst>
              </p:cNvPr>
              <p:cNvSpPr txBox="1"/>
              <p:nvPr/>
            </p:nvSpPr>
            <p:spPr>
              <a:xfrm>
                <a:off x="8517598" y="1635476"/>
                <a:ext cx="1814053" cy="22307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GB" b="1" dirty="0"/>
                  <a:t>UK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GB" b="1" dirty="0"/>
                  <a:t>US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GB" b="1" dirty="0"/>
                  <a:t>Canada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GB" b="1" dirty="0"/>
                  <a:t>Italy</a:t>
                </a: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72124E3-D174-7663-34E2-9BEEEE44B43F}"/>
                </a:ext>
              </a:extLst>
            </p:cNvPr>
            <p:cNvSpPr txBox="1"/>
            <p:nvPr/>
          </p:nvSpPr>
          <p:spPr>
            <a:xfrm>
              <a:off x="8286109" y="5435676"/>
              <a:ext cx="2526891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/>
                <a:t>High pressure </a:t>
              </a:r>
            </a:p>
            <a:p>
              <a:r>
                <a:rPr lang="en-GB" sz="1600" dirty="0"/>
                <a:t>strong efficiency </a:t>
              </a:r>
            </a:p>
            <a:p>
              <a:r>
                <a:rPr lang="en-GB" sz="1600" dirty="0"/>
                <a:t>high headroom</a:t>
              </a:r>
            </a:p>
            <a:p>
              <a:br>
                <a:rPr lang="en-GB" sz="1600" dirty="0"/>
              </a:br>
              <a:r>
                <a:rPr lang="en-GB" sz="1600" dirty="0"/>
                <a:t>🟢 </a:t>
              </a:r>
              <a:r>
                <a:rPr lang="en-GB" sz="1600" b="1" dirty="0"/>
                <a:t>Clear scale opportunity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D0DF9A1B-7B31-F16A-DF59-4BE84491B9DD}"/>
                </a:ext>
              </a:extLst>
            </p:cNvPr>
            <p:cNvSpPr/>
            <p:nvPr/>
          </p:nvSpPr>
          <p:spPr>
            <a:xfrm>
              <a:off x="8286109" y="1820080"/>
              <a:ext cx="2228728" cy="658368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E5E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defRPr sz="1100" b="1">
                  <a:solidFill>
                    <a:srgbClr val="0F766E"/>
                  </a:solidFill>
                  <a:latin typeface="Calibri"/>
                </a:defRPr>
              </a:pPr>
              <a:r>
                <a:rPr sz="1600" dirty="0">
                  <a:solidFill>
                    <a:schemeClr val="tx1"/>
                  </a:solidFill>
                </a:rPr>
                <a:t>+60%</a:t>
              </a:r>
            </a:p>
            <a:p>
              <a:pPr>
                <a:defRPr sz="950">
                  <a:solidFill>
                    <a:srgbClr val="4B5563"/>
                  </a:solidFill>
                  <a:latin typeface="Calibri"/>
                </a:defRPr>
              </a:pPr>
              <a:r>
                <a:rPr sz="1200" dirty="0"/>
                <a:t>Budget: EUR 116,800,000</a:t>
              </a:r>
              <a:endParaRPr lang="en-GB" sz="1200" dirty="0"/>
            </a:p>
            <a:p>
              <a:pPr>
                <a:defRPr sz="950">
                  <a:solidFill>
                    <a:srgbClr val="4B5563"/>
                  </a:solidFill>
                  <a:latin typeface="Calibri"/>
                </a:defRPr>
              </a:pPr>
              <a:r>
                <a:rPr sz="1200" dirty="0"/>
                <a:t>Paid DCFS: 100,399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7911138B-F32D-113D-6408-AF4888D2DF6A}"/>
              </a:ext>
            </a:extLst>
          </p:cNvPr>
          <p:cNvGrpSpPr/>
          <p:nvPr/>
        </p:nvGrpSpPr>
        <p:grpSpPr>
          <a:xfrm>
            <a:off x="4586953" y="1945804"/>
            <a:ext cx="3211501" cy="4473398"/>
            <a:chOff x="4769017" y="2316495"/>
            <a:chExt cx="3211501" cy="4473398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2FDB7B23-BE4B-5107-215D-40790AF4ACC5}"/>
                </a:ext>
              </a:extLst>
            </p:cNvPr>
            <p:cNvGrpSpPr/>
            <p:nvPr/>
          </p:nvGrpSpPr>
          <p:grpSpPr>
            <a:xfrm>
              <a:off x="4845656" y="2865947"/>
              <a:ext cx="2448232" cy="2406445"/>
              <a:chOff x="5410605" y="2453109"/>
              <a:chExt cx="2448232" cy="2406445"/>
            </a:xfrm>
          </p:grpSpPr>
          <p:sp>
            <p:nvSpPr>
              <p:cNvPr id="3" name="Flowchart: Process 2">
                <a:extLst>
                  <a:ext uri="{FF2B5EF4-FFF2-40B4-BE49-F238E27FC236}">
                    <a16:creationId xmlns:a16="http://schemas.microsoft.com/office/drawing/2014/main" id="{F74BBE16-E66A-91A1-F3D4-910B9247D67E}"/>
                  </a:ext>
                </a:extLst>
              </p:cNvPr>
              <p:cNvSpPr/>
              <p:nvPr/>
            </p:nvSpPr>
            <p:spPr>
              <a:xfrm>
                <a:off x="5410605" y="2453109"/>
                <a:ext cx="2448232" cy="2406445"/>
              </a:xfrm>
              <a:prstGeom prst="flowChartProcess">
                <a:avLst/>
              </a:prstGeom>
              <a:gradFill>
                <a:gsLst>
                  <a:gs pos="100000">
                    <a:srgbClr val="FFC000"/>
                  </a:gs>
                  <a:gs pos="100000">
                    <a:srgbClr val="C00000"/>
                  </a:gs>
                  <a:gs pos="0">
                    <a:schemeClr val="accent1"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 w="73025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B5311B3-1EBA-625D-791A-676AFEFF892A}"/>
                  </a:ext>
                </a:extLst>
              </p:cNvPr>
              <p:cNvSpPr txBox="1"/>
              <p:nvPr/>
            </p:nvSpPr>
            <p:spPr>
              <a:xfrm>
                <a:off x="5651493" y="2521276"/>
                <a:ext cx="1814053" cy="2270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GB" sz="1600" b="1" dirty="0"/>
                  <a:t>Germany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GB" sz="1600" b="1" dirty="0"/>
                  <a:t>France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GB" sz="1600" b="1" dirty="0"/>
                  <a:t>Portugal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GB" sz="1600" b="1" dirty="0"/>
                  <a:t>Spain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GB" sz="1600" b="1" dirty="0"/>
                  <a:t>Switzerland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GB" sz="1600" b="1" dirty="0"/>
                  <a:t>Australia</a:t>
                </a:r>
              </a:p>
            </p:txBody>
          </p: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534EEC3-8406-09B5-CBCC-30ED9D0E3FD1}"/>
                </a:ext>
              </a:extLst>
            </p:cNvPr>
            <p:cNvSpPr txBox="1"/>
            <p:nvPr/>
          </p:nvSpPr>
          <p:spPr>
            <a:xfrm>
              <a:off x="4769017" y="5435676"/>
              <a:ext cx="3211501" cy="1354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/>
                <a:t>Medium pressure </a:t>
              </a:r>
            </a:p>
            <a:p>
              <a:r>
                <a:rPr lang="en-GB" sz="1600" dirty="0"/>
                <a:t>Mixed efficiency </a:t>
              </a:r>
            </a:p>
            <a:p>
              <a:r>
                <a:rPr lang="en-GB" sz="1600" dirty="0"/>
                <a:t>Moderate headroom</a:t>
              </a:r>
            </a:p>
            <a:p>
              <a:br>
                <a:rPr lang="en-GB" sz="1600" dirty="0"/>
              </a:br>
              <a:r>
                <a:rPr lang="en-GB" sz="1600" dirty="0"/>
                <a:t>🟡 </a:t>
              </a:r>
              <a:r>
                <a:rPr lang="en-GB" sz="1600" b="1" dirty="0"/>
                <a:t>Scale but monitor performance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53626334-A12D-9BBB-3BA0-9F3C6C685E7A}"/>
                </a:ext>
              </a:extLst>
            </p:cNvPr>
            <p:cNvSpPr/>
            <p:nvPr/>
          </p:nvSpPr>
          <p:spPr>
            <a:xfrm>
              <a:off x="4981636" y="2316495"/>
              <a:ext cx="2228728" cy="658368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E5E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defRPr sz="1100" b="1">
                  <a:solidFill>
                    <a:srgbClr val="0F766E"/>
                  </a:solidFill>
                  <a:latin typeface="Calibri"/>
                </a:defRPr>
              </a:pPr>
              <a:r>
                <a:rPr sz="1600" dirty="0">
                  <a:solidFill>
                    <a:schemeClr val="tx1"/>
                  </a:solidFill>
                </a:rPr>
                <a:t>+</a:t>
              </a:r>
              <a:r>
                <a:rPr lang="en-GB" sz="1600" dirty="0">
                  <a:solidFill>
                    <a:schemeClr val="tx1"/>
                  </a:solidFill>
                </a:rPr>
                <a:t>5</a:t>
              </a:r>
              <a:r>
                <a:rPr sz="1600" dirty="0">
                  <a:solidFill>
                    <a:schemeClr val="tx1"/>
                  </a:solidFill>
                </a:rPr>
                <a:t>0%</a:t>
              </a:r>
            </a:p>
            <a:p>
              <a:pPr>
                <a:defRPr sz="950">
                  <a:solidFill>
                    <a:srgbClr val="4B5563"/>
                  </a:solidFill>
                  <a:latin typeface="Calibri"/>
                </a:defRPr>
              </a:pPr>
              <a:r>
                <a:rPr sz="1200" dirty="0"/>
                <a:t>Budget: EUR </a:t>
              </a:r>
              <a:r>
                <a:rPr lang="en-GB" sz="1200" dirty="0"/>
                <a:t>71,100,000</a:t>
              </a:r>
            </a:p>
            <a:p>
              <a:pPr>
                <a:defRPr sz="950">
                  <a:solidFill>
                    <a:srgbClr val="4B5563"/>
                  </a:solidFill>
                  <a:latin typeface="Calibri"/>
                </a:defRPr>
              </a:pPr>
              <a:r>
                <a:rPr sz="1200" dirty="0"/>
                <a:t>Paid DCFS: </a:t>
              </a:r>
              <a:r>
                <a:rPr lang="en-GB" sz="1200" dirty="0"/>
                <a:t>12,897</a:t>
              </a:r>
              <a:endParaRPr sz="1200" dirty="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2F08A7B-6BC6-E5C3-5285-15FE0FF4C50E}"/>
              </a:ext>
            </a:extLst>
          </p:cNvPr>
          <p:cNvGrpSpPr/>
          <p:nvPr/>
        </p:nvGrpSpPr>
        <p:grpSpPr>
          <a:xfrm>
            <a:off x="8620386" y="3050673"/>
            <a:ext cx="3211501" cy="3368529"/>
            <a:chOff x="1404720" y="3390812"/>
            <a:chExt cx="3211501" cy="3368529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E1C5D756-E7F7-921A-2C13-069185546E49}"/>
                </a:ext>
              </a:extLst>
            </p:cNvPr>
            <p:cNvGrpSpPr/>
            <p:nvPr/>
          </p:nvGrpSpPr>
          <p:grpSpPr>
            <a:xfrm>
              <a:off x="1529728" y="3910008"/>
              <a:ext cx="2933699" cy="1344561"/>
              <a:chOff x="1595690" y="4004148"/>
              <a:chExt cx="2933699" cy="1344561"/>
            </a:xfrm>
          </p:grpSpPr>
          <p:sp>
            <p:nvSpPr>
              <p:cNvPr id="5" name="Flowchart: Process 4">
                <a:extLst>
                  <a:ext uri="{FF2B5EF4-FFF2-40B4-BE49-F238E27FC236}">
                    <a16:creationId xmlns:a16="http://schemas.microsoft.com/office/drawing/2014/main" id="{0B60D1B4-60BE-AD95-AE8A-FCE1566A33E3}"/>
                  </a:ext>
                </a:extLst>
              </p:cNvPr>
              <p:cNvSpPr/>
              <p:nvPr/>
            </p:nvSpPr>
            <p:spPr>
              <a:xfrm>
                <a:off x="1595690" y="4004148"/>
                <a:ext cx="2448232" cy="1344561"/>
              </a:xfrm>
              <a:prstGeom prst="flowChartProcess">
                <a:avLst/>
              </a:prstGeom>
              <a:gradFill>
                <a:gsLst>
                  <a:gs pos="100000">
                    <a:schemeClr val="bg1">
                      <a:lumMod val="85000"/>
                    </a:schemeClr>
                  </a:gs>
                  <a:gs pos="45000">
                    <a:schemeClr val="accent1">
                      <a:lumMod val="45000"/>
                      <a:lumOff val="55000"/>
                    </a:schemeClr>
                  </a:gs>
                  <a:gs pos="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 w="73025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C67AE0D-7FD5-6610-A272-5F290882E539}"/>
                  </a:ext>
                </a:extLst>
              </p:cNvPr>
              <p:cNvSpPr txBox="1"/>
              <p:nvPr/>
            </p:nvSpPr>
            <p:spPr>
              <a:xfrm>
                <a:off x="1600609" y="4282491"/>
                <a:ext cx="1762431" cy="7927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GB" sz="1600" b="1" dirty="0"/>
                  <a:t>Brazil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GB" sz="1600" b="1" dirty="0"/>
                  <a:t>Taiwan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A9EAB78-F6C0-D4A6-4A81-161E6E08842C}"/>
                  </a:ext>
                </a:extLst>
              </p:cNvPr>
              <p:cNvSpPr txBox="1"/>
              <p:nvPr/>
            </p:nvSpPr>
            <p:spPr>
              <a:xfrm>
                <a:off x="2766958" y="4282491"/>
                <a:ext cx="1762431" cy="7927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GB" sz="1600" b="1" dirty="0"/>
                  <a:t>Norway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GB" sz="1600" b="1" dirty="0"/>
                  <a:t>Poland</a:t>
                </a:r>
              </a:p>
            </p:txBody>
          </p: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301CBDD-1705-54E3-647E-1256A63F8C0F}"/>
                </a:ext>
              </a:extLst>
            </p:cNvPr>
            <p:cNvSpPr txBox="1"/>
            <p:nvPr/>
          </p:nvSpPr>
          <p:spPr>
            <a:xfrm>
              <a:off x="1404720" y="5405124"/>
              <a:ext cx="3211501" cy="1354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/>
                <a:t>Lower pressure </a:t>
              </a:r>
            </a:p>
            <a:p>
              <a:r>
                <a:rPr lang="en-GB" sz="1600" dirty="0"/>
                <a:t>Weaker efficiency </a:t>
              </a:r>
            </a:p>
            <a:p>
              <a:r>
                <a:rPr lang="en-GB" sz="1600" dirty="0"/>
                <a:t>Limited headroom</a:t>
              </a:r>
            </a:p>
            <a:p>
              <a:br>
                <a:rPr lang="en-GB" sz="1600" dirty="0"/>
              </a:br>
              <a:r>
                <a:rPr lang="en-GB" sz="1600" dirty="0"/>
                <a:t>🔵 </a:t>
              </a:r>
              <a:r>
                <a:rPr lang="en-GB" sz="1600" b="1" dirty="0"/>
                <a:t>Fix performance before scaling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51860323-0721-7B37-8349-0CA95937BA5D}"/>
                </a:ext>
              </a:extLst>
            </p:cNvPr>
            <p:cNvSpPr/>
            <p:nvPr/>
          </p:nvSpPr>
          <p:spPr>
            <a:xfrm>
              <a:off x="1660692" y="3390812"/>
              <a:ext cx="2228728" cy="658368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E5E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defRPr sz="1100" b="1">
                  <a:solidFill>
                    <a:srgbClr val="0F766E"/>
                  </a:solidFill>
                  <a:latin typeface="Calibri"/>
                </a:defRPr>
              </a:pPr>
              <a:r>
                <a:rPr sz="1600" dirty="0">
                  <a:solidFill>
                    <a:schemeClr val="tx1"/>
                  </a:solidFill>
                </a:rPr>
                <a:t>+</a:t>
              </a:r>
              <a:r>
                <a:rPr lang="en-GB" sz="1600" dirty="0">
                  <a:solidFill>
                    <a:schemeClr val="tx1"/>
                  </a:solidFill>
                </a:rPr>
                <a:t>4</a:t>
              </a:r>
              <a:r>
                <a:rPr sz="1600" dirty="0">
                  <a:solidFill>
                    <a:schemeClr val="tx1"/>
                  </a:solidFill>
                </a:rPr>
                <a:t>0%</a:t>
              </a:r>
            </a:p>
            <a:p>
              <a:pPr>
                <a:defRPr sz="950">
                  <a:solidFill>
                    <a:srgbClr val="4B5563"/>
                  </a:solidFill>
                  <a:latin typeface="Calibri"/>
                </a:defRPr>
              </a:pPr>
              <a:r>
                <a:rPr sz="1200" dirty="0"/>
                <a:t>Budget: EUR </a:t>
              </a:r>
              <a:r>
                <a:rPr lang="en-GB" sz="1200" dirty="0"/>
                <a:t>21,100,000</a:t>
              </a:r>
            </a:p>
            <a:p>
              <a:pPr>
                <a:defRPr sz="950">
                  <a:solidFill>
                    <a:srgbClr val="4B5563"/>
                  </a:solidFill>
                  <a:latin typeface="Calibri"/>
                </a:defRPr>
              </a:pPr>
              <a:r>
                <a:rPr sz="1200" dirty="0"/>
                <a:t>Paid DCFS: </a:t>
              </a:r>
              <a:r>
                <a:rPr lang="en-GB" sz="1200" dirty="0"/>
                <a:t>1,010</a:t>
              </a:r>
              <a:endParaRPr sz="1200" dirty="0"/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4BDEEE7E-5781-0A33-2ECF-65CEA7DAE2F3}"/>
              </a:ext>
            </a:extLst>
          </p:cNvPr>
          <p:cNvSpPr txBox="1"/>
          <p:nvPr/>
        </p:nvSpPr>
        <p:spPr>
          <a:xfrm>
            <a:off x="280797" y="296122"/>
            <a:ext cx="4900803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11827"/>
                </a:solidFill>
                <a:latin typeface="Calibri"/>
              </a:defRPr>
            </a:pPr>
            <a:r>
              <a:rPr lang="en-GB" dirty="0"/>
              <a:t>Recommendation: 2026 Market Budget Aggressiveness</a:t>
            </a:r>
          </a:p>
        </p:txBody>
      </p:sp>
    </p:spTree>
    <p:extLst>
      <p:ext uri="{BB962C8B-B14F-4D97-AF65-F5344CB8AC3E}">
        <p14:creationId xmlns:p14="http://schemas.microsoft.com/office/powerpoint/2010/main" val="33221378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409</Words>
  <Application>Microsoft Office PowerPoint</Application>
  <PresentationFormat>Widescreen</PresentationFormat>
  <Paragraphs>65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Ali Malek (Omnicom)</cp:lastModifiedBy>
  <cp:revision>10</cp:revision>
  <dcterms:created xsi:type="dcterms:W3CDTF">2013-01-27T09:14:16Z</dcterms:created>
  <dcterms:modified xsi:type="dcterms:W3CDTF">2026-04-28T12:23:42Z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e19d756-792e-42a1-bcad-4cb9051ddd2d_Enabled">
    <vt:lpwstr>true</vt:lpwstr>
  </property>
  <property fmtid="{D5CDD505-2E9C-101B-9397-08002B2CF9AE}" pid="3" name="MSIP_Label_8e19d756-792e-42a1-bcad-4cb9051ddd2d_SetDate">
    <vt:lpwstr>2026-04-27T16:16:05Z</vt:lpwstr>
  </property>
  <property fmtid="{D5CDD505-2E9C-101B-9397-08002B2CF9AE}" pid="4" name="MSIP_Label_8e19d756-792e-42a1-bcad-4cb9051ddd2d_Method">
    <vt:lpwstr>Standard</vt:lpwstr>
  </property>
  <property fmtid="{D5CDD505-2E9C-101B-9397-08002B2CF9AE}" pid="5" name="MSIP_Label_8e19d756-792e-42a1-bcad-4cb9051ddd2d_Name">
    <vt:lpwstr>Confidential</vt:lpwstr>
  </property>
  <property fmtid="{D5CDD505-2E9C-101B-9397-08002B2CF9AE}" pid="6" name="MSIP_Label_8e19d756-792e-42a1-bcad-4cb9051ddd2d_SiteId">
    <vt:lpwstr>41eb501a-f671-4ce0-a5bf-b64168c3705f</vt:lpwstr>
  </property>
  <property fmtid="{D5CDD505-2E9C-101B-9397-08002B2CF9AE}" pid="7" name="MSIP_Label_8e19d756-792e-42a1-bcad-4cb9051ddd2d_ActionId">
    <vt:lpwstr>0b16b0c8-e0fb-4d2a-ae66-d851aa0ab4c6</vt:lpwstr>
  </property>
  <property fmtid="{D5CDD505-2E9C-101B-9397-08002B2CF9AE}" pid="8" name="MSIP_Label_8e19d756-792e-42a1-bcad-4cb9051ddd2d_ContentBits">
    <vt:lpwstr>2</vt:lpwstr>
  </property>
  <property fmtid="{D5CDD505-2E9C-101B-9397-08002B2CF9AE}" pid="9" name="MSIP_Label_8e19d756-792e-42a1-bcad-4cb9051ddd2d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Confidential - Not for Public Consumption or Distribution</vt:lpwstr>
  </property>
</Properties>
</file>