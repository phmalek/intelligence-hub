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2CA-AF4B-4DA2-1425-51711B2EA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CA511-BAFC-A805-0751-C25DEF3C0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F8885-C642-9567-11F1-1D209F5B1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D584A-C7F6-F932-B797-B135B986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C5949-88C9-1C7C-B861-786073E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99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C6C6-DDFD-077B-CE31-D9F39651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0E237-BCCF-CD41-F9CE-32E000BC4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2569D-4504-78CA-DB64-CFCCBDCE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18D55-69A1-9E56-8F20-FB33DD41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F91D6-27A4-E156-6067-5C7466AE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075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32071-0A10-8BBA-B5DA-6B81D6ED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0CC7F-DC5A-AE45-9F27-441906AE0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9C962-C04E-670A-6D11-1D2913D7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29441-7EAD-216A-D33B-76871ADA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7CD7D-8D7D-DDF8-CADA-5B75C5D6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340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5254-340B-AFE8-D7B8-E69A9878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D39A8-8771-A8DD-DE24-075383F31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1E6D0-10F0-8351-6C98-B0F134191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369D6-92CA-ED81-46B2-09B06020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A0ED6-85E5-1F60-4A5F-FBD31989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48B53-68BF-B08A-3523-4E06CDB2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54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E2BF-ECA6-2841-FDA1-603561D9E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09841-6CC5-0E74-16A9-C3C3B5831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77A4C-7B18-6566-0910-568BB61B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12525-574A-4CED-3200-A654BDBD2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24FE1-45AE-BF1D-493E-621817DD5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6F139-5E08-573C-0A14-79CD79B03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3A9B69-F2E2-AD7C-DDAB-A857BA35A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88F15-DAD4-20DE-4246-B400FD03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48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5CD7-9635-1648-326A-655D9E25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4067F2-1795-A1A8-4550-C075F063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C85AC-F184-D906-1043-476D1D7F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5492B-43F1-B3C7-FDC5-C305286A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805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A81BC-FCBA-2A7E-3D5B-67CAC380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34FFD-65C8-867D-2F46-701D84ED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604A2-D5CD-EBA9-0B77-6AC80E1F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351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B77E-54D8-EFAC-5A40-16C1E291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4392A-4122-BA41-3531-33478F92E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5C184-E936-6883-EDE0-665F3CEBA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BA7FE-5FA1-F0C3-5665-E467EDA4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23DE8-2B1C-1AB7-C025-9A43EF02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06FED-90F2-795D-64AC-C0755AF0E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864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8CEA7-A97C-F17F-DC33-965CE5A6B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B03E7-5E1D-0CA7-FAB2-F593BA971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165ED-E94B-4AEE-06EB-74D72C104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732A8-7C59-86AA-FDFA-7A148B48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0A1F3-40CD-5C01-E66E-F95CF3AD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964FD-338E-4B61-2FA1-5AF40BD3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361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F16E-F689-44A6-D43A-813ABC87F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9D798-7DB6-13B0-23CC-C9CEDBBED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83140-69FC-FA33-9687-2435F2C9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FD0C-45C5-CCB4-FF44-02DC24381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F4F35-4267-2A5D-715B-3806AA57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03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56FFE0-5317-0616-B672-9D51F495E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E7B65-1584-1623-57F7-5DBD4AEC4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0B99C-1AD1-5357-7FCF-950563732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B49C4-3ABF-C99B-53C2-3B710FBE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F680B-F6C4-C6F0-818E-C83E2C75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053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874C34-0522-C508-81CD-A358A13A3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33C7C-3DDD-FECB-162A-AF6FFF85D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21917-2568-634B-C07A-D6EE8AEFB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476662-A348-434A-94E4-63EDD80A0184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4C92E-DD63-4395-E58B-69C6E1B54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15C25-E648-7560-5A5E-7D15F4726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5478E-02C6-4D60-8A30-BFBDAE3EC1E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97ACD-EAE2-9460-5013-1AF021A6B66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70279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554D96-9136-DBFF-18BC-D5BB7A854329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70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A4E1E-AF2C-5803-ED1F-53EB8A1F1EEF}"/>
              </a:ext>
            </a:extLst>
          </p:cNvPr>
          <p:cNvSpPr txBox="1"/>
          <p:nvPr/>
        </p:nvSpPr>
        <p:spPr>
          <a:xfrm>
            <a:off x="508000" y="381000"/>
            <a:ext cx="381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 b="1">
                <a:solidFill>
                  <a:srgbClr val="3704F4"/>
                </a:solidFill>
                <a:latin typeface="Porsche Next TT"/>
              </a:rPr>
              <a:t>BUDGET SETTING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B207A-B8B1-44F5-4EB0-A8063ECDE9D8}"/>
              </a:ext>
            </a:extLst>
          </p:cNvPr>
          <p:cNvSpPr txBox="1"/>
          <p:nvPr/>
        </p:nvSpPr>
        <p:spPr>
          <a:xfrm>
            <a:off x="508000" y="685800"/>
            <a:ext cx="9652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2400" b="1">
                <a:solidFill>
                  <a:srgbClr val="141414"/>
                </a:solidFill>
                <a:latin typeface="Porsche Next TT"/>
              </a:rPr>
              <a:t>SANKEY VIEW: FROM BUDGET ENVELOPE TO UPPER / LOWER FUNNEL ALLOCATION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55DB1-415C-59DB-B85A-FDDF7CA85F8E}"/>
              </a:ext>
            </a:extLst>
          </p:cNvPr>
          <p:cNvSpPr txBox="1"/>
          <p:nvPr/>
        </p:nvSpPr>
        <p:spPr>
          <a:xfrm>
            <a:off x="508000" y="1092200"/>
            <a:ext cx="9779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6B6B6B"/>
                </a:solidFill>
                <a:latin typeface="Porsche Next TT"/>
              </a:rPr>
              <a:t>Defensible flow for stakeholder discussion. Diagram shows logic, not final fixed shares.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46268B-CFA7-0F75-9A51-3CEE395EB56C}"/>
              </a:ext>
            </a:extLst>
          </p:cNvPr>
          <p:cNvSpPr/>
          <p:nvPr/>
        </p:nvSpPr>
        <p:spPr>
          <a:xfrm>
            <a:off x="482600" y="2336800"/>
            <a:ext cx="2032000" cy="1498600"/>
          </a:xfrm>
          <a:prstGeom prst="roundRect">
            <a:avLst/>
          </a:prstGeom>
          <a:solidFill>
            <a:srgbClr val="3F31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42F0F4-8D54-4723-4AA5-B4C7E088B8FC}"/>
              </a:ext>
            </a:extLst>
          </p:cNvPr>
          <p:cNvSpPr txBox="1"/>
          <p:nvPr/>
        </p:nvSpPr>
        <p:spPr>
          <a:xfrm>
            <a:off x="762000" y="2717800"/>
            <a:ext cx="14986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2000" b="1">
                <a:solidFill>
                  <a:srgbClr val="FFFFFF"/>
                </a:solidFill>
                <a:latin typeface="Porsche Next TT"/>
              </a:rPr>
              <a:t>TOTAL BUDGET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7F580A-83D0-0908-DD08-5029E388024E}"/>
              </a:ext>
            </a:extLst>
          </p:cNvPr>
          <p:cNvSpPr txBox="1"/>
          <p:nvPr/>
        </p:nvSpPr>
        <p:spPr>
          <a:xfrm>
            <a:off x="762000" y="3098800"/>
            <a:ext cx="1498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FFFFFF"/>
                </a:solidFill>
                <a:latin typeface="Porsche Next TT"/>
              </a:rPr>
              <a:t>Starting envelope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254223E5-2C77-6789-624D-66895096B510}"/>
              </a:ext>
            </a:extLst>
          </p:cNvPr>
          <p:cNvSpPr/>
          <p:nvPr/>
        </p:nvSpPr>
        <p:spPr>
          <a:xfrm>
            <a:off x="2692400" y="2514600"/>
            <a:ext cx="1905000" cy="558800"/>
          </a:xfrm>
          <a:prstGeom prst="chevron">
            <a:avLst/>
          </a:prstGeom>
          <a:solidFill>
            <a:srgbClr val="C592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642A6-963A-DE6C-313A-883A8B0CE6C3}"/>
              </a:ext>
            </a:extLst>
          </p:cNvPr>
          <p:cNvSpPr txBox="1"/>
          <p:nvPr/>
        </p:nvSpPr>
        <p:spPr>
          <a:xfrm>
            <a:off x="2971800" y="2654300"/>
            <a:ext cx="13716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FFFFFF"/>
                </a:solidFill>
                <a:latin typeface="Porsche Next TT"/>
              </a:rPr>
              <a:t>ALWAYS ON / CORE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1071DA68-A70E-383C-618D-9F0B64ABF8E0}"/>
              </a:ext>
            </a:extLst>
          </p:cNvPr>
          <p:cNvSpPr/>
          <p:nvPr/>
        </p:nvSpPr>
        <p:spPr>
          <a:xfrm>
            <a:off x="2692400" y="3098800"/>
            <a:ext cx="1905000" cy="558800"/>
          </a:xfrm>
          <a:prstGeom prst="chevron">
            <a:avLst/>
          </a:prstGeom>
          <a:solidFill>
            <a:srgbClr val="370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167899-9363-F175-D6B0-3DD8B2862510}"/>
              </a:ext>
            </a:extLst>
          </p:cNvPr>
          <p:cNvSpPr txBox="1"/>
          <p:nvPr/>
        </p:nvSpPr>
        <p:spPr>
          <a:xfrm>
            <a:off x="2946400" y="3238500"/>
            <a:ext cx="14732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Porsche Next TT"/>
              </a:rPr>
              <a:t>HIGHLIGHT ACTIVATIONS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94F978E5-FA50-8F01-7136-CDD3220650EA}"/>
              </a:ext>
            </a:extLst>
          </p:cNvPr>
          <p:cNvSpPr/>
          <p:nvPr/>
        </p:nvSpPr>
        <p:spPr>
          <a:xfrm>
            <a:off x="4876800" y="2819400"/>
            <a:ext cx="1930400" cy="482600"/>
          </a:xfrm>
          <a:prstGeom prst="chevron">
            <a:avLst/>
          </a:prstGeom>
          <a:solidFill>
            <a:srgbClr val="1492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302DEA-25A1-6263-C128-FC7DD7BAEEDB}"/>
              </a:ext>
            </a:extLst>
          </p:cNvPr>
          <p:cNvSpPr txBox="1"/>
          <p:nvPr/>
        </p:nvSpPr>
        <p:spPr>
          <a:xfrm>
            <a:off x="5156200" y="29337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FFFFFF"/>
                </a:solidFill>
                <a:latin typeface="Porsche Next TT"/>
              </a:rPr>
              <a:t>CLASSIFY HIGHLIGHT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634179E6-C592-1AFC-149A-9B509257144D}"/>
              </a:ext>
            </a:extLst>
          </p:cNvPr>
          <p:cNvSpPr/>
          <p:nvPr/>
        </p:nvSpPr>
        <p:spPr>
          <a:xfrm>
            <a:off x="7162800" y="2235200"/>
            <a:ext cx="2082800" cy="558800"/>
          </a:xfrm>
          <a:prstGeom prst="chevron">
            <a:avLst/>
          </a:prstGeom>
          <a:solidFill>
            <a:srgbClr val="5A8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6FDD8B-F15A-2E01-3B2C-EBEEF94C7888}"/>
              </a:ext>
            </a:extLst>
          </p:cNvPr>
          <p:cNvSpPr txBox="1"/>
          <p:nvPr/>
        </p:nvSpPr>
        <p:spPr>
          <a:xfrm>
            <a:off x="7518400" y="2362200"/>
            <a:ext cx="149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Porsche Next TT"/>
              </a:rPr>
              <a:t>UPPER FUNNEL HIGHLIGHT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8BC3DF8F-7ED8-86E1-1492-B2CDC1045213}"/>
              </a:ext>
            </a:extLst>
          </p:cNvPr>
          <p:cNvSpPr/>
          <p:nvPr/>
        </p:nvSpPr>
        <p:spPr>
          <a:xfrm>
            <a:off x="7162800" y="3073400"/>
            <a:ext cx="2082800" cy="558800"/>
          </a:xfrm>
          <a:prstGeom prst="chevron">
            <a:avLst/>
          </a:prstGeom>
          <a:solidFill>
            <a:srgbClr val="C592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7402F9-7206-4471-AED5-AF7B37B989EC}"/>
              </a:ext>
            </a:extLst>
          </p:cNvPr>
          <p:cNvSpPr txBox="1"/>
          <p:nvPr/>
        </p:nvSpPr>
        <p:spPr>
          <a:xfrm>
            <a:off x="7518400" y="3200400"/>
            <a:ext cx="149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Porsche Next TT"/>
              </a:rPr>
              <a:t>LOWER FUNNEL HIGHLIGHT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2EC3DF-9B22-040F-925D-4496AA8302BA}"/>
              </a:ext>
            </a:extLst>
          </p:cNvPr>
          <p:cNvSpPr/>
          <p:nvPr/>
        </p:nvSpPr>
        <p:spPr>
          <a:xfrm>
            <a:off x="7162800" y="4191000"/>
            <a:ext cx="2082800" cy="736600"/>
          </a:xfrm>
          <a:prstGeom prst="roundRect">
            <a:avLst/>
          </a:prstGeom>
          <a:solidFill>
            <a:srgbClr val="3F31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42D1DD-F2AD-6817-28C2-29A4E517183C}"/>
              </a:ext>
            </a:extLst>
          </p:cNvPr>
          <p:cNvSpPr txBox="1"/>
          <p:nvPr/>
        </p:nvSpPr>
        <p:spPr>
          <a:xfrm>
            <a:off x="7442200" y="4381500"/>
            <a:ext cx="1600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500" b="1">
                <a:solidFill>
                  <a:srgbClr val="FFFFFF"/>
                </a:solidFill>
                <a:latin typeface="Porsche Next TT"/>
              </a:rPr>
              <a:t>ALWAYS ON LOWER
FUNNEL / CORE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F6025EBE-29D1-2FCC-F0FC-D015FA562592}"/>
              </a:ext>
            </a:extLst>
          </p:cNvPr>
          <p:cNvSpPr/>
          <p:nvPr/>
        </p:nvSpPr>
        <p:spPr>
          <a:xfrm>
            <a:off x="8102600" y="3657600"/>
            <a:ext cx="279400" cy="482600"/>
          </a:xfrm>
          <a:prstGeom prst="downArrow">
            <a:avLst/>
          </a:prstGeom>
          <a:solidFill>
            <a:srgbClr val="3704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38FE9D-182D-6809-27FF-E4D2D9BF5A11}"/>
              </a:ext>
            </a:extLst>
          </p:cNvPr>
          <p:cNvSpPr txBox="1"/>
          <p:nvPr/>
        </p:nvSpPr>
        <p:spPr>
          <a:xfrm>
            <a:off x="8585200" y="3657600"/>
            <a:ext cx="2667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 b="1">
                <a:solidFill>
                  <a:srgbClr val="3704F4"/>
                </a:solidFill>
                <a:latin typeface="Porsche Next TT"/>
              </a:rPr>
              <a:t>Credit highlight with click / session contribution to AO burden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E13F94-C05E-60EF-65D4-1D49632422D4}"/>
              </a:ext>
            </a:extLst>
          </p:cNvPr>
          <p:cNvSpPr/>
          <p:nvPr/>
        </p:nvSpPr>
        <p:spPr>
          <a:xfrm>
            <a:off x="9575800" y="1955800"/>
            <a:ext cx="21590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D99DB6-AD22-C0EC-38C3-078715592486}"/>
              </a:ext>
            </a:extLst>
          </p:cNvPr>
          <p:cNvSpPr txBox="1"/>
          <p:nvPr/>
        </p:nvSpPr>
        <p:spPr>
          <a:xfrm>
            <a:off x="9753600" y="2108200"/>
            <a:ext cx="1778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 b="1">
                <a:solidFill>
                  <a:srgbClr val="3704F4"/>
                </a:solidFill>
                <a:latin typeface="Porsche Next TT"/>
              </a:rPr>
              <a:t>Baseline highlight calc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D905A2-E52B-24D9-BE5B-4E109ABE21AC}"/>
              </a:ext>
            </a:extLst>
          </p:cNvPr>
          <p:cNvSpPr txBox="1"/>
          <p:nvPr/>
        </p:nvSpPr>
        <p:spPr>
          <a:xfrm>
            <a:off x="9753600" y="2336800"/>
            <a:ext cx="18034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41414"/>
                </a:solidFill>
                <a:latin typeface="Porsche Next TT"/>
              </a:rPr>
              <a:t>Digital impressions -&gt; sessions -&gt; budget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8D4AF1-693F-7566-A791-1F1B32F74980}"/>
              </a:ext>
            </a:extLst>
          </p:cNvPr>
          <p:cNvSpPr/>
          <p:nvPr/>
        </p:nvSpPr>
        <p:spPr>
          <a:xfrm>
            <a:off x="9575800" y="2794000"/>
            <a:ext cx="2159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99B026-7AF4-A76B-2BC4-015EF4D2E082}"/>
              </a:ext>
            </a:extLst>
          </p:cNvPr>
          <p:cNvSpPr txBox="1"/>
          <p:nvPr/>
        </p:nvSpPr>
        <p:spPr>
          <a:xfrm>
            <a:off x="9753600" y="29464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 b="1">
                <a:solidFill>
                  <a:srgbClr val="3704F4"/>
                </a:solidFill>
                <a:latin typeface="Porsche Next TT"/>
              </a:rPr>
              <a:t>Upweight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4E2F79-8992-8068-A0A0-627FA25BA78E}"/>
              </a:ext>
            </a:extLst>
          </p:cNvPr>
          <p:cNvSpPr txBox="1"/>
          <p:nvPr/>
        </p:nvSpPr>
        <p:spPr>
          <a:xfrm>
            <a:off x="9753600" y="3149600"/>
            <a:ext cx="18542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41414"/>
                </a:solidFill>
                <a:latin typeface="Porsche Next TT"/>
              </a:rPr>
              <a:t>Offline / non-digital factor
(+18.7% Tier 1 ref.)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A8B9F7B-27A6-8C23-E55E-286368D31B76}"/>
              </a:ext>
            </a:extLst>
          </p:cNvPr>
          <p:cNvSpPr/>
          <p:nvPr/>
        </p:nvSpPr>
        <p:spPr>
          <a:xfrm>
            <a:off x="9575800" y="3581400"/>
            <a:ext cx="21590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3A2AA1-EFD7-E631-6A85-5D6FF41EDC5D}"/>
              </a:ext>
            </a:extLst>
          </p:cNvPr>
          <p:cNvSpPr txBox="1"/>
          <p:nvPr/>
        </p:nvSpPr>
        <p:spPr>
          <a:xfrm>
            <a:off x="9753600" y="373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 b="1">
                <a:solidFill>
                  <a:srgbClr val="3704F4"/>
                </a:solidFill>
                <a:latin typeface="Porsche Next TT"/>
              </a:rPr>
              <a:t>Upweight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5C64D0-4A07-0C8E-73B0-17063D8745EB}"/>
              </a:ext>
            </a:extLst>
          </p:cNvPr>
          <p:cNvSpPr txBox="1"/>
          <p:nvPr/>
        </p:nvSpPr>
        <p:spPr>
          <a:xfrm>
            <a:off x="9753600" y="3937000"/>
            <a:ext cx="19050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41414"/>
                </a:solidFill>
                <a:latin typeface="Porsche Next TT"/>
              </a:rPr>
              <a:t>Beyond OGS / website-touch sales
(OGS ref. 13.6%)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867352-17EB-5AFC-2B4B-D0AB8010D3F4}"/>
              </a:ext>
            </a:extLst>
          </p:cNvPr>
          <p:cNvSpPr/>
          <p:nvPr/>
        </p:nvSpPr>
        <p:spPr>
          <a:xfrm>
            <a:off x="9575800" y="4419600"/>
            <a:ext cx="2159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06F670-092E-79D0-31F7-F1A0349D6425}"/>
              </a:ext>
            </a:extLst>
          </p:cNvPr>
          <p:cNvSpPr txBox="1"/>
          <p:nvPr/>
        </p:nvSpPr>
        <p:spPr>
          <a:xfrm>
            <a:off x="9753600" y="45720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 b="1">
                <a:solidFill>
                  <a:srgbClr val="3704F4"/>
                </a:solidFill>
                <a:latin typeface="Porsche Next TT"/>
              </a:rPr>
              <a:t>Sensitivity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4E3369-11D9-ED38-C622-EAE7679D3B6B}"/>
              </a:ext>
            </a:extLst>
          </p:cNvPr>
          <p:cNvSpPr txBox="1"/>
          <p:nvPr/>
        </p:nvSpPr>
        <p:spPr>
          <a:xfrm>
            <a:off x="9753600" y="4775200"/>
            <a:ext cx="18542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00">
                <a:solidFill>
                  <a:srgbClr val="141414"/>
                </a:solidFill>
                <a:latin typeface="Porsche Next TT"/>
              </a:rPr>
              <a:t>Non-trackable allocation is estimate only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3E9044A-2F79-C1DD-B9DA-236F86F82827}"/>
              </a:ext>
            </a:extLst>
          </p:cNvPr>
          <p:cNvSpPr/>
          <p:nvPr/>
        </p:nvSpPr>
        <p:spPr>
          <a:xfrm>
            <a:off x="508000" y="5334000"/>
            <a:ext cx="86868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1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2977F9-D7BF-D0F1-DA4F-8AF30D59D283}"/>
              </a:ext>
            </a:extLst>
          </p:cNvPr>
          <p:cNvSpPr txBox="1"/>
          <p:nvPr/>
        </p:nvSpPr>
        <p:spPr>
          <a:xfrm>
            <a:off x="736600" y="5511800"/>
            <a:ext cx="215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 b="1">
                <a:solidFill>
                  <a:srgbClr val="3704F4"/>
                </a:solidFill>
                <a:latin typeface="Porsche Next TT"/>
              </a:rPr>
              <a:t>Critical classification point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0A84E7-2BAF-5064-0068-651770AA6C94}"/>
              </a:ext>
            </a:extLst>
          </p:cNvPr>
          <p:cNvSpPr txBox="1"/>
          <p:nvPr/>
        </p:nvSpPr>
        <p:spPr>
          <a:xfrm>
            <a:off x="736600" y="5765800"/>
            <a:ext cx="82042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400">
                <a:solidFill>
                  <a:srgbClr val="141414"/>
                </a:solidFill>
                <a:latin typeface="Porsche Next TT"/>
              </a:rPr>
              <a:t>Highlight is not automatically all upper funnel. In market planning, model launches may contain both upper-funnel demand creation and lower-funnel conversion support.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806DEA-4206-2F4C-AC1B-144559519CE5}"/>
              </a:ext>
            </a:extLst>
          </p:cNvPr>
          <p:cNvSpPr txBox="1"/>
          <p:nvPr/>
        </p:nvSpPr>
        <p:spPr>
          <a:xfrm>
            <a:off x="9448800" y="5562600"/>
            <a:ext cx="2286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 b="1">
                <a:solidFill>
                  <a:srgbClr val="3704F4"/>
                </a:solidFill>
                <a:latin typeface="Porsche Next TT"/>
              </a:rPr>
              <a:t>Interpretation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AB449C-7F04-2BF5-8D4C-83FFC669FCE1}"/>
              </a:ext>
            </a:extLst>
          </p:cNvPr>
          <p:cNvSpPr txBox="1"/>
          <p:nvPr/>
        </p:nvSpPr>
        <p:spPr>
          <a:xfrm>
            <a:off x="9448800" y="5816600"/>
            <a:ext cx="2235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41414"/>
                </a:solidFill>
                <a:latin typeface="Porsche Next TT"/>
              </a:rPr>
              <a:t>Shift budget logic from a simple AO vs Highlight split to a classified funnel-aware flow.</a:t>
            </a:r>
          </a:p>
        </p:txBody>
      </p:sp>
    </p:spTree>
    <p:extLst>
      <p:ext uri="{BB962C8B-B14F-4D97-AF65-F5344CB8AC3E}">
        <p14:creationId xmlns:p14="http://schemas.microsoft.com/office/powerpoint/2010/main" val="746371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Porsche Next TT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Malek (Omnicom)</dc:creator>
  <cp:lastModifiedBy>Ali Malek (Omnicom)</cp:lastModifiedBy>
  <cp:revision>1</cp:revision>
  <dcterms:created xsi:type="dcterms:W3CDTF">2026-04-15T08:50:36Z</dcterms:created>
  <dcterms:modified xsi:type="dcterms:W3CDTF">2026-04-15T08:50:36Z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2026-04-15T08:50:36Z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e286ee17-f9ee-449d-affe-6e11ac2debad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- Not for Public Consumption or Distribution</vt:lpwstr>
  </property>
</Properties>
</file>