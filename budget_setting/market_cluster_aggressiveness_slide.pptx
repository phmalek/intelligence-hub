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15568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  <a:latin typeface="Calibri"/>
              </a:defRPr>
            </a:pPr>
            <a:r>
              <a:t>Recommendation: Market Clusters for 2026 Paid Media Aggressiveness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151"/>
                </a:solidFill>
                <a:latin typeface="Calibri"/>
              </a:defRPr>
            </a:pPr>
            <a:r>
              <a:t>We assign +40% / +50% / +60% bands by market based on target pressure and scalability headroom.</a:t>
            </a:r>
          </a:p>
        </p:txBody>
      </p:sp>
      <p:pic>
        <p:nvPicPr>
          <p:cNvPr id="5" name="Picture 4" descr="market_clusters_scatter_st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69848"/>
            <a:ext cx="864108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89720" y="1078992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111827"/>
                </a:solidFill>
                <a:latin typeface="Calibri"/>
              </a:defRPr>
            </a:pPr>
            <a:r>
              <a:t>Budget guidance bands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9720" y="1444752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B9E77"/>
                </a:solidFill>
                <a:latin typeface="Calibri"/>
              </a:defRPr>
            </a:pPr>
            <a:r>
              <a:t>+60%  |  2 markets  |  €365,000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20" y="2075688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95F02"/>
                </a:solidFill>
                <a:latin typeface="Calibri"/>
              </a:defRPr>
            </a:pPr>
            <a:r>
              <a:t>+50%  |  6 markets  |  €1,067,000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89720" y="2706624"/>
            <a:ext cx="26517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7570B3"/>
                </a:solidFill>
                <a:latin typeface="Calibri"/>
              </a:defRPr>
            </a:pPr>
            <a:r>
              <a:t>+40%  |  3 markets  |  €285,000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9720" y="4443984"/>
            <a:ext cx="2651760" cy="114300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</a:p>
          <a:p>
            <a:pPr>
              <a:defRPr sz="1050">
                <a:solidFill>
                  <a:srgbClr val="ECFDF5"/>
                </a:solidFill>
                <a:latin typeface="Calibri"/>
              </a:defRPr>
            </a:pPr>
            <a:r>
              <a:t>Prioritize aggressive funding in: PCNA, PCL.</a:t>
            </a:r>
          </a:p>
          <a:p>
            <a:pPr>
              <a:defRPr sz="1000">
                <a:solidFill>
                  <a:srgbClr val="ECFDF5"/>
                </a:solidFill>
                <a:latin typeface="Calibri"/>
              </a:defRPr>
            </a:pPr>
            <a:r>
              <a:t>Keep +40% markets on disciplined baseline until efficiency improves.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623560"/>
            <a:ext cx="11155680" cy="786384"/>
          </a:xfrm>
          <a:prstGeom prst="rect">
            <a:avLst/>
          </a:prstGeom>
          <a:solidFill>
            <a:srgbClr val="EFF6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F2937"/>
                </a:solidFill>
                <a:latin typeface="Calibri"/>
              </a:defRPr>
            </a:pPr>
            <a:r>
              <a:t>Method used: Markets are clustered on two dimensions — target pressure (DCFS gap vs 2026 target) and scalability (curve-based incremental response). Uplift bands (+40%, +50%, +60%) are directional aggressiveness signals.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1908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B7280"/>
                </a:solidFill>
                <a:latin typeface="Calibri"/>
              </a:defRPr>
            </a:pPr>
            <a:r>
              <a:t>Note: CTG data is used as a directional proxy for paid-media responsiveness. Bands are guidance on urgency/importance, not deterministic allocation outputs.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