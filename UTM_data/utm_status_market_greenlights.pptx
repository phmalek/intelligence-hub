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7277E-9664-49DB-99D2-6D04D591E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CB541-D882-8248-D7C6-84EE9205D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32906-61F7-E062-5490-9CD266DE2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C936C-FE6C-441D-8EA8-7878F0F2DB60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4DE09-9621-1938-B7FC-A654E4824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2D54E-D3B2-26AA-AB6F-24CC38A04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8BAC9-FF1F-4654-BD51-27A5DD460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493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440B9-B093-BDB9-3180-1ABB9F322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81697-3BA6-145E-F634-0F5E50847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3DD25-DEA3-E867-1CF7-A0A998B36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C936C-FE6C-441D-8EA8-7878F0F2DB60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4990A-590D-48F6-2B90-628B65C52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ED29D-A7D3-3127-9B8A-DE6F42121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8BAC9-FF1F-4654-BD51-27A5DD460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4019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5639C-991B-05BF-5F63-2CCF94179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F9A1E-F75C-99E6-E66E-FE7DB1CC8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DFBA8-A136-3C1A-F979-0A27C08AC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C936C-FE6C-441D-8EA8-7878F0F2DB60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714A4-4DA0-DA17-8BDA-522F9E91F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F62AC-71F3-7CD3-4165-6DC8C2A72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8BAC9-FF1F-4654-BD51-27A5DD460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0417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80CCE-BB3F-D382-EDA2-A8C288295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75856-49AF-B7D2-6BC7-A08D6B5E37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B65653-BE7E-A743-CA8B-3F23F8438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589F55-697F-BAD8-6CDC-5F60A3F0F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C936C-FE6C-441D-8EA8-7878F0F2DB60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01EFF-2A71-9706-1F23-345D024FF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C0E5D-EDE7-B94D-665A-4EDC1E13F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8BAC9-FF1F-4654-BD51-27A5DD460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221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74012-A438-E5D6-BEBF-51AF4AB90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233CA-D955-46A0-89B9-032E23239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8786B-7039-DEA1-E4C5-7EECB2407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6FCB49-E3C1-D12D-3B61-A831645635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93BB2C-C50A-AE8F-3765-D83B7035A0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88F382-C9BC-2048-DFD4-1F900698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C936C-FE6C-441D-8EA8-7878F0F2DB60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5A4836-2BDF-8CD5-844A-F5D29D319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C6404F-6BBD-6FBD-BE41-B1490C7FA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8BAC9-FF1F-4654-BD51-27A5DD460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6036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3639D-17F5-B525-0447-8489BBE26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8F1E0E-CB13-31A4-269E-95AF0698C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C936C-FE6C-441D-8EA8-7878F0F2DB60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302214-735B-BBC6-440E-176DBA43B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0E1BC4-B63A-986B-CA36-BB4EAABC2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8BAC9-FF1F-4654-BD51-27A5DD460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3438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12D161-93EB-029E-CB6C-628316921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C936C-FE6C-441D-8EA8-7878F0F2DB60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2AD745-E398-4E22-01C2-4969B310D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20190-A77B-8C7E-821B-212B5E54F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8BAC9-FF1F-4654-BD51-27A5DD460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2097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69CFA-B69F-045F-8E22-BF976932F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F4263-CBF9-DB16-B541-0C26C6042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B1A4A-097B-3570-96F6-9E8FCE7A4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8594A5-2A16-834F-C855-68D78648B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C936C-FE6C-441D-8EA8-7878F0F2DB60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741E67-8684-A9DF-95F2-64BE56B6E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C6CD2-9D9B-2D38-CCEF-2A180E49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8BAC9-FF1F-4654-BD51-27A5DD460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6628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DA1B1-85E9-F689-56D2-BCDFADABD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BE29BB-EBC1-B602-190A-F101B3A038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6A1274-A4EB-5AB2-AAB0-FDDDEA1ED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96526-9FBF-5F7C-58DD-FB65E2260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C936C-FE6C-441D-8EA8-7878F0F2DB60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4C24F2-3575-BA99-D862-667CD7FAA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AAEE-412A-DEAC-ACEF-564BD4A46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8BAC9-FF1F-4654-BD51-27A5DD460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1511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6B00C-FA33-9B19-0E16-E10E851F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B751EC-AF64-01DD-5F0C-3BD118DE80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A3A3C-E67A-A995-76AF-06F3F9EE1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C936C-FE6C-441D-8EA8-7878F0F2DB60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798AC-491F-A815-3BDE-39ED430EE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C834D-3B5A-40D4-3094-A7D086B5D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8BAC9-FF1F-4654-BD51-27A5DD460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5821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9BFEF9-F2DB-34D4-5B7A-C022FB2450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84137F-9A5C-733D-734B-E384EF0694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BE7FE-F830-925A-50DE-DB6C9522F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C936C-FE6C-441D-8EA8-7878F0F2DB60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F7B4F-D60C-1E08-3F64-1207A32E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CF9A-E0D8-F4BF-95BF-752A4CF7E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8BAC9-FF1F-4654-BD51-27A5DD460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0879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019208-DC64-8A13-9182-264943424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44141-89C3-0A53-967A-7C3A84B71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A8D55-74FF-653A-4638-D62D8CFCCE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6C936C-FE6C-441D-8EA8-7878F0F2DB60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4A0CA-481B-DA40-AAFE-367AF95B8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EC21F-CB38-1950-9FB5-5AA42812EA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08BAC9-FF1F-4654-BD51-27A5DD46083B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440992-B7A2-B3B8-E15D-69299C7FAD9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43425" y="6642100"/>
            <a:ext cx="3130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Not for Public Consumption 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684285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15DC57-8072-38BE-9AE1-6D66DAEF4E26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3A48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F31F62-5D8F-FE13-8D4E-89387458F6B7}"/>
              </a:ext>
            </a:extLst>
          </p:cNvPr>
          <p:cNvSpPr txBox="1"/>
          <p:nvPr/>
        </p:nvSpPr>
        <p:spPr>
          <a:xfrm>
            <a:off x="660400" y="609600"/>
            <a:ext cx="6604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600" b="1">
                <a:solidFill>
                  <a:srgbClr val="3A48B5"/>
                </a:solidFill>
                <a:latin typeface="Aptos" panose="020B0004020202020204" pitchFamily="34" charset="0"/>
              </a:rPr>
              <a:t>UTM ROLLOUT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6F0A55-7BB8-7120-C1B5-3E5AA46901E3}"/>
              </a:ext>
            </a:extLst>
          </p:cNvPr>
          <p:cNvSpPr txBox="1"/>
          <p:nvPr/>
        </p:nvSpPr>
        <p:spPr>
          <a:xfrm>
            <a:off x="660400" y="939800"/>
            <a:ext cx="8636000" cy="86177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2800" b="1">
                <a:solidFill>
                  <a:srgbClr val="111111"/>
                </a:solidFill>
                <a:latin typeface="Aptos" panose="020B0004020202020204" pitchFamily="34" charset="0"/>
              </a:rPr>
              <a:t>MARKET STATUS AND
CONFIRMED GREEN LIGHTS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188113-6603-1E26-856B-43314A899953}"/>
              </a:ext>
            </a:extLst>
          </p:cNvPr>
          <p:cNvSpPr txBox="1"/>
          <p:nvPr/>
        </p:nvSpPr>
        <p:spPr>
          <a:xfrm>
            <a:off x="660400" y="1930400"/>
            <a:ext cx="5461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300">
                <a:solidFill>
                  <a:srgbClr val="6B6B6B"/>
                </a:solidFill>
                <a:latin typeface="Aptos" panose="020B0004020202020204" pitchFamily="34" charset="0"/>
              </a:rPr>
              <a:t>Only explicitly confirmed green lights are marked as green.
Silence is treated as not yet confirmed.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796B94D-6F46-CD3E-1D22-9F1564A7F8BA}"/>
              </a:ext>
            </a:extLst>
          </p:cNvPr>
          <p:cNvSpPr/>
          <p:nvPr/>
        </p:nvSpPr>
        <p:spPr>
          <a:xfrm>
            <a:off x="660400" y="3124200"/>
            <a:ext cx="2032000" cy="144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E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F9B492-258D-BFC1-D343-3C1D0ECC098A}"/>
              </a:ext>
            </a:extLst>
          </p:cNvPr>
          <p:cNvSpPr txBox="1"/>
          <p:nvPr/>
        </p:nvSpPr>
        <p:spPr>
          <a:xfrm>
            <a:off x="889000" y="3429000"/>
            <a:ext cx="15748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3000" b="1">
                <a:solidFill>
                  <a:srgbClr val="111111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E629CF-259F-881A-06F2-66CC54B88808}"/>
              </a:ext>
            </a:extLst>
          </p:cNvPr>
          <p:cNvSpPr txBox="1"/>
          <p:nvPr/>
        </p:nvSpPr>
        <p:spPr>
          <a:xfrm>
            <a:off x="889000" y="3987800"/>
            <a:ext cx="15748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300">
                <a:solidFill>
                  <a:srgbClr val="6B6B6B"/>
                </a:solidFill>
                <a:latin typeface="Aptos" panose="020B0004020202020204" pitchFamily="34" charset="0"/>
              </a:rPr>
              <a:t>Markets engaged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D586D6B-CBC5-66CB-2011-77C20C2BE614}"/>
              </a:ext>
            </a:extLst>
          </p:cNvPr>
          <p:cNvSpPr/>
          <p:nvPr/>
        </p:nvSpPr>
        <p:spPr>
          <a:xfrm>
            <a:off x="3098800" y="3124200"/>
            <a:ext cx="2032000" cy="144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E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E7A196-F933-E64F-600B-D6A961EE1604}"/>
              </a:ext>
            </a:extLst>
          </p:cNvPr>
          <p:cNvSpPr txBox="1"/>
          <p:nvPr/>
        </p:nvSpPr>
        <p:spPr>
          <a:xfrm>
            <a:off x="3327400" y="3429000"/>
            <a:ext cx="15748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3000" b="1">
                <a:solidFill>
                  <a:srgbClr val="111111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C43985-10A1-4DD1-F33B-36F280400878}"/>
              </a:ext>
            </a:extLst>
          </p:cNvPr>
          <p:cNvSpPr txBox="1"/>
          <p:nvPr/>
        </p:nvSpPr>
        <p:spPr>
          <a:xfrm>
            <a:off x="3327400" y="3987800"/>
            <a:ext cx="15748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300">
                <a:solidFill>
                  <a:srgbClr val="6B6B6B"/>
                </a:solidFill>
                <a:latin typeface="Aptos" panose="020B0004020202020204" pitchFamily="34" charset="0"/>
              </a:rPr>
              <a:t>Resolved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CE18C4A-FBEC-DB56-CBA9-B25FF60BE557}"/>
              </a:ext>
            </a:extLst>
          </p:cNvPr>
          <p:cNvSpPr/>
          <p:nvPr/>
        </p:nvSpPr>
        <p:spPr>
          <a:xfrm>
            <a:off x="5537200" y="3124200"/>
            <a:ext cx="2032000" cy="144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E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E6266A-AA7C-440D-152F-20E7476757B6}"/>
              </a:ext>
            </a:extLst>
          </p:cNvPr>
          <p:cNvSpPr txBox="1"/>
          <p:nvPr/>
        </p:nvSpPr>
        <p:spPr>
          <a:xfrm>
            <a:off x="5765800" y="3429000"/>
            <a:ext cx="15748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3000" b="1">
                <a:solidFill>
                  <a:srgbClr val="111111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5E3E7B-30B0-9C7D-26B6-3FC828E14DB5}"/>
              </a:ext>
            </a:extLst>
          </p:cNvPr>
          <p:cNvSpPr txBox="1"/>
          <p:nvPr/>
        </p:nvSpPr>
        <p:spPr>
          <a:xfrm>
            <a:off x="5765800" y="3987800"/>
            <a:ext cx="15748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300">
                <a:solidFill>
                  <a:srgbClr val="6B6B6B"/>
                </a:solidFill>
                <a:latin typeface="Aptos" panose="020B0004020202020204" pitchFamily="34" charset="0"/>
              </a:rPr>
              <a:t>In progress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61F693B-2FDC-8D48-BE82-46D0022A46C0}"/>
              </a:ext>
            </a:extLst>
          </p:cNvPr>
          <p:cNvSpPr/>
          <p:nvPr/>
        </p:nvSpPr>
        <p:spPr>
          <a:xfrm>
            <a:off x="7975600" y="3124200"/>
            <a:ext cx="2032000" cy="144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E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D0C55B-7092-A4EC-22E4-0D4AF8A2B5FA}"/>
              </a:ext>
            </a:extLst>
          </p:cNvPr>
          <p:cNvSpPr txBox="1"/>
          <p:nvPr/>
        </p:nvSpPr>
        <p:spPr>
          <a:xfrm>
            <a:off x="8204200" y="3429000"/>
            <a:ext cx="15748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3000" b="1">
                <a:solidFill>
                  <a:srgbClr val="111111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8D1368-F5BD-8297-FF0A-765CE8322180}"/>
              </a:ext>
            </a:extLst>
          </p:cNvPr>
          <p:cNvSpPr txBox="1"/>
          <p:nvPr/>
        </p:nvSpPr>
        <p:spPr>
          <a:xfrm>
            <a:off x="8204200" y="3987800"/>
            <a:ext cx="15748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300">
                <a:solidFill>
                  <a:srgbClr val="6B6B6B"/>
                </a:solidFill>
                <a:latin typeface="Aptos" panose="020B0004020202020204" pitchFamily="34" charset="0"/>
              </a:rPr>
              <a:t>No response / blocked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7205AC8-E88A-A4DB-0539-F5277CA3D455}"/>
              </a:ext>
            </a:extLst>
          </p:cNvPr>
          <p:cNvSpPr/>
          <p:nvPr/>
        </p:nvSpPr>
        <p:spPr>
          <a:xfrm>
            <a:off x="660400" y="5130800"/>
            <a:ext cx="108712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E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98589C-D708-DAEA-BD7A-EADB81AFB75A}"/>
              </a:ext>
            </a:extLst>
          </p:cNvPr>
          <p:cNvSpPr txBox="1"/>
          <p:nvPr/>
        </p:nvSpPr>
        <p:spPr>
          <a:xfrm>
            <a:off x="939800" y="5384800"/>
            <a:ext cx="990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 b="1">
                <a:solidFill>
                  <a:srgbClr val="3A48B5"/>
                </a:solidFill>
                <a:latin typeface="Aptos" panose="020B0004020202020204" pitchFamily="34" charset="0"/>
              </a:rPr>
              <a:t>Current read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E5D571-5FDE-BE21-B1EA-B1D227BBA023}"/>
              </a:ext>
            </a:extLst>
          </p:cNvPr>
          <p:cNvSpPr txBox="1"/>
          <p:nvPr/>
        </p:nvSpPr>
        <p:spPr>
          <a:xfrm>
            <a:off x="939800" y="5664200"/>
            <a:ext cx="100584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600" b="1">
                <a:solidFill>
                  <a:srgbClr val="111111"/>
                </a:solidFill>
                <a:latin typeface="Aptos" panose="020B0004020202020204" pitchFamily="34" charset="0"/>
              </a:rPr>
              <a:t>France is the only market with explicit platform green lights in the source note: Google and Meta.</a:t>
            </a:r>
          </a:p>
        </p:txBody>
      </p:sp>
    </p:spTree>
    <p:extLst>
      <p:ext uri="{BB962C8B-B14F-4D97-AF65-F5344CB8AC3E}">
        <p14:creationId xmlns:p14="http://schemas.microsoft.com/office/powerpoint/2010/main" val="2617425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93A501-5A43-CCE8-BE63-0F97C9F45402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3A48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7031A9-2560-C3CF-A5E9-8D3C1CE0C029}"/>
              </a:ext>
            </a:extLst>
          </p:cNvPr>
          <p:cNvSpPr txBox="1"/>
          <p:nvPr/>
        </p:nvSpPr>
        <p:spPr>
          <a:xfrm>
            <a:off x="660400" y="508000"/>
            <a:ext cx="6858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2400" b="1">
                <a:solidFill>
                  <a:srgbClr val="111111"/>
                </a:solidFill>
                <a:latin typeface="Aptos" panose="020B0004020202020204" pitchFamily="34" charset="0"/>
              </a:rPr>
              <a:t>MARKET STATUS: AUSTRALIA TO FRANCE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4E2018-F6C2-9D59-FF93-0BD1B8DCF372}"/>
              </a:ext>
            </a:extLst>
          </p:cNvPr>
          <p:cNvSpPr txBox="1"/>
          <p:nvPr/>
        </p:nvSpPr>
        <p:spPr>
          <a:xfrm>
            <a:off x="660400" y="889000"/>
            <a:ext cx="5588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>
                <a:solidFill>
                  <a:srgbClr val="6B6B6B"/>
                </a:solidFill>
                <a:latin typeface="Aptos" panose="020B0004020202020204" pitchFamily="34" charset="0"/>
              </a:rPr>
              <a:t>Client ask answered with explicit platform confirmation only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1423D4-469D-D609-AF76-18DFF8426FA0}"/>
              </a:ext>
            </a:extLst>
          </p:cNvPr>
          <p:cNvSpPr txBox="1"/>
          <p:nvPr/>
        </p:nvSpPr>
        <p:spPr>
          <a:xfrm>
            <a:off x="660400" y="1219200"/>
            <a:ext cx="1473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000" b="1">
                <a:solidFill>
                  <a:srgbClr val="3A48B5"/>
                </a:solidFill>
                <a:latin typeface="Aptos" panose="020B0004020202020204" pitchFamily="34" charset="0"/>
              </a:rPr>
              <a:t>MARKET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52B4F8-F085-B1D2-DC19-8CB4348D4290}"/>
              </a:ext>
            </a:extLst>
          </p:cNvPr>
          <p:cNvSpPr txBox="1"/>
          <p:nvPr/>
        </p:nvSpPr>
        <p:spPr>
          <a:xfrm>
            <a:off x="2311400" y="1219200"/>
            <a:ext cx="2159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000" b="1">
                <a:solidFill>
                  <a:srgbClr val="3A48B5"/>
                </a:solidFill>
                <a:latin typeface="Aptos" panose="020B0004020202020204" pitchFamily="34" charset="0"/>
              </a:rPr>
              <a:t>GREEN LIGHT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A82E83-676E-7911-06D9-C3BCF720E4C2}"/>
              </a:ext>
            </a:extLst>
          </p:cNvPr>
          <p:cNvSpPr txBox="1"/>
          <p:nvPr/>
        </p:nvSpPr>
        <p:spPr>
          <a:xfrm>
            <a:off x="4648200" y="1219200"/>
            <a:ext cx="1549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000" b="1">
                <a:solidFill>
                  <a:srgbClr val="3A48B5"/>
                </a:solidFill>
                <a:latin typeface="Aptos" panose="020B0004020202020204" pitchFamily="34" charset="0"/>
              </a:rPr>
              <a:t>STATUS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0B04A8-90AD-7076-24C3-EA5DF52395E7}"/>
              </a:ext>
            </a:extLst>
          </p:cNvPr>
          <p:cNvSpPr txBox="1"/>
          <p:nvPr/>
        </p:nvSpPr>
        <p:spPr>
          <a:xfrm>
            <a:off x="6375400" y="1219200"/>
            <a:ext cx="2590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000" b="1">
                <a:solidFill>
                  <a:srgbClr val="3A48B5"/>
                </a:solidFill>
                <a:latin typeface="Aptos" panose="020B0004020202020204" pitchFamily="34" charset="0"/>
              </a:rPr>
              <a:t>KEY POINT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E4E490-9090-F901-807E-D0D1A7569789}"/>
              </a:ext>
            </a:extLst>
          </p:cNvPr>
          <p:cNvSpPr txBox="1"/>
          <p:nvPr/>
        </p:nvSpPr>
        <p:spPr>
          <a:xfrm>
            <a:off x="9144000" y="1219200"/>
            <a:ext cx="2387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000" b="1">
                <a:solidFill>
                  <a:srgbClr val="3A48B5"/>
                </a:solidFill>
                <a:latin typeface="Aptos" panose="020B0004020202020204" pitchFamily="34" charset="0"/>
              </a:rPr>
              <a:t>NEXT STEP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7CF8BF6-144D-BF51-D74F-4DC2BB3EBF37}"/>
              </a:ext>
            </a:extLst>
          </p:cNvPr>
          <p:cNvSpPr/>
          <p:nvPr/>
        </p:nvSpPr>
        <p:spPr>
          <a:xfrm>
            <a:off x="558800" y="1549400"/>
            <a:ext cx="110744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E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BCEE40-8064-36D0-27AF-2A8DF1F7D117}"/>
              </a:ext>
            </a:extLst>
          </p:cNvPr>
          <p:cNvSpPr txBox="1"/>
          <p:nvPr/>
        </p:nvSpPr>
        <p:spPr>
          <a:xfrm>
            <a:off x="711200" y="1778000"/>
            <a:ext cx="1422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500" b="1">
                <a:solidFill>
                  <a:srgbClr val="111111"/>
                </a:solidFill>
                <a:latin typeface="Aptos" panose="020B0004020202020204" pitchFamily="34" charset="0"/>
              </a:rPr>
              <a:t>Australia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39AFA8-17F4-0CE2-3895-BF3C737457FE}"/>
              </a:ext>
            </a:extLst>
          </p:cNvPr>
          <p:cNvSpPr txBox="1"/>
          <p:nvPr/>
        </p:nvSpPr>
        <p:spPr>
          <a:xfrm>
            <a:off x="2311400" y="1701800"/>
            <a:ext cx="2159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400">
                <a:solidFill>
                  <a:srgbClr val="6B6B6B"/>
                </a:solidFill>
                <a:latin typeface="Aptos" panose="020B0004020202020204" pitchFamily="34" charset="0"/>
              </a:rPr>
              <a:t>None confirmed yet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843ED14-1460-B66A-56D9-0C7C5C9EB6D1}"/>
              </a:ext>
            </a:extLst>
          </p:cNvPr>
          <p:cNvSpPr/>
          <p:nvPr/>
        </p:nvSpPr>
        <p:spPr>
          <a:xfrm>
            <a:off x="4648200" y="1778000"/>
            <a:ext cx="1422400" cy="279400"/>
          </a:xfrm>
          <a:prstGeom prst="roundRect">
            <a:avLst/>
          </a:prstGeom>
          <a:solidFill>
            <a:srgbClr val="3327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ED1424-422B-D1AB-26A1-62F13C98A8C4}"/>
              </a:ext>
            </a:extLst>
          </p:cNvPr>
          <p:cNvSpPr txBox="1"/>
          <p:nvPr/>
        </p:nvSpPr>
        <p:spPr>
          <a:xfrm>
            <a:off x="4775200" y="1828800"/>
            <a:ext cx="11938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900" b="1">
                <a:solidFill>
                  <a:srgbClr val="FFFFFF"/>
                </a:solidFill>
                <a:latin typeface="Aptos" panose="020B0004020202020204" pitchFamily="34" charset="0"/>
              </a:rPr>
              <a:t>IN PROGRESS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FC4340-D99B-616D-584F-29F5293B1C10}"/>
              </a:ext>
            </a:extLst>
          </p:cNvPr>
          <p:cNvSpPr txBox="1"/>
          <p:nvPr/>
        </p:nvSpPr>
        <p:spPr>
          <a:xfrm>
            <a:off x="6375400" y="1689100"/>
            <a:ext cx="2590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>
                <a:solidFill>
                  <a:srgbClr val="111111"/>
                </a:solidFill>
                <a:latin typeface="Aptos" panose="020B0004020202020204" pitchFamily="34" charset="0"/>
              </a:rPr>
              <a:t>UTM mismatches between GA4 and 1R; placements missing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08D282-35FD-C814-EB27-B671D4DCCDBD}"/>
              </a:ext>
            </a:extLst>
          </p:cNvPr>
          <p:cNvSpPr txBox="1"/>
          <p:nvPr/>
        </p:nvSpPr>
        <p:spPr>
          <a:xfrm>
            <a:off x="9144000" y="1689100"/>
            <a:ext cx="2209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>
                <a:solidFill>
                  <a:srgbClr val="111111"/>
                </a:solidFill>
                <a:latin typeface="Aptos" panose="020B0004020202020204" pitchFamily="34" charset="0"/>
              </a:rPr>
              <a:t>Fix UTMs and resolve access gaps by 21 Apr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8B8E4D6-1CA6-132B-7F72-2589B49FFEA4}"/>
              </a:ext>
            </a:extLst>
          </p:cNvPr>
          <p:cNvSpPr/>
          <p:nvPr/>
        </p:nvSpPr>
        <p:spPr>
          <a:xfrm>
            <a:off x="558800" y="2463800"/>
            <a:ext cx="110744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E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5D5F66-E12C-3A2E-AD3E-B9A0A5A80AAB}"/>
              </a:ext>
            </a:extLst>
          </p:cNvPr>
          <p:cNvSpPr txBox="1"/>
          <p:nvPr/>
        </p:nvSpPr>
        <p:spPr>
          <a:xfrm>
            <a:off x="711200" y="2692400"/>
            <a:ext cx="1422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500" b="1">
                <a:solidFill>
                  <a:srgbClr val="111111"/>
                </a:solidFill>
                <a:latin typeface="Aptos" panose="020B0004020202020204" pitchFamily="34" charset="0"/>
              </a:rPr>
              <a:t>Portugal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4E6F03-0806-0B30-44FB-BBB6DAD0841C}"/>
              </a:ext>
            </a:extLst>
          </p:cNvPr>
          <p:cNvSpPr txBox="1"/>
          <p:nvPr/>
        </p:nvSpPr>
        <p:spPr>
          <a:xfrm>
            <a:off x="2311400" y="2616200"/>
            <a:ext cx="2159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400">
                <a:solidFill>
                  <a:srgbClr val="6B6B6B"/>
                </a:solidFill>
                <a:latin typeface="Aptos" panose="020B0004020202020204" pitchFamily="34" charset="0"/>
              </a:rPr>
              <a:t>None confirmed yet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3C59E43-F9AD-F618-F7E7-8D2AF1755A9C}"/>
              </a:ext>
            </a:extLst>
          </p:cNvPr>
          <p:cNvSpPr/>
          <p:nvPr/>
        </p:nvSpPr>
        <p:spPr>
          <a:xfrm>
            <a:off x="4648200" y="2692400"/>
            <a:ext cx="1422400" cy="279400"/>
          </a:xfrm>
          <a:prstGeom prst="roundRect">
            <a:avLst/>
          </a:prstGeom>
          <a:solidFill>
            <a:srgbClr val="3A48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186AA7-7B0D-6073-D96C-C01C6615FEF4}"/>
              </a:ext>
            </a:extLst>
          </p:cNvPr>
          <p:cNvSpPr txBox="1"/>
          <p:nvPr/>
        </p:nvSpPr>
        <p:spPr>
          <a:xfrm>
            <a:off x="4775200" y="2743200"/>
            <a:ext cx="11938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900" b="1">
                <a:solidFill>
                  <a:srgbClr val="FFFFFF"/>
                </a:solidFill>
                <a:latin typeface="Aptos" panose="020B0004020202020204" pitchFamily="34" charset="0"/>
              </a:rPr>
              <a:t>NO RESPONSE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606F5B-86C3-2A08-3219-5E80405EBD79}"/>
              </a:ext>
            </a:extLst>
          </p:cNvPr>
          <p:cNvSpPr txBox="1"/>
          <p:nvPr/>
        </p:nvSpPr>
        <p:spPr>
          <a:xfrm>
            <a:off x="6375400" y="2603500"/>
            <a:ext cx="2590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>
                <a:solidFill>
                  <a:srgbClr val="111111"/>
                </a:solidFill>
                <a:latin typeface="Aptos" panose="020B0004020202020204" pitchFamily="34" charset="0"/>
              </a:rPr>
              <a:t>DV360 missing from GA4 and 1R; market has not replied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AC6B74-34BF-CD87-0C12-0F6E070990B6}"/>
              </a:ext>
            </a:extLst>
          </p:cNvPr>
          <p:cNvSpPr txBox="1"/>
          <p:nvPr/>
        </p:nvSpPr>
        <p:spPr>
          <a:xfrm>
            <a:off x="9144000" y="2603500"/>
            <a:ext cx="2209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>
                <a:solidFill>
                  <a:srgbClr val="111111"/>
                </a:solidFill>
                <a:latin typeface="Aptos" panose="020B0004020202020204" pitchFamily="34" charset="0"/>
              </a:rPr>
              <a:t>Escalate and secure response before deadline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32E8B1B-6BBF-6764-87E4-85E74BC3D0FD}"/>
              </a:ext>
            </a:extLst>
          </p:cNvPr>
          <p:cNvSpPr/>
          <p:nvPr/>
        </p:nvSpPr>
        <p:spPr>
          <a:xfrm>
            <a:off x="558800" y="3378200"/>
            <a:ext cx="110744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E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05EF01-27D2-305D-84E6-746162BB4758}"/>
              </a:ext>
            </a:extLst>
          </p:cNvPr>
          <p:cNvSpPr txBox="1"/>
          <p:nvPr/>
        </p:nvSpPr>
        <p:spPr>
          <a:xfrm>
            <a:off x="711200" y="3606800"/>
            <a:ext cx="1422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500" b="1">
                <a:solidFill>
                  <a:srgbClr val="111111"/>
                </a:solidFill>
                <a:latin typeface="Aptos" panose="020B0004020202020204" pitchFamily="34" charset="0"/>
              </a:rPr>
              <a:t>UK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B84E84-F087-C055-BB97-C7A03B23AB87}"/>
              </a:ext>
            </a:extLst>
          </p:cNvPr>
          <p:cNvSpPr txBox="1"/>
          <p:nvPr/>
        </p:nvSpPr>
        <p:spPr>
          <a:xfrm>
            <a:off x="2311400" y="3530600"/>
            <a:ext cx="2159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400">
                <a:solidFill>
                  <a:srgbClr val="6B6B6B"/>
                </a:solidFill>
                <a:latin typeface="Aptos" panose="020B0004020202020204" pitchFamily="34" charset="0"/>
              </a:rPr>
              <a:t>None confirmed yet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368E76D-198D-07BB-9BB8-79BEEBA525B4}"/>
              </a:ext>
            </a:extLst>
          </p:cNvPr>
          <p:cNvSpPr/>
          <p:nvPr/>
        </p:nvSpPr>
        <p:spPr>
          <a:xfrm>
            <a:off x="4648200" y="3606800"/>
            <a:ext cx="1422400" cy="279400"/>
          </a:xfrm>
          <a:prstGeom prst="roundRect">
            <a:avLst/>
          </a:prstGeom>
          <a:solidFill>
            <a:srgbClr val="3327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5807CC-620E-CFE1-A75A-AD3710102B21}"/>
              </a:ext>
            </a:extLst>
          </p:cNvPr>
          <p:cNvSpPr txBox="1"/>
          <p:nvPr/>
        </p:nvSpPr>
        <p:spPr>
          <a:xfrm>
            <a:off x="4775200" y="3657600"/>
            <a:ext cx="11938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900" b="1">
                <a:solidFill>
                  <a:srgbClr val="FFFFFF"/>
                </a:solidFill>
                <a:latin typeface="Aptos" panose="020B0004020202020204" pitchFamily="34" charset="0"/>
              </a:rPr>
              <a:t>IN PROGRESS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03FF39-8CD9-942B-4C91-733FCC06202D}"/>
              </a:ext>
            </a:extLst>
          </p:cNvPr>
          <p:cNvSpPr txBox="1"/>
          <p:nvPr/>
        </p:nvSpPr>
        <p:spPr>
          <a:xfrm>
            <a:off x="6375400" y="3517900"/>
            <a:ext cx="2590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>
                <a:solidFill>
                  <a:srgbClr val="111111"/>
                </a:solidFill>
                <a:latin typeface="Aptos" panose="020B0004020202020204" pitchFamily="34" charset="0"/>
              </a:rPr>
              <a:t>Amazon and Always-on not in Planit; AV team builder issue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30BBD5-EB38-87AC-9E2A-B9755BEE4ABD}"/>
              </a:ext>
            </a:extLst>
          </p:cNvPr>
          <p:cNvSpPr txBox="1"/>
          <p:nvPr/>
        </p:nvSpPr>
        <p:spPr>
          <a:xfrm>
            <a:off x="9144000" y="3517900"/>
            <a:ext cx="2209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>
                <a:solidFill>
                  <a:srgbClr val="111111"/>
                </a:solidFill>
                <a:latin typeface="Aptos" panose="020B0004020202020204" pitchFamily="34" charset="0"/>
              </a:rPr>
              <a:t>Fix non-Hive campaigns and confirm compliance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CF1B3C9-66A3-5884-F2CE-CA21AAB39DDA}"/>
              </a:ext>
            </a:extLst>
          </p:cNvPr>
          <p:cNvSpPr/>
          <p:nvPr/>
        </p:nvSpPr>
        <p:spPr>
          <a:xfrm>
            <a:off x="558800" y="4292600"/>
            <a:ext cx="110744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E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35D2DD2-E740-AA41-F3FF-249B72E469A3}"/>
              </a:ext>
            </a:extLst>
          </p:cNvPr>
          <p:cNvSpPr txBox="1"/>
          <p:nvPr/>
        </p:nvSpPr>
        <p:spPr>
          <a:xfrm>
            <a:off x="711200" y="4521200"/>
            <a:ext cx="1422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500" b="1">
                <a:solidFill>
                  <a:srgbClr val="111111"/>
                </a:solidFill>
                <a:latin typeface="Aptos" panose="020B0004020202020204" pitchFamily="34" charset="0"/>
              </a:rPr>
              <a:t>MENA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3D0252-C8A7-E2FB-6EA0-2B7AC97ACD01}"/>
              </a:ext>
            </a:extLst>
          </p:cNvPr>
          <p:cNvSpPr txBox="1"/>
          <p:nvPr/>
        </p:nvSpPr>
        <p:spPr>
          <a:xfrm>
            <a:off x="2311400" y="4445000"/>
            <a:ext cx="2159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400" b="1">
                <a:solidFill>
                  <a:srgbClr val="5B8E3E"/>
                </a:solidFill>
                <a:latin typeface="Aptos" panose="020B0004020202020204" pitchFamily="34" charset="0"/>
              </a:rPr>
              <a:t>Scoped out correctly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B3999D4-26FC-BFEF-0AE5-6B61FB8D4AE4}"/>
              </a:ext>
            </a:extLst>
          </p:cNvPr>
          <p:cNvSpPr/>
          <p:nvPr/>
        </p:nvSpPr>
        <p:spPr>
          <a:xfrm>
            <a:off x="4648200" y="4521200"/>
            <a:ext cx="1422400" cy="279400"/>
          </a:xfrm>
          <a:prstGeom prst="roundRect">
            <a:avLst/>
          </a:prstGeom>
          <a:solidFill>
            <a:srgbClr val="5B8E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7406D6-2D7E-4CF9-B060-C137615565B4}"/>
              </a:ext>
            </a:extLst>
          </p:cNvPr>
          <p:cNvSpPr txBox="1"/>
          <p:nvPr/>
        </p:nvSpPr>
        <p:spPr>
          <a:xfrm>
            <a:off x="4775200" y="4572000"/>
            <a:ext cx="11938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900" b="1">
                <a:solidFill>
                  <a:srgbClr val="FFFFFF"/>
                </a:solidFill>
                <a:latin typeface="Aptos" panose="020B0004020202020204" pitchFamily="34" charset="0"/>
              </a:rPr>
              <a:t>RESOLVED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2B963C-D008-EE48-1AFC-EF5C3FCD04DC}"/>
              </a:ext>
            </a:extLst>
          </p:cNvPr>
          <p:cNvSpPr txBox="1"/>
          <p:nvPr/>
        </p:nvSpPr>
        <p:spPr>
          <a:xfrm>
            <a:off x="6375400" y="4432300"/>
            <a:ext cx="2590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>
                <a:solidFill>
                  <a:srgbClr val="111111"/>
                </a:solidFill>
                <a:latin typeface="Aptos" panose="020B0004020202020204" pitchFamily="34" charset="0"/>
              </a:rPr>
              <a:t>No active PME campaigns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6141AB-95BB-E5F9-7EBA-CA4ECB139159}"/>
              </a:ext>
            </a:extLst>
          </p:cNvPr>
          <p:cNvSpPr txBox="1"/>
          <p:nvPr/>
        </p:nvSpPr>
        <p:spPr>
          <a:xfrm>
            <a:off x="9144000" y="4432300"/>
            <a:ext cx="2209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>
                <a:solidFill>
                  <a:srgbClr val="111111"/>
                </a:solidFill>
                <a:latin typeface="Aptos" panose="020B0004020202020204" pitchFamily="34" charset="0"/>
              </a:rPr>
              <a:t>Monitor only; use new builder when live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9E2DA92-EA57-F68A-92A8-2A09FC7575B8}"/>
              </a:ext>
            </a:extLst>
          </p:cNvPr>
          <p:cNvSpPr/>
          <p:nvPr/>
        </p:nvSpPr>
        <p:spPr>
          <a:xfrm>
            <a:off x="558800" y="5207000"/>
            <a:ext cx="110744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E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A2EF9A-AD8D-2EB8-EA69-A4CB6860612F}"/>
              </a:ext>
            </a:extLst>
          </p:cNvPr>
          <p:cNvSpPr txBox="1"/>
          <p:nvPr/>
        </p:nvSpPr>
        <p:spPr>
          <a:xfrm>
            <a:off x="711200" y="5435600"/>
            <a:ext cx="1422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500" b="1">
                <a:solidFill>
                  <a:srgbClr val="111111"/>
                </a:solidFill>
                <a:latin typeface="Aptos" panose="020B0004020202020204" pitchFamily="34" charset="0"/>
              </a:rPr>
              <a:t>South Korea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D6C7F7A-0E5A-44A9-BD52-2200E04459C9}"/>
              </a:ext>
            </a:extLst>
          </p:cNvPr>
          <p:cNvSpPr txBox="1"/>
          <p:nvPr/>
        </p:nvSpPr>
        <p:spPr>
          <a:xfrm>
            <a:off x="2311400" y="5359400"/>
            <a:ext cx="2159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400">
                <a:solidFill>
                  <a:srgbClr val="6B6B6B"/>
                </a:solidFill>
                <a:latin typeface="Aptos" panose="020B0004020202020204" pitchFamily="34" charset="0"/>
              </a:rPr>
              <a:t>None confirmed yet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9F03B97-52DD-3EE9-56D7-48AA703DCAE6}"/>
              </a:ext>
            </a:extLst>
          </p:cNvPr>
          <p:cNvSpPr/>
          <p:nvPr/>
        </p:nvSpPr>
        <p:spPr>
          <a:xfrm>
            <a:off x="4648200" y="5435600"/>
            <a:ext cx="1422400" cy="279400"/>
          </a:xfrm>
          <a:prstGeom prst="roundRect">
            <a:avLst/>
          </a:prstGeom>
          <a:solidFill>
            <a:srgbClr val="3A48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CE01528-7E2C-4D4C-57E0-18A216529DE0}"/>
              </a:ext>
            </a:extLst>
          </p:cNvPr>
          <p:cNvSpPr txBox="1"/>
          <p:nvPr/>
        </p:nvSpPr>
        <p:spPr>
          <a:xfrm>
            <a:off x="4775200" y="5486400"/>
            <a:ext cx="11938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900" b="1">
                <a:solidFill>
                  <a:srgbClr val="FFFFFF"/>
                </a:solidFill>
                <a:latin typeface="Aptos" panose="020B0004020202020204" pitchFamily="34" charset="0"/>
              </a:rPr>
              <a:t>BLOCKED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819398-BE14-6071-B8F0-CFEF07F98BEA}"/>
              </a:ext>
            </a:extLst>
          </p:cNvPr>
          <p:cNvSpPr txBox="1"/>
          <p:nvPr/>
        </p:nvSpPr>
        <p:spPr>
          <a:xfrm>
            <a:off x="6375400" y="5346700"/>
            <a:ext cx="2590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>
                <a:solidFill>
                  <a:srgbClr val="111111"/>
                </a:solidFill>
                <a:latin typeface="Aptos" panose="020B0004020202020204" pitchFamily="34" charset="0"/>
              </a:rPr>
              <a:t>Ingestion feasibility unconfirmed; validation not possible yet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09E33D-38AC-80A2-8B72-D384A497519C}"/>
              </a:ext>
            </a:extLst>
          </p:cNvPr>
          <p:cNvSpPr txBox="1"/>
          <p:nvPr/>
        </p:nvSpPr>
        <p:spPr>
          <a:xfrm>
            <a:off x="9144000" y="5346700"/>
            <a:ext cx="2209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>
                <a:solidFill>
                  <a:srgbClr val="111111"/>
                </a:solidFill>
                <a:latin typeface="Aptos" panose="020B0004020202020204" pitchFamily="34" charset="0"/>
              </a:rPr>
              <a:t>Market response and ingestion check required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230E59A-914B-C76C-A6DF-673C7E01ED1F}"/>
              </a:ext>
            </a:extLst>
          </p:cNvPr>
          <p:cNvSpPr/>
          <p:nvPr/>
        </p:nvSpPr>
        <p:spPr>
          <a:xfrm>
            <a:off x="558800" y="6121400"/>
            <a:ext cx="110744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E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D62AC4-3327-B8A5-2A69-FD39D40651ED}"/>
              </a:ext>
            </a:extLst>
          </p:cNvPr>
          <p:cNvSpPr txBox="1"/>
          <p:nvPr/>
        </p:nvSpPr>
        <p:spPr>
          <a:xfrm>
            <a:off x="711200" y="6350000"/>
            <a:ext cx="1422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500" b="1">
                <a:solidFill>
                  <a:srgbClr val="111111"/>
                </a:solidFill>
                <a:latin typeface="Aptos" panose="020B0004020202020204" pitchFamily="34" charset="0"/>
              </a:rPr>
              <a:t>France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0FBBC6A-A278-9DB2-B254-0D48DB9CF4ED}"/>
              </a:ext>
            </a:extLst>
          </p:cNvPr>
          <p:cNvSpPr txBox="1"/>
          <p:nvPr/>
        </p:nvSpPr>
        <p:spPr>
          <a:xfrm>
            <a:off x="2311400" y="6273800"/>
            <a:ext cx="2159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400" b="1">
                <a:solidFill>
                  <a:srgbClr val="5B8E3E"/>
                </a:solidFill>
                <a:latin typeface="Aptos" panose="020B0004020202020204" pitchFamily="34" charset="0"/>
              </a:rPr>
              <a:t>Google, Meta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41E9C8B-7928-4081-E8C7-9D4B0B350302}"/>
              </a:ext>
            </a:extLst>
          </p:cNvPr>
          <p:cNvSpPr/>
          <p:nvPr/>
        </p:nvSpPr>
        <p:spPr>
          <a:xfrm>
            <a:off x="4648200" y="6350000"/>
            <a:ext cx="1422400" cy="279400"/>
          </a:xfrm>
          <a:prstGeom prst="roundRect">
            <a:avLst/>
          </a:prstGeom>
          <a:solidFill>
            <a:srgbClr val="3327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4CA92F-6834-A0AF-962A-C4695DF18044}"/>
              </a:ext>
            </a:extLst>
          </p:cNvPr>
          <p:cNvSpPr txBox="1"/>
          <p:nvPr/>
        </p:nvSpPr>
        <p:spPr>
          <a:xfrm>
            <a:off x="4775200" y="6400800"/>
            <a:ext cx="11938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900" b="1">
                <a:solidFill>
                  <a:srgbClr val="FFFFFF"/>
                </a:solidFill>
                <a:latin typeface="Aptos" panose="020B0004020202020204" pitchFamily="34" charset="0"/>
              </a:rPr>
              <a:t>IN PROGRESS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54850E1-1BAB-EF64-FBCE-53207AD72D0D}"/>
              </a:ext>
            </a:extLst>
          </p:cNvPr>
          <p:cNvSpPr txBox="1"/>
          <p:nvPr/>
        </p:nvSpPr>
        <p:spPr>
          <a:xfrm>
            <a:off x="6375400" y="6261100"/>
            <a:ext cx="2590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>
                <a:solidFill>
                  <a:srgbClr val="111111"/>
                </a:solidFill>
                <a:latin typeface="Aptos" panose="020B0004020202020204" pitchFamily="34" charset="0"/>
              </a:rPr>
              <a:t>Platforms implemented; March validation still pending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BE3F6FA-D491-F9DD-CBE7-775A6FC42514}"/>
              </a:ext>
            </a:extLst>
          </p:cNvPr>
          <p:cNvSpPr txBox="1"/>
          <p:nvPr/>
        </p:nvSpPr>
        <p:spPr>
          <a:xfrm>
            <a:off x="9144000" y="6261100"/>
            <a:ext cx="2209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>
                <a:solidFill>
                  <a:srgbClr val="111111"/>
                </a:solidFill>
                <a:latin typeface="Aptos" panose="020B0004020202020204" pitchFamily="34" charset="0"/>
              </a:rPr>
              <a:t>Run March extract and close if aligned</a:t>
            </a:r>
          </a:p>
        </p:txBody>
      </p:sp>
    </p:spTree>
    <p:extLst>
      <p:ext uri="{BB962C8B-B14F-4D97-AF65-F5344CB8AC3E}">
        <p14:creationId xmlns:p14="http://schemas.microsoft.com/office/powerpoint/2010/main" val="1734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1446BE-DF76-7972-FFC3-1DA873C26F45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3A48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0D3189-FCC7-00B3-2FC4-5113FD8C1D65}"/>
              </a:ext>
            </a:extLst>
          </p:cNvPr>
          <p:cNvSpPr txBox="1"/>
          <p:nvPr/>
        </p:nvSpPr>
        <p:spPr>
          <a:xfrm>
            <a:off x="660400" y="508000"/>
            <a:ext cx="6858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2400" b="1">
                <a:solidFill>
                  <a:srgbClr val="111111"/>
                </a:solidFill>
                <a:latin typeface="Aptos" panose="020B0004020202020204" pitchFamily="34" charset="0"/>
              </a:rPr>
              <a:t>MARKET STATUS: SWITZERLAND TO LATAM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F763D1-039C-AFD0-399E-F1031A49CC9B}"/>
              </a:ext>
            </a:extLst>
          </p:cNvPr>
          <p:cNvSpPr txBox="1"/>
          <p:nvPr/>
        </p:nvSpPr>
        <p:spPr>
          <a:xfrm>
            <a:off x="660400" y="889000"/>
            <a:ext cx="5588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>
                <a:solidFill>
                  <a:srgbClr val="6B6B6B"/>
                </a:solidFill>
                <a:latin typeface="Aptos" panose="020B0004020202020204" pitchFamily="34" charset="0"/>
              </a:rPr>
              <a:t>Client ask answered with explicit platform confirmation only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96D739-82A3-E107-A330-787B15F94FB3}"/>
              </a:ext>
            </a:extLst>
          </p:cNvPr>
          <p:cNvSpPr txBox="1"/>
          <p:nvPr/>
        </p:nvSpPr>
        <p:spPr>
          <a:xfrm>
            <a:off x="660400" y="1219200"/>
            <a:ext cx="1473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000" b="1">
                <a:solidFill>
                  <a:srgbClr val="3A48B5"/>
                </a:solidFill>
                <a:latin typeface="Aptos" panose="020B0004020202020204" pitchFamily="34" charset="0"/>
              </a:rPr>
              <a:t>MARKET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222F2F-D8BD-6A09-EB86-7CCB49D166A2}"/>
              </a:ext>
            </a:extLst>
          </p:cNvPr>
          <p:cNvSpPr txBox="1"/>
          <p:nvPr/>
        </p:nvSpPr>
        <p:spPr>
          <a:xfrm>
            <a:off x="2311400" y="1219200"/>
            <a:ext cx="2159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000" b="1">
                <a:solidFill>
                  <a:srgbClr val="3A48B5"/>
                </a:solidFill>
                <a:latin typeface="Aptos" panose="020B0004020202020204" pitchFamily="34" charset="0"/>
              </a:rPr>
              <a:t>GREEN LIGHT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ECD8B6-B8AE-01E5-6970-8CBADD156624}"/>
              </a:ext>
            </a:extLst>
          </p:cNvPr>
          <p:cNvSpPr txBox="1"/>
          <p:nvPr/>
        </p:nvSpPr>
        <p:spPr>
          <a:xfrm>
            <a:off x="4648200" y="1219200"/>
            <a:ext cx="1549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000" b="1">
                <a:solidFill>
                  <a:srgbClr val="3A48B5"/>
                </a:solidFill>
                <a:latin typeface="Aptos" panose="020B0004020202020204" pitchFamily="34" charset="0"/>
              </a:rPr>
              <a:t>STATUS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7BA168-BA00-63C4-95D2-5519A6AC44CA}"/>
              </a:ext>
            </a:extLst>
          </p:cNvPr>
          <p:cNvSpPr txBox="1"/>
          <p:nvPr/>
        </p:nvSpPr>
        <p:spPr>
          <a:xfrm>
            <a:off x="6375400" y="1219200"/>
            <a:ext cx="2590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000" b="1">
                <a:solidFill>
                  <a:srgbClr val="3A48B5"/>
                </a:solidFill>
                <a:latin typeface="Aptos" panose="020B0004020202020204" pitchFamily="34" charset="0"/>
              </a:rPr>
              <a:t>KEY POINT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D93E12-2E86-E1AF-9F1E-73DA54D7D157}"/>
              </a:ext>
            </a:extLst>
          </p:cNvPr>
          <p:cNvSpPr txBox="1"/>
          <p:nvPr/>
        </p:nvSpPr>
        <p:spPr>
          <a:xfrm>
            <a:off x="9144000" y="1219200"/>
            <a:ext cx="2387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000" b="1">
                <a:solidFill>
                  <a:srgbClr val="3A48B5"/>
                </a:solidFill>
                <a:latin typeface="Aptos" panose="020B0004020202020204" pitchFamily="34" charset="0"/>
              </a:rPr>
              <a:t>NEXT STEP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5D9A1B2-FB25-ED6B-9020-16EDB4A8BC8B}"/>
              </a:ext>
            </a:extLst>
          </p:cNvPr>
          <p:cNvSpPr/>
          <p:nvPr/>
        </p:nvSpPr>
        <p:spPr>
          <a:xfrm>
            <a:off x="558800" y="1549400"/>
            <a:ext cx="110744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E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C47231-ED90-8700-5D7A-08EE89596BE2}"/>
              </a:ext>
            </a:extLst>
          </p:cNvPr>
          <p:cNvSpPr txBox="1"/>
          <p:nvPr/>
        </p:nvSpPr>
        <p:spPr>
          <a:xfrm>
            <a:off x="711200" y="1778000"/>
            <a:ext cx="1422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500" b="1">
                <a:solidFill>
                  <a:srgbClr val="111111"/>
                </a:solidFill>
                <a:latin typeface="Aptos" panose="020B0004020202020204" pitchFamily="34" charset="0"/>
              </a:rPr>
              <a:t>Switzerland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EB2969-6280-76DF-D221-0E6D80F7994C}"/>
              </a:ext>
            </a:extLst>
          </p:cNvPr>
          <p:cNvSpPr txBox="1"/>
          <p:nvPr/>
        </p:nvSpPr>
        <p:spPr>
          <a:xfrm>
            <a:off x="2311400" y="1701800"/>
            <a:ext cx="2159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400">
                <a:solidFill>
                  <a:srgbClr val="6B6B6B"/>
                </a:solidFill>
                <a:latin typeface="Aptos" panose="020B0004020202020204" pitchFamily="34" charset="0"/>
              </a:rPr>
              <a:t>None confirmed yet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3E9B576-7696-608B-8CBB-8FA6416B8C5B}"/>
              </a:ext>
            </a:extLst>
          </p:cNvPr>
          <p:cNvSpPr/>
          <p:nvPr/>
        </p:nvSpPr>
        <p:spPr>
          <a:xfrm>
            <a:off x="4648200" y="1778000"/>
            <a:ext cx="1422400" cy="279400"/>
          </a:xfrm>
          <a:prstGeom prst="roundRect">
            <a:avLst/>
          </a:prstGeom>
          <a:solidFill>
            <a:srgbClr val="3327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3B8C03-EE6C-DA03-0B2E-1EE801FA59B7}"/>
              </a:ext>
            </a:extLst>
          </p:cNvPr>
          <p:cNvSpPr txBox="1"/>
          <p:nvPr/>
        </p:nvSpPr>
        <p:spPr>
          <a:xfrm>
            <a:off x="4775200" y="1828800"/>
            <a:ext cx="11938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900" b="1">
                <a:solidFill>
                  <a:srgbClr val="FFFFFF"/>
                </a:solidFill>
                <a:latin typeface="Aptos" panose="020B0004020202020204" pitchFamily="34" charset="0"/>
              </a:rPr>
              <a:t>IN PROGRESS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EB673D-C515-C287-9787-235CF68425A9}"/>
              </a:ext>
            </a:extLst>
          </p:cNvPr>
          <p:cNvSpPr txBox="1"/>
          <p:nvPr/>
        </p:nvSpPr>
        <p:spPr>
          <a:xfrm>
            <a:off x="6375400" y="1689100"/>
            <a:ext cx="2590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>
                <a:solidFill>
                  <a:srgbClr val="111111"/>
                </a:solidFill>
                <a:latin typeface="Aptos" panose="020B0004020202020204" pitchFamily="34" charset="0"/>
              </a:rPr>
              <a:t>Placement IDs reused across multiple UTMs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C9F144-D77C-9201-24AB-3BD6C94ED855}"/>
              </a:ext>
            </a:extLst>
          </p:cNvPr>
          <p:cNvSpPr txBox="1"/>
          <p:nvPr/>
        </p:nvSpPr>
        <p:spPr>
          <a:xfrm>
            <a:off x="9144000" y="1689100"/>
            <a:ext cx="2209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>
                <a:solidFill>
                  <a:srgbClr val="111111"/>
                </a:solidFill>
                <a:latin typeface="Aptos" panose="020B0004020202020204" pitchFamily="34" charset="0"/>
              </a:rPr>
              <a:t>Restore 1:1 UTM-to-placement mapping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DE5E630-3C5D-7AC5-2421-D5B981693EA7}"/>
              </a:ext>
            </a:extLst>
          </p:cNvPr>
          <p:cNvSpPr/>
          <p:nvPr/>
        </p:nvSpPr>
        <p:spPr>
          <a:xfrm>
            <a:off x="558800" y="2463800"/>
            <a:ext cx="110744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E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040878-B265-B841-7DE0-23CD4DC1EFD3}"/>
              </a:ext>
            </a:extLst>
          </p:cNvPr>
          <p:cNvSpPr txBox="1"/>
          <p:nvPr/>
        </p:nvSpPr>
        <p:spPr>
          <a:xfrm>
            <a:off x="711200" y="2692400"/>
            <a:ext cx="1422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500" b="1">
                <a:solidFill>
                  <a:srgbClr val="111111"/>
                </a:solidFill>
                <a:latin typeface="Aptos" panose="020B0004020202020204" pitchFamily="34" charset="0"/>
              </a:rPr>
              <a:t>Poland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1B02AE-79D8-C60A-BDF6-B088E501B451}"/>
              </a:ext>
            </a:extLst>
          </p:cNvPr>
          <p:cNvSpPr txBox="1"/>
          <p:nvPr/>
        </p:nvSpPr>
        <p:spPr>
          <a:xfrm>
            <a:off x="2311400" y="2616200"/>
            <a:ext cx="2159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400">
                <a:solidFill>
                  <a:srgbClr val="6B6B6B"/>
                </a:solidFill>
                <a:latin typeface="Aptos" panose="020B0004020202020204" pitchFamily="34" charset="0"/>
              </a:rPr>
              <a:t>None confirmed yet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ADF8EDF-7D2A-B4C6-7A64-FE5F3FEB6EC7}"/>
              </a:ext>
            </a:extLst>
          </p:cNvPr>
          <p:cNvSpPr/>
          <p:nvPr/>
        </p:nvSpPr>
        <p:spPr>
          <a:xfrm>
            <a:off x="4648200" y="2692400"/>
            <a:ext cx="1422400" cy="279400"/>
          </a:xfrm>
          <a:prstGeom prst="roundRect">
            <a:avLst/>
          </a:prstGeom>
          <a:solidFill>
            <a:srgbClr val="3327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42A127-6E97-079D-EF99-D80A4F27D782}"/>
              </a:ext>
            </a:extLst>
          </p:cNvPr>
          <p:cNvSpPr txBox="1"/>
          <p:nvPr/>
        </p:nvSpPr>
        <p:spPr>
          <a:xfrm>
            <a:off x="4775200" y="2743200"/>
            <a:ext cx="11938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900" b="1">
                <a:solidFill>
                  <a:srgbClr val="FFFFFF"/>
                </a:solidFill>
                <a:latin typeface="Aptos" panose="020B0004020202020204" pitchFamily="34" charset="0"/>
              </a:rPr>
              <a:t>IN PROGRESS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68C774-3839-A26D-54C0-F4154F155959}"/>
              </a:ext>
            </a:extLst>
          </p:cNvPr>
          <p:cNvSpPr txBox="1"/>
          <p:nvPr/>
        </p:nvSpPr>
        <p:spPr>
          <a:xfrm>
            <a:off x="6375400" y="2603500"/>
            <a:ext cx="2590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>
                <a:solidFill>
                  <a:srgbClr val="111111"/>
                </a:solidFill>
                <a:latin typeface="Aptos" panose="020B0004020202020204" pitchFamily="34" charset="0"/>
              </a:rPr>
              <a:t>Missing placement IDs; Social still on old UTMs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CB3C30-B7C1-08CA-C62D-1DB8E1BB6506}"/>
              </a:ext>
            </a:extLst>
          </p:cNvPr>
          <p:cNvSpPr txBox="1"/>
          <p:nvPr/>
        </p:nvSpPr>
        <p:spPr>
          <a:xfrm>
            <a:off x="9144000" y="2603500"/>
            <a:ext cx="2209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>
                <a:solidFill>
                  <a:srgbClr val="111111"/>
                </a:solidFill>
                <a:latin typeface="Aptos" panose="020B0004020202020204" pitchFamily="34" charset="0"/>
              </a:rPr>
              <a:t>Clarify retrofit policy and move April live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E9966C3-3B58-7EBB-CAB1-C2D0FD8C67CF}"/>
              </a:ext>
            </a:extLst>
          </p:cNvPr>
          <p:cNvSpPr/>
          <p:nvPr/>
        </p:nvSpPr>
        <p:spPr>
          <a:xfrm>
            <a:off x="558800" y="3378200"/>
            <a:ext cx="110744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E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1662CE-7732-A26B-275F-F559777AFE1C}"/>
              </a:ext>
            </a:extLst>
          </p:cNvPr>
          <p:cNvSpPr txBox="1"/>
          <p:nvPr/>
        </p:nvSpPr>
        <p:spPr>
          <a:xfrm>
            <a:off x="711200" y="3606800"/>
            <a:ext cx="1422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500" b="1">
                <a:solidFill>
                  <a:srgbClr val="111111"/>
                </a:solidFill>
                <a:latin typeface="Aptos" panose="020B0004020202020204" pitchFamily="34" charset="0"/>
              </a:rPr>
              <a:t>Norway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4F0E89-B720-2CC4-B828-DF42744B7DA3}"/>
              </a:ext>
            </a:extLst>
          </p:cNvPr>
          <p:cNvSpPr txBox="1"/>
          <p:nvPr/>
        </p:nvSpPr>
        <p:spPr>
          <a:xfrm>
            <a:off x="2311400" y="3530600"/>
            <a:ext cx="2159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400">
                <a:solidFill>
                  <a:srgbClr val="6B6B6B"/>
                </a:solidFill>
                <a:latin typeface="Aptos" panose="020B0004020202020204" pitchFamily="34" charset="0"/>
              </a:rPr>
              <a:t>None confirmed yet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790F68C-BC3D-C820-F0D7-3AAEE7F89E5E}"/>
              </a:ext>
            </a:extLst>
          </p:cNvPr>
          <p:cNvSpPr/>
          <p:nvPr/>
        </p:nvSpPr>
        <p:spPr>
          <a:xfrm>
            <a:off x="4648200" y="3606800"/>
            <a:ext cx="1422400" cy="279400"/>
          </a:xfrm>
          <a:prstGeom prst="roundRect">
            <a:avLst/>
          </a:prstGeom>
          <a:solidFill>
            <a:srgbClr val="1F8A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8B3E40-10D6-F49B-7569-93DB4539B478}"/>
              </a:ext>
            </a:extLst>
          </p:cNvPr>
          <p:cNvSpPr txBox="1"/>
          <p:nvPr/>
        </p:nvSpPr>
        <p:spPr>
          <a:xfrm>
            <a:off x="4775200" y="3657600"/>
            <a:ext cx="11938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900" b="1">
                <a:solidFill>
                  <a:srgbClr val="FFFFFF"/>
                </a:solidFill>
                <a:latin typeface="Aptos" panose="020B0004020202020204" pitchFamily="34" charset="0"/>
              </a:rPr>
              <a:t>NEEDS SETUP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562AF8-1DB6-E112-3911-84A80C6A9212}"/>
              </a:ext>
            </a:extLst>
          </p:cNvPr>
          <p:cNvSpPr txBox="1"/>
          <p:nvPr/>
        </p:nvSpPr>
        <p:spPr>
          <a:xfrm>
            <a:off x="6375400" y="3517900"/>
            <a:ext cx="2590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>
                <a:solidFill>
                  <a:srgbClr val="111111"/>
                </a:solidFill>
                <a:latin typeface="Aptos" panose="020B0004020202020204" pitchFamily="34" charset="0"/>
              </a:rPr>
              <a:t>No Planit schematic for Always 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8B13D0-290C-B6E9-795E-C1D69C028507}"/>
              </a:ext>
            </a:extLst>
          </p:cNvPr>
          <p:cNvSpPr txBox="1"/>
          <p:nvPr/>
        </p:nvSpPr>
        <p:spPr>
          <a:xfrm>
            <a:off x="9144000" y="3517900"/>
            <a:ext cx="2209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>
                <a:solidFill>
                  <a:srgbClr val="111111"/>
                </a:solidFill>
                <a:latin typeface="Aptos" panose="020B0004020202020204" pitchFamily="34" charset="0"/>
              </a:rPr>
              <a:t>Full setup required from scratch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74B1382-94F2-715C-DFA3-510E43C5549C}"/>
              </a:ext>
            </a:extLst>
          </p:cNvPr>
          <p:cNvSpPr/>
          <p:nvPr/>
        </p:nvSpPr>
        <p:spPr>
          <a:xfrm>
            <a:off x="558800" y="4292600"/>
            <a:ext cx="110744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E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110500-5173-C034-75BE-EABB0514EBAC}"/>
              </a:ext>
            </a:extLst>
          </p:cNvPr>
          <p:cNvSpPr txBox="1"/>
          <p:nvPr/>
        </p:nvSpPr>
        <p:spPr>
          <a:xfrm>
            <a:off x="711200" y="4521200"/>
            <a:ext cx="1422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500" b="1">
                <a:solidFill>
                  <a:srgbClr val="111111"/>
                </a:solidFill>
                <a:latin typeface="Aptos" panose="020B0004020202020204" pitchFamily="34" charset="0"/>
              </a:rPr>
              <a:t>PCEE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93EF27-D2C3-BFE4-BB7D-A8E645C99FCB}"/>
              </a:ext>
            </a:extLst>
          </p:cNvPr>
          <p:cNvSpPr txBox="1"/>
          <p:nvPr/>
        </p:nvSpPr>
        <p:spPr>
          <a:xfrm>
            <a:off x="2311400" y="4445000"/>
            <a:ext cx="2159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400">
                <a:solidFill>
                  <a:srgbClr val="6B6B6B"/>
                </a:solidFill>
                <a:latin typeface="Aptos" panose="020B0004020202020204" pitchFamily="34" charset="0"/>
              </a:rPr>
              <a:t>None confirmed yet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B232E5D-AA32-98FD-D070-22A9D45B3249}"/>
              </a:ext>
            </a:extLst>
          </p:cNvPr>
          <p:cNvSpPr/>
          <p:nvPr/>
        </p:nvSpPr>
        <p:spPr>
          <a:xfrm>
            <a:off x="4648200" y="4521200"/>
            <a:ext cx="1422400" cy="279400"/>
          </a:xfrm>
          <a:prstGeom prst="roundRect">
            <a:avLst/>
          </a:prstGeom>
          <a:solidFill>
            <a:srgbClr val="3327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A44662-EA48-3CEA-E365-FE4F37FF8CFB}"/>
              </a:ext>
            </a:extLst>
          </p:cNvPr>
          <p:cNvSpPr txBox="1"/>
          <p:nvPr/>
        </p:nvSpPr>
        <p:spPr>
          <a:xfrm>
            <a:off x="4775200" y="4572000"/>
            <a:ext cx="11938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900" b="1">
                <a:solidFill>
                  <a:srgbClr val="FFFFFF"/>
                </a:solidFill>
                <a:latin typeface="Aptos" panose="020B0004020202020204" pitchFamily="34" charset="0"/>
              </a:rPr>
              <a:t>IN PROGRESS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EE8E8C6-B02D-69E3-A775-D4E911C179EF}"/>
              </a:ext>
            </a:extLst>
          </p:cNvPr>
          <p:cNvSpPr txBox="1"/>
          <p:nvPr/>
        </p:nvSpPr>
        <p:spPr>
          <a:xfrm>
            <a:off x="6375400" y="4432300"/>
            <a:ext cx="2590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>
                <a:solidFill>
                  <a:srgbClr val="111111"/>
                </a:solidFill>
                <a:latin typeface="Aptos" panose="020B0004020202020204" pitchFamily="34" charset="0"/>
              </a:rPr>
              <a:t>Package-level UTMs used instead of placement-level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BCF363E-F7BF-8450-8FB7-BD2D6B483D30}"/>
              </a:ext>
            </a:extLst>
          </p:cNvPr>
          <p:cNvSpPr txBox="1"/>
          <p:nvPr/>
        </p:nvSpPr>
        <p:spPr>
          <a:xfrm>
            <a:off x="9144000" y="4432300"/>
            <a:ext cx="2209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>
                <a:solidFill>
                  <a:srgbClr val="111111"/>
                </a:solidFill>
                <a:latin typeface="Aptos" panose="020B0004020202020204" pitchFamily="34" charset="0"/>
              </a:rPr>
              <a:t>Complete remapping across affected markets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6CC80FD-E3D7-7213-C5B2-56676EEE312A}"/>
              </a:ext>
            </a:extLst>
          </p:cNvPr>
          <p:cNvSpPr/>
          <p:nvPr/>
        </p:nvSpPr>
        <p:spPr>
          <a:xfrm>
            <a:off x="558800" y="5207000"/>
            <a:ext cx="110744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E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751F570-AE71-D919-C3A9-5E59FC008937}"/>
              </a:ext>
            </a:extLst>
          </p:cNvPr>
          <p:cNvSpPr txBox="1"/>
          <p:nvPr/>
        </p:nvSpPr>
        <p:spPr>
          <a:xfrm>
            <a:off x="711200" y="5435600"/>
            <a:ext cx="1422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500" b="1">
                <a:solidFill>
                  <a:srgbClr val="111111"/>
                </a:solidFill>
                <a:latin typeface="Aptos" panose="020B0004020202020204" pitchFamily="34" charset="0"/>
              </a:rPr>
              <a:t>LATAM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3F3448A-EDEC-40CC-6DE0-9B3F8CF2EE3F}"/>
              </a:ext>
            </a:extLst>
          </p:cNvPr>
          <p:cNvSpPr txBox="1"/>
          <p:nvPr/>
        </p:nvSpPr>
        <p:spPr>
          <a:xfrm>
            <a:off x="2311400" y="5359400"/>
            <a:ext cx="2159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400">
                <a:solidFill>
                  <a:srgbClr val="6B6B6B"/>
                </a:solidFill>
                <a:latin typeface="Aptos" panose="020B0004020202020204" pitchFamily="34" charset="0"/>
              </a:rPr>
              <a:t>None confirmed yet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67346D1-05CB-DFFD-90D8-47FF1462519B}"/>
              </a:ext>
            </a:extLst>
          </p:cNvPr>
          <p:cNvSpPr/>
          <p:nvPr/>
        </p:nvSpPr>
        <p:spPr>
          <a:xfrm>
            <a:off x="4648200" y="5435600"/>
            <a:ext cx="1422400" cy="279400"/>
          </a:xfrm>
          <a:prstGeom prst="roundRect">
            <a:avLst/>
          </a:prstGeom>
          <a:solidFill>
            <a:srgbClr val="1F8A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5AB4477-D0D4-FBDA-D120-D0383A7DB099}"/>
              </a:ext>
            </a:extLst>
          </p:cNvPr>
          <p:cNvSpPr txBox="1"/>
          <p:nvPr/>
        </p:nvSpPr>
        <p:spPr>
          <a:xfrm>
            <a:off x="4775200" y="5486400"/>
            <a:ext cx="11938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900" b="1">
                <a:solidFill>
                  <a:srgbClr val="FFFFFF"/>
                </a:solidFill>
                <a:latin typeface="Aptos" panose="020B0004020202020204" pitchFamily="34" charset="0"/>
              </a:rPr>
              <a:t>CLARIFYING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AB22A51-6745-AB51-1385-6B5C4FDE4593}"/>
              </a:ext>
            </a:extLst>
          </p:cNvPr>
          <p:cNvSpPr txBox="1"/>
          <p:nvPr/>
        </p:nvSpPr>
        <p:spPr>
          <a:xfrm>
            <a:off x="6375400" y="5346700"/>
            <a:ext cx="2590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>
                <a:solidFill>
                  <a:srgbClr val="111111"/>
                </a:solidFill>
                <a:latin typeface="Aptos" panose="020B0004020202020204" pitchFamily="34" charset="0"/>
              </a:rPr>
              <a:t>DV360 routed via CM360 autotagging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FEB52B2-0D54-2E41-B13B-6220210E6FE5}"/>
              </a:ext>
            </a:extLst>
          </p:cNvPr>
          <p:cNvSpPr txBox="1"/>
          <p:nvPr/>
        </p:nvSpPr>
        <p:spPr>
          <a:xfrm>
            <a:off x="9144000" y="5346700"/>
            <a:ext cx="2209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>
                <a:solidFill>
                  <a:srgbClr val="111111"/>
                </a:solidFill>
                <a:latin typeface="Aptos" panose="020B0004020202020204" pitchFamily="34" charset="0"/>
              </a:rPr>
              <a:t>Align tracking approach before validation</a:t>
            </a:r>
          </a:p>
        </p:txBody>
      </p:sp>
    </p:spTree>
    <p:extLst>
      <p:ext uri="{BB962C8B-B14F-4D97-AF65-F5344CB8AC3E}">
        <p14:creationId xmlns:p14="http://schemas.microsoft.com/office/powerpoint/2010/main" val="4145796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</Words>
  <Application>Microsoft Office PowerPoint</Application>
  <PresentationFormat>Custom</PresentationFormat>
  <Paragraphs>82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Malek (Omnicom)</dc:creator>
  <cp:lastModifiedBy>Ali Malek (Omnicom)</cp:lastModifiedBy>
  <cp:revision>1</cp:revision>
  <dcterms:created xsi:type="dcterms:W3CDTF">2026-04-13T15:19:24Z</dcterms:created>
  <dcterms:modified xsi:type="dcterms:W3CDTF">2026-04-13T15:19:25Z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e19d756-792e-42a1-bcad-4cb9051ddd2d_Enabled">
    <vt:lpwstr>true</vt:lpwstr>
  </property>
  <property fmtid="{D5CDD505-2E9C-101B-9397-08002B2CF9AE}" pid="3" name="MSIP_Label_8e19d756-792e-42a1-bcad-4cb9051ddd2d_SetDate">
    <vt:lpwstr>2026-04-13T15:19:24Z</vt:lpwstr>
  </property>
  <property fmtid="{D5CDD505-2E9C-101B-9397-08002B2CF9AE}" pid="4" name="MSIP_Label_8e19d756-792e-42a1-bcad-4cb9051ddd2d_Method">
    <vt:lpwstr>Standard</vt:lpwstr>
  </property>
  <property fmtid="{D5CDD505-2E9C-101B-9397-08002B2CF9AE}" pid="5" name="MSIP_Label_8e19d756-792e-42a1-bcad-4cb9051ddd2d_Name">
    <vt:lpwstr>Confidential</vt:lpwstr>
  </property>
  <property fmtid="{D5CDD505-2E9C-101B-9397-08002B2CF9AE}" pid="6" name="MSIP_Label_8e19d756-792e-42a1-bcad-4cb9051ddd2d_SiteId">
    <vt:lpwstr>41eb501a-f671-4ce0-a5bf-b64168c3705f</vt:lpwstr>
  </property>
  <property fmtid="{D5CDD505-2E9C-101B-9397-08002B2CF9AE}" pid="7" name="MSIP_Label_8e19d756-792e-42a1-bcad-4cb9051ddd2d_ActionId">
    <vt:lpwstr>45eab9a3-be7e-46ad-be57-e19a596dcbec</vt:lpwstr>
  </property>
  <property fmtid="{D5CDD505-2E9C-101B-9397-08002B2CF9AE}" pid="8" name="MSIP_Label_8e19d756-792e-42a1-bcad-4cb9051ddd2d_ContentBits">
    <vt:lpwstr>2</vt:lpwstr>
  </property>
  <property fmtid="{D5CDD505-2E9C-101B-9397-08002B2CF9AE}" pid="9" name="MSIP_Label_8e19d756-792e-42a1-bcad-4cb9051ddd2d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Confidential - Not for Public Consumption or Distribution</vt:lpwstr>
  </property>
</Properties>
</file>