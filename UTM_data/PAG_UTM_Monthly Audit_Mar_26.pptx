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8"/>
  </p:notesMasterIdLst>
  <p:handoutMasterIdLst>
    <p:handoutMasterId r:id="rId9"/>
  </p:handoutMasterIdLst>
  <p:sldIdLst>
    <p:sldId id="276" r:id="rId6"/>
    <p:sldId id="278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74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D2604-4DF2-9B30-D2FA-EF84B62F3A14}" name="Tian, Ting (VMK3_EXTERN)" initials="TT" userId="S::extern.ting.tian@porsche.de::8920be80-f01f-4d6e-960f-0cb962f84bf9" providerId="AD"/>
  <p188:author id="{76309527-7D75-733C-2623-61DE1BA9A009}" name="Vu Tran (Omnicom)" initials="VT" userId="S::vu.tran@omc.com::7415ac3f-6544-4786-a9da-d7dd4462915f" providerId="AD"/>
  <p188:author id="{426F29E6-DE32-BA2B-0BC0-27E19BE11673}" name="Esguerra, Laura (VMK3)" initials="LE" userId="S::laura.esguerra1@porsche.de::eaa26d83-8365-4f99-a5c3-6e5cb22b29b8" providerId="AD"/>
  <p188:author id="{1250BAF4-FFB1-8E40-44AA-ECF57243ED7E}" name="Angela Mc Ewen (Omnicom)" initials="AM" userId="S::angela.mcewen@omc.com::8d251493-51f0-4462-96a5-4f3405e752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100"/>
    <a:srgbClr val="392352"/>
    <a:srgbClr val="000000"/>
    <a:srgbClr val="AC83CC"/>
    <a:srgbClr val="00B050"/>
    <a:srgbClr val="D5001C"/>
    <a:srgbClr val="151D26"/>
    <a:srgbClr val="3C007E"/>
    <a:srgbClr val="7E360E"/>
    <a:srgbClr val="D61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B115C3-826D-4E69-96D4-C415ADE95F51}">
  <a:tblStyle styleId="{62B115C3-826D-4E69-96D4-C415ADE95F51}" styleName="Porsche Standard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>
                  <a:tint val="0"/>
                </a:schemeClr>
              </a:solidFill>
            </a:ln>
          </a:left>
          <a:right>
            <a:ln w="0" cmpd="sng">
              <a:solidFill>
                <a:schemeClr val="lt1">
                  <a:tint val="0"/>
                </a:schemeClr>
              </a:solidFill>
            </a:ln>
          </a:right>
          <a:top>
            <a:ln w="0" cmpd="sng">
              <a:solidFill>
                <a:schemeClr val="lt1">
                  <a:tint val="0"/>
                </a:schemeClr>
              </a:solidFill>
            </a:ln>
          </a:top>
          <a:bottom>
            <a:ln w="0" cmpd="sng">
              <a:solidFill>
                <a:schemeClr val="lt1">
                  <a:tint val="0"/>
                </a:schemeClr>
              </a:solidFill>
            </a:ln>
          </a:bottom>
          <a:insideH>
            <a:ln w="0" cmpd="sng">
              <a:solidFill>
                <a:schemeClr val="lt1">
                  <a:tint val="0"/>
                </a:schemeClr>
              </a:solidFill>
            </a:ln>
          </a:insideH>
          <a:insideV>
            <a:ln w="0" cmpd="sng">
              <a:solidFill>
                <a:schemeClr val="lt1">
                  <a:tint val="0"/>
                </a:schemeClr>
              </a:solidFill>
            </a:ln>
          </a:insideV>
        </a:tcBdr>
        <a:fill>
          <a:solidFill>
            <a:schemeClr val="lt1">
              <a:tint val="0"/>
            </a:schemeClr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5"/>
          </a:solidFill>
        </a:fill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6350" cmpd="sng">
              <a:solidFill>
                <a:schemeClr val="accent3"/>
              </a:solidFill>
            </a:ln>
          </a:top>
        </a:tcBdr>
        <a:fill>
          <a:solidFill>
            <a:schemeClr val="lt1">
              <a:tint val="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solidFill>
            <a:schemeClr val="lt1">
              <a:tint val="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78954" autoAdjust="0"/>
  </p:normalViewPr>
  <p:slideViewPr>
    <p:cSldViewPr snapToGrid="0">
      <p:cViewPr>
        <p:scale>
          <a:sx n="75" d="100"/>
          <a:sy n="75" d="100"/>
        </p:scale>
        <p:origin x="43" y="19"/>
      </p:cViewPr>
      <p:guideLst>
        <p:guide pos="234"/>
        <p:guide orient="horz" pos="255"/>
        <p:guide orient="horz" pos="3657"/>
        <p:guide orient="horz" pos="4269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AB3B4-8F89-47C3-8DB2-396D1B42E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A78CE-62E4-4292-A912-E2F8CA0F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7356-B5D4-4790-B6FC-F7C8B1F7E1E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400C-6C39-470B-8BB0-5A48204E8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7B9C-E1B2-4326-8C19-70073498FC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791CF-CB42-423F-9607-FC443ACCB2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63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50888D7-EA26-413C-8F78-8BFC343EAE4A}" type="datetimeFigureOut">
              <a:rPr lang="de-DE" smtClean="0"/>
              <a:pPr/>
              <a:t>16.04.2026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de-DE"/>
              <a:t>Mastertextformat bearbeiten</a:t>
            </a:r>
          </a:p>
          <a:p>
            <a:pPr marL="180000" lvl="1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360000" lvl="2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540000" lvl="3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720000" lvl="4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6723CF4-5F3F-48D1-B859-759DFE8781C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9AA43-0AD4-4655-AA69-BB0AD5FEF9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20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E46E-D216-CC29-7F30-D1DC3298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EF57E-DDE4-D3BA-027A-D8035C3F1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202F8-5F30-14AA-91CB-4DA033F51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dirty="0"/>
              <a:t>PLA: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 a Quick Look at the data for PLA. </a:t>
            </a:r>
          </a:p>
          <a:p>
            <a:pPr rtl="0"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Highlighted 10 placements (in Col BY). These are placement IDs that we’ve found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one.reporting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(so they’re live) but have not been found in our GA4 data. I assumed they are live with a different UTM concept.</a:t>
            </a:r>
          </a:p>
          <a:p>
            <a:endParaRPr lang="en-US" dirty="0"/>
          </a:p>
          <a:p>
            <a:r>
              <a:rPr lang="en-US" dirty="0"/>
              <a:t>PCEE: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DV360 activity is correctly tagged and visible, but coverage is incomplete.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 next step, I’d kindly ask the following: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 with the market that all live campaigns are using the new UTMs.</a:t>
            </a: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PNO: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Search and Social are visible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OneReporting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but are not using the new UTM structure.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No identifiable activity in GA4 using the new framework.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have reached out and asked for help with set up for always on for paid search in Plan It and for UTM builder. Sam Tait to help</a:t>
            </a:r>
          </a:p>
          <a:p>
            <a:pPr marL="0" indent="0">
              <a:buFontTx/>
              <a:buNone/>
            </a:pPr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PPL: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Search, YouTube, and Demand Gen campaigns are missing required placement IDs.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Social campaigns are live without new UTMs.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Placement IDs are not visible in GA4.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Rebuild UTMs across all active channels using Planit-aligned placement IDs.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Validate GA4 visibility post-update.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Response: The campaign we are running right now ends with end of March. Do we still need to update the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utms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 This campaign was a prolongation of the Q4 2025 campaign.</a:t>
            </a: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PCH:</a:t>
            </a:r>
          </a:p>
          <a:p>
            <a:pPr marL="0" indent="0">
              <a:buFontTx/>
              <a:buNone/>
            </a:pPr>
            <a:r>
              <a:rPr lang="en-GB" dirty="0"/>
              <a:t>Multiple placements are confirmed live in </a:t>
            </a:r>
            <a:r>
              <a:rPr lang="en-GB" dirty="0" err="1"/>
              <a:t>OneReporting</a:t>
            </a:r>
            <a:r>
              <a:rPr lang="en-GB" dirty="0"/>
              <a:t> but do not resolve into GA4, despite delivery.</a:t>
            </a:r>
          </a:p>
          <a:p>
            <a:pPr marL="0" indent="0">
              <a:buFontTx/>
              <a:buNone/>
            </a:pPr>
            <a:r>
              <a:rPr lang="en-GB" dirty="0"/>
              <a:t>Investigate why UTMs are not being recognised by GA4 and confirm tagging consistency.</a:t>
            </a: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response: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used the UTM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listed in the Tab "3. UTM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Buidler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Input", Column "AF - UTM Link". During our call we discussed if it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correct to use links in Colum "AH" "Search Platform Output" - as we noticed that in this field only the "UTM" Part of the link is listed and not the whole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didn't use this one but "the UTM ink" Colum AF instead. 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s wait till the BAH confirmation and then look further  Kind regards from Zurich 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POF: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one campaign is compliant with the new structure.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Search and Social activity has not yet been updated.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Planit shows duplication and inconsistencies in placement setup.</a:t>
            </a: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Response: </a:t>
            </a:r>
            <a:r>
              <a:rPr lang="en-GB" sz="1200" dirty="0">
                <a:effectLst/>
              </a:rPr>
              <a:t>UTMs have been properly implemented on both Google and Meta. would it be possible for you to run an extract for March</a:t>
            </a:r>
          </a:p>
          <a:p>
            <a:pPr marL="0" indent="0">
              <a:buFontTx/>
              <a:buNone/>
            </a:pPr>
            <a:endParaRPr lang="en-GB" sz="1200" dirty="0">
              <a:effectLst/>
            </a:endParaRPr>
          </a:p>
          <a:p>
            <a:pPr marL="0" indent="0">
              <a:buFontTx/>
              <a:buNone/>
            </a:pPr>
            <a:r>
              <a:rPr lang="en-GB" sz="1200" dirty="0">
                <a:effectLst/>
              </a:rPr>
              <a:t>PKO: </a:t>
            </a:r>
          </a:p>
          <a:p>
            <a:pPr marL="0" indent="0">
              <a:buFontTx/>
              <a:buNone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on our end currently not possible. </a:t>
            </a:r>
            <a:r>
              <a:rPr lang="en-GB" dirty="0">
                <a:effectLst/>
              </a:rPr>
              <a:t>Confirm ingestion feasibility before assessing UTM compliance.</a:t>
            </a:r>
          </a:p>
          <a:p>
            <a:pPr marL="0" indent="0">
              <a:buFontTx/>
              <a:buNone/>
            </a:pPr>
            <a:r>
              <a:rPr lang="en-GB" sz="1200" dirty="0">
                <a:effectLst/>
              </a:rPr>
              <a:t>Market response: no response</a:t>
            </a:r>
            <a:br>
              <a:rPr lang="en-GB" sz="1200" dirty="0">
                <a:effectLst/>
              </a:rPr>
            </a:br>
            <a:endParaRPr lang="en-GB" sz="1200" dirty="0">
              <a:effectLst/>
            </a:endParaRPr>
          </a:p>
          <a:p>
            <a:pPr marL="0" indent="0">
              <a:buFontTx/>
              <a:buNone/>
            </a:pPr>
            <a:r>
              <a:rPr lang="en-GB" sz="1200" dirty="0">
                <a:effectLst/>
              </a:rPr>
              <a:t>PME:</a:t>
            </a:r>
          </a:p>
          <a:p>
            <a:pPr marL="171450" indent="-171450">
              <a:buFontTx/>
              <a:buChar char="-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tacticals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currently planned.</a:t>
            </a:r>
          </a:p>
          <a:p>
            <a:pPr marL="171450" indent="-171450">
              <a:buFontTx/>
              <a:buChar char="-"/>
            </a:pPr>
            <a:r>
              <a:rPr lang="en-GB" dirty="0"/>
              <a:t>Confirm whether any UTM activity is expected or required at this stage.</a:t>
            </a:r>
          </a:p>
          <a:p>
            <a:pPr marL="0" indent="0">
              <a:buFontTx/>
              <a:buNone/>
            </a:pPr>
            <a:r>
              <a:rPr lang="en-GB" sz="1200" dirty="0">
                <a:effectLst/>
              </a:rPr>
              <a:t>Market response:  No activities planned for PME  </a:t>
            </a:r>
            <a:r>
              <a:rPr lang="en-GB" sz="1200" dirty="0" err="1">
                <a:effectLst/>
              </a:rPr>
              <a:t>upperfunnel</a:t>
            </a:r>
            <a:r>
              <a:rPr lang="en-GB" sz="1200" dirty="0">
                <a:effectLst/>
              </a:rPr>
              <a:t>.</a:t>
            </a:r>
          </a:p>
          <a:p>
            <a:pPr marL="0" indent="0">
              <a:buFontTx/>
              <a:buNone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PCGB:</a:t>
            </a:r>
          </a:p>
          <a:p>
            <a:pPr marL="0" indent="0">
              <a:buFontTx/>
              <a:buNone/>
            </a:pPr>
            <a:r>
              <a:rPr lang="en-GB" dirty="0"/>
              <a:t>- Only a small number of 2026 </a:t>
            </a:r>
            <a:r>
              <a:rPr lang="en-GB" dirty="0" err="1"/>
              <a:t>tacticals</a:t>
            </a:r>
            <a:r>
              <a:rPr lang="en-GB" dirty="0"/>
              <a:t> are listed in Planit, despite multiple campaigns being live.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campaigns are not using the new UTM structure (e.g. Amazon activity).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There is a clear misalignment between Planit and live execution.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response: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dirty="0"/>
              <a:t>Most campaigns should follow the new UTM setup via Hive, but gaps exist and are being investigated. </a:t>
            </a:r>
          </a:p>
          <a:p>
            <a:r>
              <a:rPr lang="en-GB" dirty="0"/>
              <a:t>Always-on (pre-owned &amp; aftersales) sits outside the standard process and lacks Planit </a:t>
            </a:r>
            <a:r>
              <a:rPr lang="en-GB" dirty="0" err="1"/>
              <a:t>tacticals</a:t>
            </a:r>
            <a:r>
              <a:rPr lang="en-GB" dirty="0"/>
              <a:t>. </a:t>
            </a:r>
          </a:p>
          <a:p>
            <a:r>
              <a:rPr lang="en-GB" dirty="0"/>
              <a:t>UTM compliance is now urgent; AV team also facing issues with the Macan UTM builder.</a:t>
            </a:r>
          </a:p>
          <a:p>
            <a:endParaRPr lang="en-GB" dirty="0"/>
          </a:p>
          <a:p>
            <a:r>
              <a:rPr lang="en-GB" dirty="0"/>
              <a:t>PIB: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Always-on search activity is not consistently visible in GA4.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DV360 activity is not visible in either GA4 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OneReporting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response:</a:t>
            </a:r>
          </a:p>
          <a:p>
            <a:pPr marL="0" indent="0">
              <a:buFontTx/>
              <a:buNone/>
            </a:pPr>
            <a:r>
              <a:rPr lang="en-GB" dirty="0"/>
              <a:t>We can confirm that DV360 is using the latest UTM Builder, </a:t>
            </a:r>
          </a:p>
          <a:p>
            <a:pPr marL="0" indent="0">
              <a:buFontTx/>
              <a:buNone/>
            </a:pPr>
            <a:r>
              <a:rPr lang="en-GB" dirty="0"/>
              <a:t>Always On campaigns use Auto Tagging!</a:t>
            </a:r>
          </a:p>
          <a:p>
            <a:pPr marL="0" indent="0">
              <a:buFontTx/>
              <a:buNone/>
            </a:pPr>
            <a:endParaRPr lang="en-GB" dirty="0"/>
          </a:p>
          <a:p>
            <a:pPr marL="0" indent="0">
              <a:buFontTx/>
              <a:buNone/>
            </a:pPr>
            <a:r>
              <a:rPr lang="en-GB" dirty="0"/>
              <a:t>PCA:</a:t>
            </a:r>
          </a:p>
          <a:p>
            <a:pPr marL="0" indent="0">
              <a:buFontTx/>
              <a:buNone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2026 campaign remains outstanding.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Only DV360 Audio activity is currently visible in GA4.</a:t>
            </a:r>
            <a:endParaRPr lang="en-GB" dirty="0"/>
          </a:p>
          <a:p>
            <a:endParaRPr lang="en-GB" dirty="0"/>
          </a:p>
          <a:p>
            <a:r>
              <a:rPr lang="en-GB" dirty="0"/>
              <a:t>Market response:</a:t>
            </a:r>
            <a:br>
              <a:rPr lang="en-GB" dirty="0"/>
            </a:br>
            <a:r>
              <a:rPr lang="en-GB" dirty="0"/>
              <a:t>Taxonomy has been largely updated (especially Bing) and is flowing to 1R, but UTMs are still being aligned—often tied to upcoming creative swaps. Some gaps/edge cases remain: SEM partly excluded (dealership activity), display delayed (no data), and incorrect placements flagged/cleaned. Key blocker: DV360/YouTube Select has naming character limits preventing full taxonomy implementation; workaround needed.</a:t>
            </a:r>
          </a:p>
          <a:p>
            <a:endParaRPr lang="en-GB" dirty="0"/>
          </a:p>
          <a:p>
            <a:pPr marL="0" indent="0">
              <a:buFontTx/>
              <a:buNone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DF6E6-6978-A784-C710-CAFDD2065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CF4-5F3F-48D1-B859-759DFE8781C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67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99DB9E3-8A25-4738-CA7E-50994C66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1290" y="2508188"/>
            <a:ext cx="2229421" cy="11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237F616-E909-4922-A851-0DBAAF8C2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404812"/>
            <a:ext cx="4392000" cy="3960000"/>
          </a:xfrm>
          <a:noFill/>
        </p:spPr>
        <p:txBody>
          <a:bodyPr lIns="252000" tIns="504000" rIns="252000" bIns="1872000" anchor="b"/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2559600"/>
            <a:ext cx="4392000" cy="1800000"/>
          </a:xfrm>
        </p:spPr>
        <p:txBody>
          <a:bodyPr lIns="252000" rIns="252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1047600"/>
            <a:ext cx="7200000" cy="1080000"/>
          </a:xfrm>
          <a:noFill/>
        </p:spPr>
        <p:txBody>
          <a:bodyPr lIns="0" tIns="0" rIns="0" bIns="0" anchor="t"/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4" y="2448000"/>
            <a:ext cx="7200000" cy="1080000"/>
          </a:xfrm>
        </p:spPr>
        <p:txBody>
          <a:bodyPr lIns="0" tIns="0" rIns="0" bIns="0" anchor="t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8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3189704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D0C455-B780-4CFD-BC34-1A6EBE947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7700158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1372253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out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3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 marL="0" indent="0">
              <a:buNone/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680878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1"/>
            <a:ext cx="11449051" cy="54756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1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850652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7">
            <a:extLst>
              <a:ext uri="{FF2B5EF4-FFF2-40B4-BE49-F238E27FC236}">
                <a16:creationId xmlns:a16="http://schemas.microsoft.com/office/drawing/2014/main" id="{240FB6AB-D46E-400F-96B0-9CB95E120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9E15F-B0F1-48C9-B6A7-38DF9291BC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924000" cy="5470126"/>
          </a:xfrm>
          <a:solidFill>
            <a:schemeClr val="bg1"/>
          </a:solidFill>
        </p:spPr>
        <p:txBody>
          <a:bodyPr lIns="252000" tIns="108000" rIns="252000" bIns="3312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3D0F42-A5D8-4817-ACD3-DD701DDAF4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559600"/>
            <a:ext cx="3924000" cy="676800"/>
          </a:xfrm>
        </p:spPr>
        <p:txBody>
          <a:bodyPr lIns="252000" rIns="252000"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321303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DAA0-BE28-4A30-8A16-63D0B0E4E7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3636000" cy="1584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42710BF-8A74-41DB-B0DF-9BBD552ED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06E4ECD-06BF-49BC-B4B6-72908164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171700"/>
            <a:ext cx="3636963" cy="68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974906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855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937">
          <p15:clr>
            <a:srgbClr val="FBAE40"/>
          </p15:clr>
        </p15:guide>
        <p15:guide id="2" pos="2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61959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2"/>
            <a:ext cx="11449051" cy="5472113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14903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4BA7-CB27-4F92-9C4B-77A788A7924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5640EF-79EE-46B4-B10F-88F6D7E77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5"/>
            <a:ext cx="5580000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7BFA4C06-AFE9-492D-A180-0D6B53BAB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525" y="1412875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E1505832-451A-493D-9816-07761CC3BB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240525" y="3865789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3178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2574-9A58-4E2C-9800-B08C15529E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C3E1E-BF9B-4C7B-932F-D9DD1ABFE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2" cy="44640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B6D139-9BBA-401F-A37F-85A52712C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1412875"/>
            <a:ext cx="5580062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97581B-0504-4291-9C84-0B84B28C8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2878334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7AB2E-105E-4560-810B-5C2D73E3BF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636000" cy="936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11A410-77DA-4FBE-9C60-7DBB3F1F7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363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98505A3-1CA0-4DF4-A4EE-DB2FEEB298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41EAE1-B7F9-43F3-A7C2-0EFAEAE62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202299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0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7DA1-0A7E-444C-9038-288F571E44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5580063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7573EE-C735-4F99-BBD6-119D8EEA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3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12DEC1C-B80B-4603-B910-74FC9303CD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404813"/>
            <a:ext cx="5580062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93E32BF-92F9-46DD-8C28-7B9BC35279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792931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DEFBF-74D6-40E0-9540-4C37F45D8B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6588125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41D52AE-71AC-4710-A587-046DDAEB88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7248525" y="404813"/>
            <a:ext cx="4572000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DF9836-B7CB-4CB9-B466-CD57CDEB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371475" y="1412875"/>
            <a:ext cx="65881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ED95691-5A21-4D15-A7A2-DD8F77C49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86960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385">
          <p15:clr>
            <a:srgbClr val="FBAE40"/>
          </p15:clr>
        </p15:guide>
        <p15:guide id="2" pos="45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53EB-CF61-4F20-82CC-2DF15958599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4BDB18-2761-49B4-BD80-C9779BE81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A03AD7B-24F3-41A3-9E78-4B2EB22EA4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000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244185-D891-433F-BBE3-176592B1E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1475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136EC53-01F5-4FF1-A55F-D2721116A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40001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8F15D28B-2AD2-4A11-941F-B884F1AE4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1545210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955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</p:spTree>
    <p:extLst>
      <p:ext uri="{BB962C8B-B14F-4D97-AF65-F5344CB8AC3E}">
        <p14:creationId xmlns:p14="http://schemas.microsoft.com/office/powerpoint/2010/main" val="86790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750" userDrawn="1">
          <p15:clr>
            <a:srgbClr val="FBAE40"/>
          </p15:clr>
        </p15:guide>
        <p15:guide id="4" pos="393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folie mit 2 großen Mot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37" userDrawn="1">
          <p15:clr>
            <a:srgbClr val="FBAE40"/>
          </p15:clr>
        </p15:guide>
        <p15:guide id="4" pos="298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no line 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1679"/>
            <a:ext cx="5587129" cy="1393852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DF90-F246-46F4-9DA0-42F70FB9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6D179F-7BBA-46AB-9409-19B27A2710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222" y="0"/>
            <a:ext cx="1942228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76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3CB2C-5D29-44EC-81F1-FE55EB28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370092" y="1663200"/>
            <a:ext cx="3046413" cy="2319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276AD02-895E-4E23-9C4A-F8DD40E7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22" y="6492876"/>
            <a:ext cx="236306" cy="15746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9493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74C09-0AA6-9CD9-F6DD-6C62DB2D9306}"/>
              </a:ext>
            </a:extLst>
          </p:cNvPr>
          <p:cNvSpPr/>
          <p:nvPr/>
        </p:nvSpPr>
        <p:spPr>
          <a:xfrm>
            <a:off x="0" y="1783490"/>
            <a:ext cx="12192000" cy="699492"/>
          </a:xfrm>
          <a:prstGeom prst="rect">
            <a:avLst/>
          </a:prstGeom>
          <a:solidFill>
            <a:srgbClr val="05B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179DA-E4C9-1F3D-C3DF-3AFA6E401818}"/>
              </a:ext>
            </a:extLst>
          </p:cNvPr>
          <p:cNvSpPr/>
          <p:nvPr/>
        </p:nvSpPr>
        <p:spPr>
          <a:xfrm>
            <a:off x="475" y="3292212"/>
            <a:ext cx="12192000" cy="699492"/>
          </a:xfrm>
          <a:prstGeom prst="rect">
            <a:avLst/>
          </a:prstGeom>
          <a:solidFill>
            <a:srgbClr val="006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6F3-7EF6-D3BA-A9BD-017B3004A546}"/>
              </a:ext>
            </a:extLst>
          </p:cNvPr>
          <p:cNvSpPr/>
          <p:nvPr/>
        </p:nvSpPr>
        <p:spPr>
          <a:xfrm>
            <a:off x="0" y="4800934"/>
            <a:ext cx="12192000" cy="6994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1E21-BFCC-D7BC-5C18-37C6195BA055}"/>
              </a:ext>
            </a:extLst>
          </p:cNvPr>
          <p:cNvSpPr/>
          <p:nvPr/>
        </p:nvSpPr>
        <p:spPr>
          <a:xfrm>
            <a:off x="0" y="175465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FB5E6-0F17-FDF9-BEBA-A18BE0E13E46}"/>
              </a:ext>
            </a:extLst>
          </p:cNvPr>
          <p:cNvSpPr/>
          <p:nvPr/>
        </p:nvSpPr>
        <p:spPr>
          <a:xfrm>
            <a:off x="475" y="327161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EC51-1418-67D1-E2A3-692EB55D140E}"/>
              </a:ext>
            </a:extLst>
          </p:cNvPr>
          <p:cNvSpPr/>
          <p:nvPr/>
        </p:nvSpPr>
        <p:spPr>
          <a:xfrm>
            <a:off x="0" y="4780341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13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Bullet points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5" y="1808957"/>
            <a:ext cx="7201185" cy="41044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722C5C-0398-E34A-8A2F-2739A2B5B4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56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7" y="1622139"/>
            <a:ext cx="11410091" cy="4188814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/>
              <a:t>First level text</a:t>
            </a:r>
          </a:p>
          <a:p>
            <a:pPr lvl="1"/>
            <a:r>
              <a:rPr lang="en-GB" noProof="0"/>
              <a:t>Second level text</a:t>
            </a:r>
          </a:p>
          <a:p>
            <a:pPr lvl="2"/>
            <a:r>
              <a:rPr lang="en-GB" noProof="0"/>
              <a:t>Third level text</a:t>
            </a:r>
          </a:p>
          <a:p>
            <a:pPr lvl="3"/>
            <a:r>
              <a:rPr lang="en-GB" noProof="0"/>
              <a:t>Fourth level text</a:t>
            </a:r>
          </a:p>
          <a:p>
            <a:pPr lvl="4"/>
            <a:r>
              <a:rPr lang="en-GB" noProof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fld id="{1E956721-BB38-4972-8ACD-5A2C9377E3B4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/>
              <a:t>Porsche | Modern Luxury - Audience Planning Manual</a:t>
            </a:r>
          </a:p>
        </p:txBody>
      </p:sp>
      <p:sp>
        <p:nvSpPr>
          <p:cNvPr id="29" name="Zástupný symbol pro text 2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0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000" baseline="0"/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 noProof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34223176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1EDC-0885-5949-8D5F-26BEA9AC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/>
              <a:t>[Four column content]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21B4-F4F4-5843-B0C7-2A4152DA2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6FF29-CB77-A443-B41E-0EFF7DB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43DD903-9463-5D4C-A330-E7775B23EE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16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42B4511-CF2C-BE4C-B3AD-82A30E00D9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6175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7FC795B-2038-104B-906E-FCCA3CA455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63913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DA15C8-2C16-8240-91D7-2806F44985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68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</p:spTree>
    <p:extLst>
      <p:ext uri="{BB962C8B-B14F-4D97-AF65-F5344CB8AC3E}">
        <p14:creationId xmlns:p14="http://schemas.microsoft.com/office/powerpoint/2010/main" val="143847012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1198">
          <p15:clr>
            <a:srgbClr val="FBAE40"/>
          </p15:clr>
        </p15:guide>
        <p15:guide id="2" pos="3758">
          <p15:clr>
            <a:srgbClr val="FBAE40"/>
          </p15:clr>
        </p15:guide>
        <p15:guide id="3" pos="3922">
          <p15:clr>
            <a:srgbClr val="FBAE40"/>
          </p15:clr>
        </p15:guide>
        <p15:guide id="4" pos="1956">
          <p15:clr>
            <a:srgbClr val="FBAE40"/>
          </p15:clr>
        </p15:guide>
        <p15:guide id="5" pos="5564">
          <p15:clr>
            <a:srgbClr val="FBAE40"/>
          </p15:clr>
        </p15:guide>
        <p15:guide id="6" pos="2116">
          <p15:clr>
            <a:srgbClr val="FBAE40"/>
          </p15:clr>
        </p15:guide>
        <p15:guide id="7" pos="57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89010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E06E7D-B6FA-45B6-BAC5-48D084D082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A240B-4718-4FF1-8AC3-03A503AC5812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pPr>
              <a:defRPr/>
            </a:pP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4F161-A480-4B56-9079-BFDB837A2B1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>
              <a:defRPr/>
            </a:pPr>
            <a:r>
              <a:rPr lang="en-US"/>
              <a:t>Porsche | Modern Luxury - Audience Planning Manual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91EB-D249-41BF-9D6B-80504B2736D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817281"/>
      </p:ext>
    </p:extLst>
  </p:cSld>
  <p:clrMapOvr>
    <a:masterClrMapping/>
  </p:clrMapOvr>
  <p:transition>
    <p:fade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2255149221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A492-7EF5-6152-6F0B-1B339D36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34C49-F11C-33D2-15B4-F65E1759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DF3AA-309F-6572-DA2E-AC162521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9503-BC19-2F41-A8B4-E3F41FB0C30D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C63E0-D750-6015-B230-27F6DE87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03794-6A9D-88AD-C7F6-3C0EEB8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FB73-9D8F-9244-B30B-33CF311D0A6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78797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fa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2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Action-Title (Kernbotschaft der Folie, 1- oder 2-zeilig)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03 March 2025</a:t>
            </a:r>
          </a:p>
        </p:txBody>
      </p:sp>
    </p:spTree>
    <p:extLst>
      <p:ext uri="{BB962C8B-B14F-4D97-AF65-F5344CB8AC3E}">
        <p14:creationId xmlns:p14="http://schemas.microsoft.com/office/powerpoint/2010/main" val="334489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25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2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342188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8" imgW="499" imgH="499" progId="TCLayout.ActiveDocument.1">
                  <p:embed/>
                </p:oleObj>
              </mc:Choice>
              <mc:Fallback>
                <p:oleObj name="think-cell Folie" r:id="rId38" imgW="499" imgH="499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89243-AEFC-46DD-A4D1-6E9C3B06B9D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1144905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A26D-4900-46A0-925C-C599678EA9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reation date_modification date" hidden="1">
            <a:extLst>
              <a:ext uri="{FF2B5EF4-FFF2-40B4-BE49-F238E27FC236}">
                <a16:creationId xmlns:a16="http://schemas.microsoft.com/office/drawing/2014/main" id="{1DC0E4E7-4D63-47C4-B948-491C889790ED}"/>
              </a:ext>
            </a:extLst>
          </p:cNvPr>
          <p:cNvSpPr txBox="1"/>
          <p:nvPr/>
        </p:nvSpPr>
        <p:spPr bwMode="gray">
          <a:xfrm>
            <a:off x="371475" y="6400800"/>
            <a:ext cx="3960000" cy="9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/>
              <a:t>Erstellungsdatum 30.09.19  |  Änderungsdatum 22.11.19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2CED391-D210-450E-8606-73EE474E9DCF}"/>
              </a:ext>
            </a:extLst>
          </p:cNvPr>
          <p:cNvSpPr txBox="1"/>
          <p:nvPr/>
        </p:nvSpPr>
        <p:spPr bwMode="gray">
          <a:xfrm>
            <a:off x="11244525" y="65052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FA1C4-EA79-42FD-80B7-E488052EC212}" type="slidenum">
              <a:rPr lang="en-US" sz="800" b="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sz="800" b="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Confidential" hidden="1">
            <a:extLst>
              <a:ext uri="{FF2B5EF4-FFF2-40B4-BE49-F238E27FC236}">
                <a16:creationId xmlns:a16="http://schemas.microsoft.com/office/drawing/2014/main" id="{BB712A40-BE90-4DFC-8429-C00E69DF6B03}"/>
              </a:ext>
            </a:extLst>
          </p:cNvPr>
          <p:cNvSpPr txBox="1"/>
          <p:nvPr/>
        </p:nvSpPr>
        <p:spPr bwMode="gray">
          <a:xfrm>
            <a:off x="9277200" y="6505200"/>
            <a:ext cx="16272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err="1">
                <a:solidFill>
                  <a:schemeClr val="accent6"/>
                </a:solidFill>
              </a:rPr>
              <a:t>Confidential</a:t>
            </a:r>
            <a:endParaRPr lang="en-US" sz="1000" b="1">
              <a:solidFill>
                <a:schemeClr val="accent6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95F3F5D-38BA-4D76-B060-DCB97784843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506541" y="6513480"/>
            <a:ext cx="1178918" cy="914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6BD22E-7778-13FC-9688-1992A8C96B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09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13" r:id="rId34"/>
    <p:sldLayoutId id="2147483714" r:id="rId3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54" userDrawn="1">
          <p15:clr>
            <a:srgbClr val="F26B43"/>
          </p15:clr>
        </p15:guide>
        <p15:guide id="8" pos="234" userDrawn="1">
          <p15:clr>
            <a:srgbClr val="F26B43"/>
          </p15:clr>
        </p15:guide>
        <p15:guide id="9" pos="7446" userDrawn="1">
          <p15:clr>
            <a:srgbClr val="F26B43"/>
          </p15:clr>
        </p15:guide>
        <p15:guide id="10" orient="horz" pos="890" userDrawn="1">
          <p15:clr>
            <a:srgbClr val="F26B43"/>
          </p15:clr>
        </p15:guide>
        <p15:guide id="11" orient="horz" pos="3702" userDrawn="1">
          <p15:clr>
            <a:srgbClr val="F26B43"/>
          </p15:clr>
        </p15:guide>
        <p15:guide id="12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2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258F-D315-2B23-2C23-C11821D5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9463B938-81B8-15D4-5928-42D6F08C01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835EFBFF-2075-1D6E-F7F8-8C0483A540E7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8458F61-B00F-7B65-F1CD-C0686F65C971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B4B462FF-7AA9-B32C-701B-262BE258CD4C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57DFA699-4837-D030-FCAA-F2F36784B967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165FC24-5357-2DD6-F9BE-F947F0D2E549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1EFBB14-E386-B0B9-0B51-3A7202B9A203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3123778-D730-9D84-953C-4A169A70DF80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FF37996-1629-6F7E-1B03-E0994950F2C8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6A8F6D6-482D-1DC4-8A88-EFF1676AF98F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39B773A-5248-6344-80D7-2C10B6CD99A0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D9BA6E-8670-D2F4-A8B2-E2DEA07B1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80157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4A51F948-9019-F06B-9FDF-01F7D1E1C5E1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3D9E840F-F1E6-2ABD-58E4-567A6C1CFDB1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B987F7CE-97A0-F271-5B9D-4C37202797C2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CCB1430A-129C-A967-6CBA-FA7D215C8B50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31EA1FE8-F1B8-F1AF-9933-6FAED8B0B787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6F09AB7D-7028-6704-8585-FFA7D414FFAA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1ED6A18-8A2C-4325-4A88-1459CFF1BCA7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F5A75BA7-1D07-A6E9-2B72-B4D55F2C1478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6E02BC2E-E74D-F7B8-605D-DB7B0FF3F70A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92C9F45B-A770-FEE9-D442-E775D82B5968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0AB395B2-5CBE-7728-92B3-ACCC872E8958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7937813-047F-2C4A-E908-53E7BAF715D9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71B3CCDA-185C-A96A-1F96-BF100C6B056B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5E53AA9A-A908-CDA9-FABC-8AB05C11DBA0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C74D92A4-3C07-FCF4-07D6-EDF176062E60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51D582D2-0663-AFDE-7D47-846A8AAD11F1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42A8C6F5-3312-B6BD-24A1-9FF238929B39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55A3CD13-4BAA-1B56-1F99-66FEAB2E8BB5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186C6EAD-347E-B5EC-D2A4-3668322C8520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CFBE6158-B3D2-D20E-3B39-DB1B6DD1ACB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44C9F7F2-780D-A7E8-CD6B-3350F7760D08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414E75A1-A152-5519-3A1E-A1344204BCE7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C850D56B-C750-DC42-998B-C68C9BFDC89F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28D844-0A02-3C28-EFE2-12EDF82A8912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FE41D442-D800-AD7D-19E7-A68B4474C427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85CEB8F5-0B6A-192C-FDC5-88ED1C4672E6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3FACA9B8-6737-F148-8956-8B22AF28CA8A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F22385B7-D4E4-AB8B-C0A4-DBD79AE001B5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4C0106D6-99F3-0CD1-E71F-EC8238226E48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2ECAFA61-7ECA-2A00-0E77-ABC107FF36AC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9A50E59A-12C7-6C59-F148-F6294560F218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7F6B282D-33DC-66C0-5CDA-6D29A043644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657315BF-2C28-C42D-A912-315ECF277F4A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D5D025AE-74D1-5572-1ADB-55646CF5A200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45024027-B99E-2546-989C-5BD61E197ADA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4DB92078-E4A1-91CA-F705-88261594DA26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4FCCA4EB-45AB-D45C-A116-7FAC62978216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94F7A2A5-8FDA-C3A8-82E5-D04142428676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69E50AAF-FC5B-D7F2-FC76-27B3B750DA87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F4CA762E-1ED2-5523-EB3D-B41273464774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13FB8E96-4511-3BA0-986B-AD74AAD16FEB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366BCF9F-BBDA-A6C2-02E5-7A31EB016AB3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105C50E3-BF44-5996-07C7-DB4F8E180DF8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4FCF624C-C71E-991D-3871-01105A44C953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A31A1021-1919-4EA0-1722-563C96FB7249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CE7367C7-4B9F-9285-913D-4F2442457AAC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0422EECD-E8A0-A462-E35B-81C1DAB4C220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141495F7-A269-8FFF-9250-E563186F6D2D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05FCFA22-468F-B7DE-D489-A79131A8AEBC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2AA5DF4A-1FB4-9F37-CE21-4593F8D9AC0F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9AD747FF-6D6B-8691-D5AB-F87230CD6914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CC50A8C3-3603-F0C1-2A3D-C7E4EC92A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3D3BEFED-07C9-54BE-CBE7-73D26F4A8FA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FD9F17D3-0FA5-EFB2-7386-566432381A49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26755162-FFD9-EF20-9445-6B591321C930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E3E4A5E7-722B-5FB3-52E4-2C49C520A9CC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6BAF1C61-A4FB-19A0-DF18-7FB100F05EA6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9AF15DB5-B9DF-5468-7860-0AAEAD2790CE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C34DCC13-42AD-7CDB-B970-1FA114C1A9B1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9438B35-CCB5-13CD-F8FD-5BC0343696A1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5A556C3C-6566-F802-546F-44CF41EDE19D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88CD751D-F2B4-BEB2-66AC-AC9A39F9C0FE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C13CBEFC-8B44-28A7-8EF6-58DD397ED114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CB2C8822-2836-48E2-126E-26839C404D7F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B14437E3-AC50-73C9-483F-1F14F11F4302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8A038EC9-33CC-26C4-3CD0-E10A96BC1855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93E83172-94A8-177E-A855-D5F1784A6549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5084281C-A1EE-94AA-55B3-C2A17339F239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63648027-570A-7D92-81C7-94BAA71C87A3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7E4FECB2-287D-85B6-2E43-8303C4569840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0A97FD22-F9CA-D799-9EEE-B94DBA1E18C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215C3A2A-B62A-FD47-AE13-23D6D50792BC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25687CF6-7632-D9F6-128E-5F24A715F0D3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011A956A-BC09-13D8-0B13-4977F921F4C4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ADDB022F-FE32-0D05-7871-4E49D4C36DFE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5F65D699-D9CF-A5B2-E60E-730FCC880060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8957771C-80D3-9B04-3FCA-406AB6D28E7A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F0EB92E2-224E-DCAB-532D-0E3D8ADA174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41720E71-D4BD-E58D-6D62-7144FD6C64C0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ABE9C449-6A10-E49E-2637-8EB9769BB937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D96DA8E2-AF3C-DE4A-536E-99C3F9353DDF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931F4A11-36E8-37ED-522D-5BCB7CB4461B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312882BD-490C-5F6C-CB5C-485B2CC161F9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262EB733-E52F-9502-1B51-42C7619E36F9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9759FB63-F76D-0048-E461-176B3AB6C7CB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483F02E0-22C3-6679-23F5-E30EDF1A0829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09F1A4EE-1219-2510-9094-B166723D05E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76CFD83F-860F-AE1F-157F-F5CD0F1D466D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989E98DD-3A27-5204-4861-3D0938DE3FEA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AA39139C-14F6-F50A-93BB-2F8F27E680E1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1C768227-9A22-0C9E-851A-FF9F2E603CC2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AD356B38-844F-7935-25EF-71894FE57EFA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C9F26C81-F8FC-B1D7-8DD9-ECE224276C71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BDE08486-BD36-C8B1-A26E-9AF7413C7CDC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2148A2F-1809-37A6-71EE-3AB15D186A2F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E0E21BB7-67F3-0983-27E7-FDFF56AE9923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5595D93F-9640-176F-8AE1-641F2BB00683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E4F207F7-0D14-60CE-2152-BC2894DEE187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72AFE7CA-4A72-92F4-0C89-C8A4B3B95B23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80DBA3A0-B3B8-F989-1C18-5DBC8E1348A9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8D579217-A78A-AE80-FF6F-0AA1B11C90A8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2B4EDEB3-F4A5-CA57-D492-D75983BD2475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5C2206F1-1D74-B30C-B542-90C90475C8C4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78FB0189-DFCD-6FB7-2F63-AFEDBCF49625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F78A8C0E-BDAB-E4B1-E40C-B85556578782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BBDFB5D2-F0AB-7668-362C-9ABA84A374C0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6DB85FAD-9E75-2E30-F1F1-D70E66AD1413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959D113D-7F1D-99EC-C4CC-6C2DC9C94BF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BF106A0-6D54-8599-8CF0-3E216A27C6DF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447C4A03-F9D1-6AE8-B62C-A9406690F756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67724273-7EF7-08EA-518A-9BDB526A90FB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EC0C378-BD34-2B5B-8C58-AD4D1C9AE463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05FCFC55-4268-2D6C-9B70-C3D18385A513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CCA67EF7-4FB4-3BC4-CC07-7C17874C2346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BC9FA8E1-7F47-FBFE-DBAE-970325BF184D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9D6F081D-07D0-1CEA-CF2C-9F93A6B6E221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0C972E8C-DF19-65EE-EA60-BDDE70E0673A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BAFD550F-709D-919E-096E-81183810683E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CF825020-894A-5681-7EB2-0F18044E7E19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891892A8-1D2F-2129-6163-B3C4D34ABEC0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84FB9533-9D04-13D1-75A7-1636D34F4BA6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A7037E7F-C12F-C812-3228-FDF17B3E9070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9E12F1FB-E805-0302-9447-C2C5EE81E94C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4E03D141-AFE8-B8A2-D9BA-C71D2342EEBF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09E05299-B77F-50E9-F001-2C9DBB3CFB46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6808B35E-BA32-84AA-9D47-D95950061D55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DE147969-5CD8-9F89-03E2-DA24473EFB7A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6469D167-D019-BA47-EE48-465079021184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0F115ECC-84F0-4CED-6FA5-F9DBB7554B31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A85169C7-9176-AD51-7D92-BC2C5D39137C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662FF0DC-B0C1-3E61-88CB-D723340E941A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D44C041B-3454-3EE4-87B4-C2A08DB6F4D6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2204DD65-66D2-4500-932E-7BC259B107E5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69130C32-1588-FAC5-74C2-1D92C197A094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D4F9B28D-5F65-5947-C489-00E5BFAE4115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68E46A1D-EBB1-4C01-3F9D-AFF02B001017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38991215-F6EE-CB6D-1CAC-F5909993BA66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A0EF130F-7267-DEB6-539B-8D8600ADA7ED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FE02E74D-6D4D-7818-032E-7F63E60BF4FB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E4D4C342-6B68-B5CF-2DF6-0B15E8369C90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CF24C5C0-1CA0-2762-E116-B73FE7C576A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9FDEF01A-9AFC-3445-5869-FBA47D761CC6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C87DDF11-C27E-EA48-1A78-BC5AED6FB320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D0E04D8B-5520-2E30-A970-7F8FD6435A3E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6D69B601-F62D-4F80-2050-FB67667E7C64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9D898A77-5DE7-56B6-9F40-85412A495CF9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F2C4D7BB-56CE-2736-F70C-0306A97D77DC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4CBB0A46-C787-E1D8-525E-F5FD65F68A99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118BA5E9-BB16-519F-F3AD-CD4CFC4A7C34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C68E63F5-1EF9-E462-A347-6A3B6C240627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1F28E5C3-8301-146F-B7A0-E7D8BB8DBBA0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15AF18DB-B3E9-9B8F-C0C7-3807D05C44EC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CC27BA01-BB34-497B-361B-6AFFC12A1E4D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D71B1CC3-6646-F978-AF21-469D72E2DD70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1CF47C43-5A0B-0B1F-23BD-4C9176EADE87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77E24E04-888B-65B9-6969-58461B05DFC1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066F46C6-9B04-5D6D-EC90-7DB154603DA5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C1C687C5-7D65-70CF-F3F5-9415BF620B85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8C9C3F31-61C8-0614-7090-9A5D2513FD6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EFE29B4C-4159-FE39-A75A-360E2394B855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65CDD1C4-0705-4916-F280-19126C369BB2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E5090F83-1C34-395F-7162-F038DCA0BEBE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13295341-EFE5-9FFC-289A-7D968B41D3A5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4A8E8940-8C05-307C-7EAC-3DEDA4796149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48CA3CCA-E24B-9F92-F3D9-6091446EC7EF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A01E9233-7801-7D02-870F-61BE5953BBC6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F075D8A-B0B6-1CFF-68C1-20893B4D1E5F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4A97CBF5-2010-0F71-C025-3A6462DFEB6A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8C01E83D-D516-9AE2-7BA3-9CE6C95E63E2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A44037BE-56D2-5528-9064-0E4A255DCE64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D620549C-43B8-39A9-26E3-CBCEA83872B1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C6CA0B36-DD8C-45C9-3FC3-C3BA2328B7AB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90E925F8-0231-09C7-A33D-F5EB84495D3A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C9738E08-4A65-C163-E4D5-559EFB06742B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89CA31AD-4D71-2DDF-2036-947C438BF454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672573E8-4BC3-121F-0676-9D038D8B9E48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20FBB0F9-B251-E311-2C07-0BAFCA2AB35E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85EE3237-76AD-554B-77B0-5E2917763494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A973C150-01DE-A9B6-F100-EE6B5089551B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90BB5A2A-0099-846B-A3AB-7BAA0714D622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BD45D8FA-6E88-5034-BD14-322A6C76A35A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33489962-B6F3-6D3A-593D-17189DEEC8FD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F73FE02D-5A15-618A-9F4A-45D4442C2B7F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938FDF47-2DCF-4522-FC56-0CE36561EA6F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F7EA9DAA-120E-5AB5-4186-884F4EF5C17C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D7D25920-705F-5B2C-6211-5E01FD01BF25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90CC0DDE-C1C2-F673-BD27-8437BD92E254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985DCE5D-FC01-3F65-33DA-CD1EF4B42D27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520E750E-FBF6-E639-2CAC-E29B7E257F77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C2ECD3EC-E6F6-5BD6-AA06-0B8C6357737E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1CAF1740-D6B3-6F19-C846-A0255EB484A2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FB7F170-2FBA-8ADC-B621-C40A872FE810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CE130FE1-A7C6-566B-6870-DDDB4843215E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A4BDB7BD-1908-C6F8-115F-043B43FC0396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91792B5-1D31-A2BB-5C2B-80EC5B6E665F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CB7CC114-D64A-33C2-DE52-585640E6E76D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CC86DAF-3F19-8C8F-C888-E37588D3909B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9C3308B4-B9C6-35A8-A78E-DAD6076FE60B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F90B25EB-B21A-E8EE-3F07-CDD56B75949F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B1E3D757-A640-3BCC-9914-741352CFAE13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35F12CC9-51F1-8822-2079-8D8ADDE72D2A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B1CF555-BCAE-7830-A1AB-2DC3B772C1B4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0E406AE3-0CBC-1308-3495-A4208CDCC52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75E535A6-71D6-7E8F-7E6E-6BEACD4E7238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D37FA162-581A-3B71-FDCF-E639E2AC0934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D6F96178-40AB-9C48-8CCC-4C80E49949F8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1D976F9-E0B2-1DA4-604E-E614BBB3257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B9D5FBF-5958-4577-1ADB-1262DF601CDA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93639F7-30FB-3AE7-F053-C2551FB956D4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E24C4E8-1D9A-9163-2F8A-44C063552DC4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DB844D05-7F36-9261-68FF-EE9298FA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FFE81-080A-A0AF-A026-17B96D0051ED}"/>
              </a:ext>
            </a:extLst>
          </p:cNvPr>
          <p:cNvSpPr/>
          <p:nvPr/>
        </p:nvSpPr>
        <p:spPr>
          <a:xfrm>
            <a:off x="12540167" y="0"/>
            <a:ext cx="1648178" cy="462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</a:rPr>
              <a:t>Laura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2A4A6EE1-576E-7837-0EC9-AF233330593E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A5015598-82E3-DCFE-DFBD-7C84F37EF3D0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53DC0F3-7FF9-7EC2-6406-81843D2305C6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0D32C6D-57D7-9B9D-75BD-1C4BDBEB06FB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13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Mar 2026</a:t>
            </a:r>
          </a:p>
        </p:txBody>
      </p:sp>
      <p:sp>
        <p:nvSpPr>
          <p:cNvPr id="70" name="Ellipse 1142">
            <a:extLst>
              <a:ext uri="{FF2B5EF4-FFF2-40B4-BE49-F238E27FC236}">
                <a16:creationId xmlns:a16="http://schemas.microsoft.com/office/drawing/2014/main" id="{BFC99101-5D2A-676B-A686-EFBF420F8A8D}"/>
              </a:ext>
            </a:extLst>
          </p:cNvPr>
          <p:cNvSpPr/>
          <p:nvPr/>
        </p:nvSpPr>
        <p:spPr>
          <a:xfrm flipH="1">
            <a:off x="11236448" y="499457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2" name="Ellipse 1162">
            <a:extLst>
              <a:ext uri="{FF2B5EF4-FFF2-40B4-BE49-F238E27FC236}">
                <a16:creationId xmlns:a16="http://schemas.microsoft.com/office/drawing/2014/main" id="{B11ED6A6-A48B-04C5-9D52-7A4C8018B86C}"/>
              </a:ext>
            </a:extLst>
          </p:cNvPr>
          <p:cNvSpPr/>
          <p:nvPr/>
        </p:nvSpPr>
        <p:spPr>
          <a:xfrm flipH="1">
            <a:off x="4608752" y="49931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8" name="Ellipse 1162">
            <a:extLst>
              <a:ext uri="{FF2B5EF4-FFF2-40B4-BE49-F238E27FC236}">
                <a16:creationId xmlns:a16="http://schemas.microsoft.com/office/drawing/2014/main" id="{40D89F19-EA23-93B4-1788-1813B30187F7}"/>
              </a:ext>
            </a:extLst>
          </p:cNvPr>
          <p:cNvSpPr/>
          <p:nvPr/>
        </p:nvSpPr>
        <p:spPr>
          <a:xfrm flipH="1">
            <a:off x="9311180" y="61230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9" name="Ellipse 1052">
            <a:extLst>
              <a:ext uri="{FF2B5EF4-FFF2-40B4-BE49-F238E27FC236}">
                <a16:creationId xmlns:a16="http://schemas.microsoft.com/office/drawing/2014/main" id="{C9D63A9E-CBD1-3F1E-2163-6C8BF23EA159}"/>
              </a:ext>
            </a:extLst>
          </p:cNvPr>
          <p:cNvSpPr/>
          <p:nvPr/>
        </p:nvSpPr>
        <p:spPr>
          <a:xfrm flipH="1">
            <a:off x="4608752" y="332780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0" name="Ellipse 1066">
            <a:extLst>
              <a:ext uri="{FF2B5EF4-FFF2-40B4-BE49-F238E27FC236}">
                <a16:creationId xmlns:a16="http://schemas.microsoft.com/office/drawing/2014/main" id="{11707EF0-02CB-D283-4A2E-7C03C89C4A54}"/>
              </a:ext>
            </a:extLst>
          </p:cNvPr>
          <p:cNvSpPr/>
          <p:nvPr/>
        </p:nvSpPr>
        <p:spPr>
          <a:xfrm>
            <a:off x="1732473" y="3611262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2" name="Ellipse 1066">
            <a:extLst>
              <a:ext uri="{FF2B5EF4-FFF2-40B4-BE49-F238E27FC236}">
                <a16:creationId xmlns:a16="http://schemas.microsoft.com/office/drawing/2014/main" id="{14AB945A-1608-E332-C66F-9FB8275774AF}"/>
              </a:ext>
            </a:extLst>
          </p:cNvPr>
          <p:cNvSpPr/>
          <p:nvPr/>
        </p:nvSpPr>
        <p:spPr>
          <a:xfrm>
            <a:off x="4608752" y="3600642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6" name="Ellipse 1066">
            <a:extLst>
              <a:ext uri="{FF2B5EF4-FFF2-40B4-BE49-F238E27FC236}">
                <a16:creationId xmlns:a16="http://schemas.microsoft.com/office/drawing/2014/main" id="{7FC55BF2-315A-E872-82BE-82953BA633DA}"/>
              </a:ext>
            </a:extLst>
          </p:cNvPr>
          <p:cNvSpPr/>
          <p:nvPr/>
        </p:nvSpPr>
        <p:spPr>
          <a:xfrm>
            <a:off x="7377054" y="3588577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7" name="Ellipse 1072">
            <a:extLst>
              <a:ext uri="{FF2B5EF4-FFF2-40B4-BE49-F238E27FC236}">
                <a16:creationId xmlns:a16="http://schemas.microsoft.com/office/drawing/2014/main" id="{0089CF89-028C-939F-BEFD-28DA4456CC86}"/>
              </a:ext>
            </a:extLst>
          </p:cNvPr>
          <p:cNvSpPr/>
          <p:nvPr/>
        </p:nvSpPr>
        <p:spPr>
          <a:xfrm flipH="1">
            <a:off x="9307454" y="2792812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8" name="Ellipse 1088">
            <a:extLst>
              <a:ext uri="{FF2B5EF4-FFF2-40B4-BE49-F238E27FC236}">
                <a16:creationId xmlns:a16="http://schemas.microsoft.com/office/drawing/2014/main" id="{3267A936-6AB4-6832-DB45-71A88A977234}"/>
              </a:ext>
            </a:extLst>
          </p:cNvPr>
          <p:cNvSpPr/>
          <p:nvPr/>
        </p:nvSpPr>
        <p:spPr>
          <a:xfrm>
            <a:off x="1741753" y="276780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9" name="Ellipse 1093">
            <a:extLst>
              <a:ext uri="{FF2B5EF4-FFF2-40B4-BE49-F238E27FC236}">
                <a16:creationId xmlns:a16="http://schemas.microsoft.com/office/drawing/2014/main" id="{278910C9-CCAA-F50A-7D06-EF881E991612}"/>
              </a:ext>
            </a:extLst>
          </p:cNvPr>
          <p:cNvSpPr/>
          <p:nvPr/>
        </p:nvSpPr>
        <p:spPr>
          <a:xfrm>
            <a:off x="3657546" y="445329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182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rsche Black">
  <a:themeElements>
    <a:clrScheme name="Porsche">
      <a:dk1>
        <a:sysClr val="windowText" lastClr="000000"/>
      </a:dk1>
      <a:lt1>
        <a:srgbClr val="FFFFFF"/>
      </a:lt1>
      <a:dk2>
        <a:srgbClr val="403F45"/>
      </a:dk2>
      <a:lt2>
        <a:srgbClr val="DAD9DE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72000" rIns="108000" bIns="72000" rtlCol="0" anchor="t"/>
      <a:lstStyle>
        <a:defPPr algn="l">
          <a:lnSpc>
            <a:spcPct val="110000"/>
          </a:lnSpc>
          <a:spcBef>
            <a:spcPts val="600"/>
          </a:spcBef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19334D"/>
    </a:custClr>
    <a:custClr>
      <a:srgbClr val="2A4B6D"/>
    </a:custClr>
    <a:custClr>
      <a:srgbClr val="3A6B9B"/>
    </a:custClr>
    <a:custClr>
      <a:srgbClr val="5391C4"/>
    </a:custClr>
    <a:custClr>
      <a:srgbClr val="76AFDC"/>
    </a:custClr>
    <a:custClr>
      <a:srgbClr val="D1E0F0"/>
    </a:custClr>
    <a:custClr>
      <a:srgbClr val="017379"/>
    </a:custClr>
    <a:custClr>
      <a:srgbClr val="3AB4BA"/>
    </a:custClr>
    <a:custClr>
      <a:srgbClr val="658E11"/>
    </a:custClr>
    <a:custClr>
      <a:srgbClr val="8CB527"/>
    </a:custClr>
    <a:custClr>
      <a:srgbClr val="D88711"/>
    </a:custClr>
    <a:custClr>
      <a:srgbClr val="F2A100"/>
    </a:custClr>
    <a:custClr>
      <a:srgbClr val="FFBE00"/>
    </a:custClr>
    <a:custClr>
      <a:srgbClr val="FFE200"/>
    </a:custClr>
    <a:custClr>
      <a:srgbClr val="94001B"/>
    </a:custClr>
    <a:custClr>
      <a:srgbClr val="C32718"/>
    </a:custClr>
    <a:custClr>
      <a:srgbClr val="700043"/>
    </a:custClr>
    <a:custClr>
      <a:srgbClr val="B7006D"/>
    </a:custClr>
    <a:custClr>
      <a:srgbClr val="3C007E"/>
    </a:custClr>
    <a:custClr>
      <a:srgbClr val="8D57CB"/>
    </a:custClr>
    <a:custClr>
      <a:srgbClr val="D2EB2D"/>
    </a:custClr>
  </a:custClrLst>
  <a:extLst>
    <a:ext uri="{05A4C25C-085E-4340-85A3-A5531E510DB2}">
      <thm15:themeFamily xmlns:thm15="http://schemas.microsoft.com/office/thememl/2012/main" name="Porsche Black" id="{A6B04ED8-E0CE-4F25-B129-EB4727A6BEBB}" vid="{C4E73E7E-BED5-4B8A-BB80-8F7EF7F91DC0}"/>
    </a:ext>
  </a:extLst>
</a:theme>
</file>

<file path=ppt/theme/theme2.xml><?xml version="1.0" encoding="utf-8"?>
<a:theme xmlns:a="http://schemas.openxmlformats.org/drawingml/2006/main" name="Offic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9b57366a-dac3-4b86-b234-c3f5f76372dc">
      <UserInfo>
        <DisplayName/>
        <AccountId xsi:nil="true"/>
        <AccountType/>
      </UserInfo>
    </RevIMDocumentOwner>
    <lcf76f155ced4ddcb4097134ff3c332f xmlns="2cd08dc0-854a-46eb-8386-3cb998225b97">
      <Terms xmlns="http://schemas.microsoft.com/office/infopath/2007/PartnerControls"/>
    </lcf76f155ced4ddcb4097134ff3c332f>
    <TaxCatchAll xmlns="9b57366a-dac3-4b86-b234-c3f5f76372dc">
      <Value>1</Value>
    </TaxCatchAll>
    <i0f84bba906045b4af568ee102a52dcb xmlns="9b57366a-dac3-4b86-b234-c3f5f76372dc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Arbeitsunterlagen</TermName>
          <TermId xmlns="http://schemas.microsoft.com/office/infopath/2007/PartnerControls">860f14b0-beae-495c-93e3-3187f714d4fc</TermId>
        </TermInfo>
      </Terms>
    </i0f84bba906045b4af568ee102a52dcb>
    <RevIMComments xmlns="9b57366a-dac3-4b86-b234-c3f5f76372dc" xsi:nil="true"/>
    <RevIMDeletionDate xmlns="9b57366a-dac3-4b86-b234-c3f5f76372dc">2030-03-12T18:52:43+00:00</RevIMDeletionDate>
    <RevIMExtends xmlns="9b57366a-dac3-4b86-b234-c3f5f76372dc">{"Locked":null,"LockedBy":null,"UnLocked":null,"UnLockedBy":null,"KSUClass":"860f14b0-beae-495c-93e3-3187f714d4fc","Classified":"2026-03-12T18:52:53.600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9b57366a-dac3-4b86-b234-c3f5f76372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8E185792B2A544A631DFBAD5E6C7EC" ma:contentTypeVersion="23" ma:contentTypeDescription="Ein neues Dokument erstellen." ma:contentTypeScope="" ma:versionID="e0c3d9fdd96a6dd1a7a608bf9c7b9a2d">
  <xsd:schema xmlns:xsd="http://www.w3.org/2001/XMLSchema" xmlns:xs="http://www.w3.org/2001/XMLSchema" xmlns:p="http://schemas.microsoft.com/office/2006/metadata/properties" xmlns:ns2="9b57366a-dac3-4b86-b234-c3f5f76372dc" xmlns:ns3="2cd08dc0-854a-46eb-8386-3cb998225b97" targetNamespace="http://schemas.microsoft.com/office/2006/metadata/properties" ma:root="true" ma:fieldsID="4f57a6f1d7193d352492f6ccb0450b44" ns2:_="" ns3:_="">
    <xsd:import namespace="9b57366a-dac3-4b86-b234-c3f5f76372dc"/>
    <xsd:import namespace="2cd08dc0-854a-46eb-8386-3cb998225b97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7366a-dac3-4b86-b234-c3f5f76372dc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KSU Klasse" ma:readOnly="true" ma:default="1;#0.2 Arbeitsunterlagen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9a18e81f-cdeb-42ca-8485-c059144356ee}" ma:internalName="TaxCatchAll" ma:showField="CatchAllData" ma:web="9b57366a-dac3-4b86-b234-c3f5f7637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2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8dc0-854a-46eb-8386-3cb998225b9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orscheTools xmlns:xsi="http://www.w3.org/2001/XMLSchema-instance" xmlns:xsd="http://www.w3.org/2001/XMLSchema" xmlns="urn:strategyCompass:quickSlide:porsche:porschetoolssettings">
  <Author>Marketing Analytics &amp; Intelligence</Author>
  <Department>VMK3</Department>
  <PageNumbers>false</PageNumbers>
  <UseCreationDate>false</UseCreationDate>
  <UseModifiedDate>false</UseModifiedDate>
  <CreationDate>638995792611839896</CreationDate>
  <ModifiedDate>638995792611839896</ModifiedDate>
  <Confidentiality>intern</Confidentiality>
  <DateFormat>dd.MM.yyyy</DateFormat>
  <UseDocumentname>false</UseDocumentname>
  <PresentationLanguageID>1031</PresentationLanguageID>
  <MasterLanguageID>0</MasterLanguageID>
</PorscheTools>
</file>

<file path=customXml/itemProps1.xml><?xml version="1.0" encoding="utf-8"?>
<ds:datastoreItem xmlns:ds="http://schemas.openxmlformats.org/officeDocument/2006/customXml" ds:itemID="{956BA2CF-8CE1-4BA2-ABD9-A304C3A9D7E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2cd08dc0-854a-46eb-8386-3cb998225b97"/>
    <ds:schemaRef ds:uri="9b57366a-dac3-4b86-b234-c3f5f76372d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1EEFB5E-0723-4717-B3E5-DDF7933A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7366a-dac3-4b86-b234-c3f5f76372dc"/>
    <ds:schemaRef ds:uri="2cd08dc0-854a-46eb-8386-3cb998225b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0C78E0-A93B-4D08-9134-6AA656F8E43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2E87401-2432-4440-8ABF-887084982709}">
  <ds:schemaRefs>
    <ds:schemaRef ds:uri="http://www.w3.org/2001/XMLSchema"/>
    <ds:schemaRef ds:uri="urn:strategyCompass:quickSlide:porsche:porschetoolssetting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Porsche Black</Template>
  <TotalTime>2139</TotalTime>
  <Words>828</Words>
  <Application>Microsoft Office PowerPoint</Application>
  <PresentationFormat>Widescreen</PresentationFormat>
  <Paragraphs>103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Audi Type Extended</vt:lpstr>
      <vt:lpstr>Porsche Next TT</vt:lpstr>
      <vt:lpstr>SKODA Next</vt:lpstr>
      <vt:lpstr>Porsche Black</vt:lpstr>
      <vt:lpstr>think-cell Folie</vt:lpstr>
      <vt:lpstr>PowerPoint Presentation</vt:lpstr>
      <vt:lpstr>Audit Results: Scale UTM adoption now to unlock Campaign-Level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Esguerra, Laura (VMK3)</dc:creator>
  <cp:lastModifiedBy>Ali Malek (Omnicom)</cp:lastModifiedBy>
  <cp:revision>15</cp:revision>
  <dcterms:created xsi:type="dcterms:W3CDTF">2025-11-24T10:07:39Z</dcterms:created>
  <dcterms:modified xsi:type="dcterms:W3CDTF">2026-04-16T10:25:45Z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MBCS">
    <vt:lpwstr>1;#0.2 Arbeitsunterlagen|860f14b0-beae-495c-93e3-3187f714d4fc</vt:lpwstr>
  </property>
  <property fmtid="{D5CDD505-2E9C-101B-9397-08002B2CF9AE}" pid="3" name="MediaServiceImageTags">
    <vt:lpwstr/>
  </property>
  <property fmtid="{D5CDD505-2E9C-101B-9397-08002B2CF9AE}" pid="4" name="ContentTypeId">
    <vt:lpwstr>0x0101001B8E185792B2A544A631DFBAD5E6C7EC</vt:lpwstr>
  </property>
  <property fmtid="{D5CDD505-2E9C-101B-9397-08002B2CF9AE}" pid="5" name="MSIP_Label_8e19d756-792e-42a1-bcad-4cb9051ddd2d_SetDate">
    <vt:lpwstr>2025-12-18T09:40:45Z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Enabled">
    <vt:lpwstr>true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Name">
    <vt:lpwstr>Confidential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MSIP_Label_8e19d756-792e-42a1-bcad-4cb9051ddd2d_ActionId">
    <vt:lpwstr>4cd522ef-7898-4200-a7ed-20a1c5b8f206</vt:lpwstr>
  </property>
  <property fmtid="{D5CDD505-2E9C-101B-9397-08002B2CF9AE}" pid="12" name="MSIP_Label_8e19d756-792e-42a1-bcad-4cb9051ddd2d_Tag">
    <vt:lpwstr>10, 3, 0, 1</vt:lpwstr>
  </property>
  <property fmtid="{D5CDD505-2E9C-101B-9397-08002B2CF9AE}" pid="13" name="MSIP_Label_8e19d756-792e-42a1-bcad-4cb9051ddd2d_Method">
    <vt:lpwstr>Standard</vt:lpwstr>
  </property>
  <property fmtid="{D5CDD505-2E9C-101B-9397-08002B2CF9AE}" pid="14" name="ClassificationContentMarkingFooterLocations">
    <vt:lpwstr>Porsche Black:6</vt:lpwstr>
  </property>
</Properties>
</file>